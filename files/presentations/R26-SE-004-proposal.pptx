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297" r:id="rId5"/>
    <p:sldId id="311" r:id="rId6"/>
    <p:sldId id="337" r:id="rId7"/>
    <p:sldId id="357" r:id="rId8"/>
    <p:sldId id="335" r:id="rId9"/>
    <p:sldId id="358" r:id="rId10"/>
    <p:sldId id="309" r:id="rId11"/>
    <p:sldId id="359" r:id="rId12"/>
    <p:sldId id="360" r:id="rId13"/>
    <p:sldId id="362" r:id="rId14"/>
    <p:sldId id="312" r:id="rId15"/>
    <p:sldId id="363" r:id="rId16"/>
    <p:sldId id="303" r:id="rId17"/>
    <p:sldId id="304" r:id="rId18"/>
    <p:sldId id="305" r:id="rId19"/>
    <p:sldId id="306" r:id="rId20"/>
    <p:sldId id="307" r:id="rId21"/>
    <p:sldId id="308" r:id="rId22"/>
    <p:sldId id="331" r:id="rId23"/>
    <p:sldId id="332" r:id="rId24"/>
    <p:sldId id="355" r:id="rId25"/>
    <p:sldId id="365" r:id="rId26"/>
    <p:sldId id="366" r:id="rId27"/>
    <p:sldId id="367" r:id="rId28"/>
    <p:sldId id="368" r:id="rId29"/>
    <p:sldId id="348" r:id="rId30"/>
    <p:sldId id="299" r:id="rId31"/>
    <p:sldId id="371" r:id="rId32"/>
    <p:sldId id="350" r:id="rId33"/>
    <p:sldId id="351" r:id="rId34"/>
    <p:sldId id="352" r:id="rId35"/>
    <p:sldId id="353" r:id="rId36"/>
    <p:sldId id="373" r:id="rId37"/>
    <p:sldId id="330" r:id="rId38"/>
    <p:sldId id="336" r:id="rId39"/>
    <p:sldId id="33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E03ABD-0787-C649-5841-BDE4CF2AD6D6}" v="1072" dt="2026-03-16T07:20:12.037"/>
    <p1510:client id="{253BA638-CCD4-4F73-9083-B44ADE666077}" v="977" dt="2026-03-16T07:27:11.791"/>
    <p1510:client id="{39E7CEFD-47DF-4452-88C6-0E104D1A2718}" v="9" dt="2026-03-16T08:27:07.550"/>
    <p1510:client id="{4A8FAAB6-C7FD-160C-E284-AEC9029AD319}" v="24" dt="2026-03-16T03:53:10.014"/>
    <p1510:client id="{559F1EE3-0655-2621-4395-523BED10D4BC}" v="405" dt="2026-03-16T07:35:47.447"/>
    <p1510:client id="{70CB267F-1EA4-11B6-EDAB-CE2203C5B86D}" v="1059" dt="2026-03-15T18:46:17.401"/>
    <p1510:client id="{72E1B0B3-49CE-2CF3-97B4-A0A9977077E5}" v="28" dt="2026-03-15T16:06:37.887"/>
    <p1510:client id="{7D1127C7-05D5-5D68-E34B-795491FED677}" v="376" dt="2026-03-16T04:23:49.503"/>
    <p1510:client id="{8EFA5AFF-B4DA-EC09-9BBE-6D0547987706}" v="45" dt="2026-03-15T14:51:37.399"/>
    <p1510:client id="{B067DE6A-DE9A-5077-D1A7-5B53130478BD}" v="244" dt="2026-03-16T07:56:40.784"/>
    <p1510:client id="{E7DFD180-B32A-ABF1-F734-D2217B882BC8}" v="30" dt="2026-03-16T08:10:24.8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ysliit-my.sharepoint.com/:x:/g/personal/it22089786_my_sliit_lk/IQAN9rWumEXwQ7lg_lMvPr2aAWLbNjPvlaD0ousJJaMBHhc?e=Cjhk49&amp;wdLOR=c1DBF8E4A-35D5-4572-96C0-BB929A60CF30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BCE3C-9C6B-C284-A1AB-9CD9EC0EC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5BC77-F90D-19EB-E036-DCC4F4DA1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E4C4B9-3CED-2960-ECBF-573CCD16C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B25CB-6063-6BBD-08F3-D6ABE4E10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72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A2CF1-3E99-D0BB-66BC-6021CA070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24B98E-409D-5F10-3B7B-B2B1FE534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E2DAD-5846-A72E-BB50-E3E5654F8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6351B-4843-2622-85A0-EBEBA04E0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DB97E-EBE8-C66E-4327-105E1DF92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4399A-25FF-62C8-C2E2-8B9325D88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97A308-FA9A-EE4C-47DA-97C9CADE1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4FEFB-EFAA-1F41-C2B6-1927222E4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868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F. L. Gambo, G. M. </a:t>
            </a:r>
            <a:r>
              <a:rPr lang="en-US" err="1">
                <a:solidFill>
                  <a:srgbClr val="C7C7C7"/>
                </a:solidFill>
                <a:highlight>
                  <a:srgbClr val="22262B"/>
                </a:highlight>
              </a:rPr>
              <a:t>Wajiga</a:t>
            </a:r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, E. J. Garba, A. A. Abdullahi, and D. B. </a:t>
            </a:r>
            <a:r>
              <a:rPr lang="en-US" err="1">
                <a:solidFill>
                  <a:srgbClr val="C7C7C7"/>
                </a:solidFill>
                <a:highlight>
                  <a:srgbClr val="22262B"/>
                </a:highlight>
              </a:rPr>
              <a:t>Bisandu</a:t>
            </a:r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, "A Deep Learning Solution for Learning Style Detection using Cognitive - Affective Features," Advances in Communication Technology, Computing and Engineering, pp. 32–43, 2021. </a:t>
            </a:r>
            <a:endParaRPr lang="en-US"/>
          </a:p>
          <a:p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 </a:t>
            </a:r>
            <a:endParaRPr lang="en-US"/>
          </a:p>
          <a:p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C. Lwande, L. Muchemi, and R. </a:t>
            </a:r>
            <a:r>
              <a:rPr lang="en-US" err="1">
                <a:solidFill>
                  <a:srgbClr val="C7C7C7"/>
                </a:solidFill>
                <a:highlight>
                  <a:srgbClr val="22262B"/>
                </a:highlight>
              </a:rPr>
              <a:t>Oboko</a:t>
            </a:r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, "Identifying learning styles and cognitive traits in a learning management system," </a:t>
            </a:r>
            <a:r>
              <a:rPr lang="en-US" err="1">
                <a:solidFill>
                  <a:srgbClr val="C7C7C7"/>
                </a:solidFill>
                <a:highlight>
                  <a:srgbClr val="22262B"/>
                </a:highlight>
              </a:rPr>
              <a:t>Heliyon</a:t>
            </a:r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, vol. 7, no. 7, p. e07701, 2021. </a:t>
            </a:r>
            <a:endParaRPr lang="en-US"/>
          </a:p>
          <a:p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 </a:t>
            </a:r>
            <a:endParaRPr lang="en-US"/>
          </a:p>
          <a:p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R. R. Dhote, "A Framework for Automatic Student Profiling Using Artificial Neural Network," International Journal of Trend in Research and Development, vol. 3, no. 3, pp. 177-181, 2016. </a:t>
            </a:r>
            <a:endParaRPr lang="en-US"/>
          </a:p>
          <a:p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 </a:t>
            </a:r>
            <a:endParaRPr lang="en-US"/>
          </a:p>
          <a:p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S. Graf and Kinshuk, "Learner Modelling Through Analyzing Cognitive Skills and Learning Styles," in IT Education and Training, pp. 381-406, 2008. </a:t>
            </a:r>
            <a:endParaRPr lang="en-US"/>
          </a:p>
          <a:p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 </a:t>
            </a:r>
            <a:endParaRPr lang="en-US"/>
          </a:p>
          <a:p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L. X. Li and S. S. Abdul Rahman, "Students’ learning style detection using tree augmented naive Bayes," Royal Society Open Science, vol. 5, no. 7, p. 172108, 2018. </a:t>
            </a:r>
            <a:endParaRPr lang="en-US"/>
          </a:p>
          <a:p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 </a:t>
            </a:r>
            <a:endParaRPr lang="en-US"/>
          </a:p>
          <a:p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H. Asikainen, K. Salmela-Aro, A. </a:t>
            </a:r>
            <a:r>
              <a:rPr lang="en-US" err="1">
                <a:solidFill>
                  <a:srgbClr val="C7C7C7"/>
                </a:solidFill>
                <a:highlight>
                  <a:srgbClr val="22262B"/>
                </a:highlight>
              </a:rPr>
              <a:t>Parpala</a:t>
            </a:r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, and N. </a:t>
            </a:r>
            <a:r>
              <a:rPr lang="en-US" err="1">
                <a:solidFill>
                  <a:srgbClr val="C7C7C7"/>
                </a:solidFill>
                <a:highlight>
                  <a:srgbClr val="22262B"/>
                </a:highlight>
              </a:rPr>
              <a:t>Katajavuori</a:t>
            </a:r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, "Learning profiles and their relation to study-related burnout and academic achievement among university students," Learning and Individual Differences, vol. 78, p. 101781, 2020. </a:t>
            </a:r>
            <a:endParaRPr lang="en-US"/>
          </a:p>
          <a:p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 </a:t>
            </a:r>
            <a:endParaRPr lang="en-US"/>
          </a:p>
          <a:p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B. Mertens, S. De </a:t>
            </a:r>
            <a:r>
              <a:rPr lang="en-US" err="1">
                <a:solidFill>
                  <a:srgbClr val="C7C7C7"/>
                </a:solidFill>
                <a:highlight>
                  <a:srgbClr val="22262B"/>
                </a:highlight>
              </a:rPr>
              <a:t>Maeyer</a:t>
            </a:r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, and V. </a:t>
            </a:r>
            <a:r>
              <a:rPr lang="en-US" err="1">
                <a:solidFill>
                  <a:srgbClr val="C7C7C7"/>
                </a:solidFill>
                <a:highlight>
                  <a:srgbClr val="22262B"/>
                </a:highlight>
              </a:rPr>
              <a:t>Donche</a:t>
            </a:r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, "Exploring learner profiles among low-educated adults in second-chance education: individual differences in quantity and quality of learning motivation and learning strategies," European Journal of Psychology of Education, 2024. </a:t>
            </a:r>
            <a:endParaRPr lang="en-US"/>
          </a:p>
          <a:p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 </a:t>
            </a:r>
            <a:endParaRPr lang="en-US"/>
          </a:p>
          <a:p>
            <a:endParaRPr lang="en-US">
              <a:solidFill>
                <a:srgbClr val="C7C7C7"/>
              </a:solidFill>
              <a:highlight>
                <a:srgbClr val="22262B"/>
              </a:highlight>
              <a:ea typeface="Calibri"/>
              <a:cs typeface="Calibri"/>
            </a:endParaRPr>
          </a:p>
          <a:p>
            <a:r>
              <a:rPr lang="en-US">
                <a:solidFill>
                  <a:srgbClr val="C7C7C7"/>
                </a:solidFill>
                <a:highlight>
                  <a:srgbClr val="22262B"/>
                </a:highlight>
                <a:ea typeface="Calibri"/>
                <a:cs typeface="Calibri"/>
              </a:rPr>
              <a:t>Google Drive Link --&gt; </a:t>
            </a:r>
            <a:r>
              <a:rPr lang="en-US">
                <a:solidFill>
                  <a:srgbClr val="C7C7C7"/>
                </a:solidFill>
                <a:highlight>
                  <a:srgbClr val="22262B"/>
                </a:highlight>
              </a:rPr>
              <a:t>https://drive.google.com/drive/folders/1tdfSsCugdKFYO_tj-O7XR9mfNjQQcln3?usp=sharing</a:t>
            </a:r>
            <a:endParaRPr lang="en-US">
              <a:solidFill>
                <a:srgbClr val="C7C7C7"/>
              </a:solidFill>
              <a:highlight>
                <a:srgbClr val="22262B"/>
              </a:highlight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066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C7932-F36B-3330-E8DA-DBD0F9E19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ACD208-A35A-9014-3D64-FF54572F0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D566B-E443-4B9B-8D2E-13C9A9F2C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[22] N. Herbig et al., “Investigating Multi-Modal Measures for Cognitive Load Detection in E-Learning,” in ACM UMAP, 2020.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[2] T. Weiß and T. Pfeiffer, “Consumer Decisions in Virtual Commerce Predict Good Help-Timing,” 2024.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[16] A. Siddique et al., “Developing Adaptive E-Learning Environment Using Cognitive Parameters,” Journal of Educational Computing Research, 2018.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[8] J.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Sweller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“Cognitive Load Theory,” Psychology of Learning and Motivation, vol. 55, pp. 37–76, 2011.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0A5DE-0BD2-8E31-194E-A8FA28A09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3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16B89-25A7-9DC0-EFBF-267B5016D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C1EE6-DB6E-B85B-60EB-7E9370D4F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E7976B-1281-C957-6EC5-66B6E2FF2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[13] M. I. Ahmad et al., “A Framework to Estimate Cognitive Load Using Physiological Data,” Personal and Ubiquitous Computing, vol. 27, no. 6, pp. 2027–2041, 2023.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[20] H. M.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Šola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al., “AI Eye-Tracking Technology for Managing Cognitive Load in Online Learners,” Education Sciences, vol. 14, no. 9, 2024.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[22] N. Herbig et al., “Investigating Multi-Modal Measures for Cognitive Load Detection in E-Learning,” in ACM UMAP, 2020.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BD77A-A9D3-2875-1D9A-2D8A5161D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533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314FD-01C1-D5E7-7F32-AE1D137A2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3006E-CFF6-9B90-50E2-10D5B104E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2F485-200D-E855-8CE9-35EE3B0CF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5DED4-48C3-5894-8C9C-2BF03A917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49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314FD-01C1-D5E7-7F32-AE1D137A2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3006E-CFF6-9B90-50E2-10D5B104E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2F485-200D-E855-8CE9-35EE3B0CF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5DED4-48C3-5894-8C9C-2BF03A917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49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314FD-01C1-D5E7-7F32-AE1D137A2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3006E-CFF6-9B90-50E2-10D5B104E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2F485-200D-E855-8CE9-35EE3B0CF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5DED4-48C3-5894-8C9C-2BF03A917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49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2BFCB-CCB9-A2FF-9853-91A921523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FDE22-C3F8-3BB2-2D8E-88A7BE78D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C0602-FC4E-FE7D-ECAF-4059E8F64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46233-E88B-EFC1-C1B3-B787457FA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906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Papers – </a:t>
            </a:r>
          </a:p>
          <a:p>
            <a:r>
              <a:rPr lang="en-US"/>
              <a:t>https://mysliit.sharepoint.com/:f:/s/RPProjectGroup_lqmyol/IgC_KHYzTPVxT67kGwWusuO_AbalE-p5uYqT-VCYsZkyJdM?e=VxXtjF</a:t>
            </a:r>
          </a:p>
          <a:p>
            <a:r>
              <a:rPr lang="en-US"/>
              <a:t>Gap Finding Matrix </a:t>
            </a:r>
            <a:r>
              <a:rPr lang="en-US">
                <a:hlinkClick r:id="rId3"/>
              </a:rPr>
              <a:t>–</a:t>
            </a:r>
            <a:r>
              <a:rPr lang="en-US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https://mysliit.sharepoint.com/:x:/s/RPProjectGroup_lqmyol/IQC2yyAwOayuTr0RbtUGfaeIAfbhhQMzz4wR_p3VjebvyKg?e=gQIo7k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745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[22] N. Herbig et al., “Investigating Multi-Modal Measures for Cognitive Load Detection in E-Learning,” in ACM UMAP, 2020.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[2] T. Weiß and T. Pfeiffer, “Consumer Decisions in Virtual Commerce Predict Good Help-Timing,” 2024.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[16] A. Siddique et al., “Developing Adaptive E-Learning Environment Using Cognitive Parameters,” Journal of Educational Computing Research, 2018.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[8] J.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Sweller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“Cognitive Load Theory,” Psychology of Learning and Motivation, vol. 55, pp. 37–76, 2011.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0663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16B89-25A7-9DC0-EFBF-267B5016D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C1EE6-DB6E-B85B-60EB-7E9370D4F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E7976B-1281-C957-6EC5-66B6E2FF2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[13] M. I. Ahmad et al., “A Framework to Estimate Cognitive Load Using Physiological Data,” Personal and Ubiquitous Computing, vol. 27, no. 6, pp. 2027–2041, 2023.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[20] H. M.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Šola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al., “AI Eye-Tracking Technology for Managing Cognitive Load in Online Learners,” Education Sciences, vol. 14, no. 9, 2024.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[22] N. Herbig et al., “Investigating Multi-Modal Measures for Cognitive Load Detection in E-Learning,” in ACM UMAP, 2020.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BD77A-A9D3-2875-1D9A-2D8A5161D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5331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314FD-01C1-D5E7-7F32-AE1D137A2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3006E-CFF6-9B90-50E2-10D5B104E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2F485-200D-E855-8CE9-35EE3B0CF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[10] M. Cai and C. D. Epp, “Modeling Cognitive Load and Affect to Support Adaptive Online Learning,” in Educational Data Mining Conference, 2022.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[14] I. H. Ajayi and E.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Avksentyeva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“Machine Learning Methods for Predicting Cognitive Load Using Eye-Tracking Data,” Pakistan Journal of Life and Social Sciences, 2024.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[12] J. V. R.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Jaisoorya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al., “Social Network-Integrated Machine Learning for Prediction Models,” 2023.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[5] M. Suryani et al., “Role, Methodology, and Measurement of Cognitive Load in Computer Science and Information Systems Research,” IEEE Access, vol. 12, pp. 138096–138115, 2024.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5DED4-48C3-5894-8C9C-2BF03A917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494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EE3F3-4D82-0E8B-0734-211933BE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921E8F-3A4A-13BD-379A-4BF413992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E23C5-FC56-C208-121E-0EAF221AD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[14] I. H. Ajayi and E.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Avksentyeva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“Machine Learning Methods for Predicting Cognitive Load Using Eye-Tracking Data,” Pakistan Journal of Life and Social Sciences, 2024.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[12] J. V. R.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Jaisoorya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al., “Social Network-Integrated Machine Learning for Prediction Models,” 2023.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[5] M. Suryani et al., “Role, Methodology, and Measurement of Cognitive Load in Computer Science and Information Systems Research,” IEEE Access, vol. 12, pp. 138096–138115, 2024.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[22] N. Herbig et al., “Investigating Multi-Modal Measures for Cognitive Load Detection in E-Learning,” in ACM UMAP, 2020.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54612-F766-1CAE-5541-F4109893E0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7631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2BFCB-CCB9-A2FF-9853-91A921523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FDE22-C3F8-3BB2-2D8E-88A7BE78D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C0602-FC4E-FE7D-ECAF-4059E8F64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[1] G. Pal, K. Atkinson, and G. Li, “Real-time user clickstream behavior analysis based on Apache Storm streaming,” Electronic Commerce Research, vol. 23, no. 4, pp. 1829–1859, 2023.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[2] T. Weiß and T. Pfeiffer, “Consumer Decisions in Virtual Commerce Predict Good Help-Timing,” 2024.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[3] Y. Yi and X. Wu, “Cognitive Load Early Warning Based on Behavioral Data,” in Proc. Int. Conf. Big Data Anal. Artificial Intelligence Applications, 2025.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[5] M. Suryani et al., “Role, Methodology, and Measurement of Cognitive Load in Computer Science and Information Systems Research,” IEEE Access, vol. 12, pp. 138096–138115, 2024.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46233-E88B-EFC1-C1B3-B787457FA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906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>
              <a:ea typeface="Calibri"/>
              <a:cs typeface="Calibri"/>
            </a:endParaRPr>
          </a:p>
          <a:p>
            <a:pPr algn="just"/>
            <a:r>
              <a:rPr lang="en-US"/>
              <a:t>[1] T. </a:t>
            </a:r>
            <a:r>
              <a:rPr lang="en-US" err="1"/>
              <a:t>Kabudi</a:t>
            </a:r>
            <a:r>
              <a:rPr lang="en-US"/>
              <a:t>, I. Pappas, and D. H. Olsen, “AI-enabled adaptive learning systems: A systematic mapping of the literature,” </a:t>
            </a:r>
            <a:r>
              <a:rPr lang="en-US" i="1" err="1"/>
              <a:t>Comput</a:t>
            </a:r>
            <a:r>
              <a:rPr lang="en-US" i="1"/>
              <a:t>. Educ. </a:t>
            </a:r>
            <a:r>
              <a:rPr lang="en-US" i="1" err="1"/>
              <a:t>Artif</a:t>
            </a:r>
            <a:r>
              <a:rPr lang="en-US" i="1"/>
              <a:t>. Intell.</a:t>
            </a:r>
            <a:r>
              <a:rPr lang="en-US"/>
              <a:t>, vol. 2, Art. no. 100017, 2021. </a:t>
            </a:r>
            <a:r>
              <a:rPr lang="en-US" err="1"/>
              <a:t>doi</a:t>
            </a:r>
            <a:r>
              <a:rPr lang="en-US"/>
              <a:t>: 10.1016/j.caeai.2021.100017.</a:t>
            </a:r>
            <a:endParaRPr lang="en-US">
              <a:ea typeface="Calibri"/>
              <a:cs typeface="Calibri"/>
            </a:endParaRPr>
          </a:p>
          <a:p>
            <a:pPr algn="just"/>
            <a:r>
              <a:rPr lang="en-US"/>
              <a:t>[2] J. J. Y. Lim et al., “Learning in Context: Personalizing Educational Content with Large Language Models to Enhance Student Learning,” </a:t>
            </a:r>
            <a:r>
              <a:rPr lang="en-US" i="1"/>
              <a:t>[Publication Title]</a:t>
            </a:r>
            <a:r>
              <a:rPr lang="en-US"/>
              <a:t>, vol. 1, no. 1, pp. 1–19, Sep. 2025. </a:t>
            </a:r>
            <a:r>
              <a:rPr lang="en-US" err="1"/>
              <a:t>doi</a:t>
            </a:r>
            <a:r>
              <a:rPr lang="en-US"/>
              <a:t>: 10.1145/XXXXXXXXXXXXX.</a:t>
            </a:r>
            <a:endParaRPr lang="en-US">
              <a:ea typeface="Calibri"/>
              <a:cs typeface="Calibri"/>
            </a:endParaRPr>
          </a:p>
          <a:p>
            <a:pPr algn="just"/>
            <a:r>
              <a:rPr lang="en-US"/>
              <a:t>[3] L. </a:t>
            </a:r>
            <a:r>
              <a:rPr lang="en-US" err="1"/>
              <a:t>Nouraei</a:t>
            </a:r>
            <a:r>
              <a:rPr lang="en-US"/>
              <a:t> Yeganeh, Y. Chen, N. S. Fenty, A. Simpson, and M. Hatami, “STREAM: A Semantic Transformation and Real-Time Educational Adaptation Multimodal Framework in Personalized Virtual Classrooms,” </a:t>
            </a:r>
            <a:r>
              <a:rPr lang="en-US" i="1"/>
              <a:t>Future Internet</a:t>
            </a:r>
            <a:r>
              <a:rPr lang="en-US"/>
              <a:t>, vol. 17, no. 12, Art. no. 564, Dec. 2025. </a:t>
            </a:r>
            <a:r>
              <a:rPr lang="en-US" err="1"/>
              <a:t>doi</a:t>
            </a:r>
            <a:r>
              <a:rPr lang="en-US"/>
              <a:t>: 10.3390/fi17120564.</a:t>
            </a:r>
            <a:endParaRPr lang="en-US">
              <a:ea typeface="Calibri"/>
              <a:cs typeface="Calibri"/>
            </a:endParaRPr>
          </a:p>
          <a:p>
            <a:pPr algn="just"/>
            <a:r>
              <a:rPr lang="en-US"/>
              <a:t>[4] W. Hu and Z. Shao, “Design and evaluation of a GenAI-based personalized educational content system tailored to personality traits and emotional responses for adaptive learning,” </a:t>
            </a:r>
            <a:r>
              <a:rPr lang="en-US" i="1" err="1"/>
              <a:t>Comput</a:t>
            </a:r>
            <a:r>
              <a:rPr lang="en-US" i="1"/>
              <a:t>. Hum. </a:t>
            </a:r>
            <a:r>
              <a:rPr lang="en-US" i="1" err="1"/>
              <a:t>Behav</a:t>
            </a:r>
            <a:r>
              <a:rPr lang="en-US" i="1"/>
              <a:t>. Rep.</a:t>
            </a:r>
            <a:r>
              <a:rPr lang="en-US"/>
              <a:t>, vol. 19, Art. no. 100735, 2025. </a:t>
            </a:r>
            <a:r>
              <a:rPr lang="en-US" err="1"/>
              <a:t>doi</a:t>
            </a:r>
            <a:r>
              <a:rPr lang="en-US"/>
              <a:t>: 10.1016/j.chbr.2025.100735.</a:t>
            </a:r>
            <a:endParaRPr lang="en-US">
              <a:ea typeface="Calibri"/>
              <a:cs typeface="Calibri"/>
            </a:endParaRPr>
          </a:p>
          <a:p>
            <a:pPr algn="just"/>
            <a:r>
              <a:rPr lang="en-US"/>
              <a:t>[5] Z. Hu, “A method for generating personalized learning content based on AIGC,” </a:t>
            </a:r>
            <a:r>
              <a:rPr lang="en-US" i="1"/>
              <a:t>Sustain. </a:t>
            </a:r>
            <a:r>
              <a:rPr lang="en-US" i="1" err="1"/>
              <a:t>Futur</a:t>
            </a:r>
            <a:r>
              <a:rPr lang="en-US" i="1"/>
              <a:t>.</a:t>
            </a:r>
            <a:r>
              <a:rPr lang="en-US"/>
              <a:t>, vol. 7, Art. no. 100735, 2025. </a:t>
            </a:r>
            <a:r>
              <a:rPr lang="en-US" err="1"/>
              <a:t>doi</a:t>
            </a:r>
            <a:r>
              <a:rPr lang="en-US"/>
              <a:t>: 10.1016/j.sftr.2025.100735.</a:t>
            </a:r>
            <a:endParaRPr lang="en-US">
              <a:ea typeface="Calibri"/>
              <a:cs typeface="Calibri"/>
            </a:endParaRPr>
          </a:p>
          <a:p>
            <a:pPr algn="just"/>
            <a:r>
              <a:rPr lang="en-US"/>
              <a:t>[6] B. L. Reddy, Nirmala, V. Lathika, M. </a:t>
            </a:r>
            <a:r>
              <a:rPr lang="en-US" err="1"/>
              <a:t>Vidhyasree</a:t>
            </a:r>
            <a:r>
              <a:rPr lang="en-US"/>
              <a:t>, V. Manimegalai, and K. Kavya, "Personalized Learning Systems Using AI for Adaptive Educational Content Delivery Based on Reinforcement Learning Algorithms," in </a:t>
            </a:r>
            <a:r>
              <a:rPr lang="en-US" i="1"/>
              <a:t>2025 3rd Int. Conf. Commun. Security </a:t>
            </a:r>
            <a:r>
              <a:rPr lang="en-US" i="1" err="1"/>
              <a:t>Artif</a:t>
            </a:r>
            <a:r>
              <a:rPr lang="en-US" i="1"/>
              <a:t>. Intell. (ICCSAI)</a:t>
            </a:r>
            <a:r>
              <a:rPr lang="en-US"/>
              <a:t>, 2025, pp. 960–964. </a:t>
            </a:r>
            <a:r>
              <a:rPr lang="en-US" err="1"/>
              <a:t>doi</a:t>
            </a:r>
            <a:r>
              <a:rPr lang="en-US"/>
              <a:t>: 10.1109/ICCSAI64074.2025.11064584.</a:t>
            </a:r>
            <a:endParaRPr lang="en-US">
              <a:ea typeface="Calibri"/>
              <a:cs typeface="Calibri"/>
            </a:endParaRPr>
          </a:p>
          <a:p>
            <a:pPr algn="just"/>
            <a:r>
              <a:rPr lang="en-US"/>
              <a:t>[7] B. Ogunleye, O. S. Okonkwo, O. O. Ajayi, O. E. Olaniyi, S. O. Oladipo, and T. A. Adeyemi, "Artificial intelligence in education: A review of personalized learning and educational technology," </a:t>
            </a:r>
            <a:r>
              <a:rPr lang="en-US" i="1"/>
              <a:t>GSC Adv. Res. Rev.</a:t>
            </a:r>
            <a:r>
              <a:rPr lang="en-US"/>
              <a:t>, vol. 18, no. 2, pp. 261–271, 2024. </a:t>
            </a:r>
            <a:r>
              <a:rPr lang="en-US" err="1"/>
              <a:t>doi</a:t>
            </a:r>
            <a:r>
              <a:rPr lang="en-US"/>
              <a:t>: 10.30574/gscarr.2024.18.2.0062.</a:t>
            </a:r>
            <a:endParaRPr lang="en-US">
              <a:ea typeface="Calibri"/>
              <a:cs typeface="Calibri"/>
            </a:endParaRPr>
          </a:p>
          <a:p>
            <a:pPr algn="just"/>
            <a:r>
              <a:rPr lang="en-US"/>
              <a:t>[8] M. Y. Al Balushi and A. S. Al </a:t>
            </a:r>
            <a:r>
              <a:rPr lang="en-US" err="1"/>
              <a:t>Harthi</a:t>
            </a:r>
            <a:r>
              <a:rPr lang="en-US"/>
              <a:t>, "Adaptive Learning Pathways: Advancing Personalization in Online Education Platforms," </a:t>
            </a:r>
            <a:r>
              <a:rPr lang="en-US" i="1"/>
              <a:t>Int. J. Virtual Pers. Learn. Environ.</a:t>
            </a:r>
            <a:r>
              <a:rPr lang="en-US"/>
              <a:t>, vol. 13, no. 1, pp. 1–15, 2023. </a:t>
            </a:r>
            <a:r>
              <a:rPr lang="en-US" err="1"/>
              <a:t>doi</a:t>
            </a:r>
            <a:r>
              <a:rPr lang="en-US"/>
              <a:t>: unavailable.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392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/>
              <a:t>[4] W. Hu and Z. Shao, “Design and evaluation of a GenAI-based personalized educational content system tailored to personality traits and emotional responses for adaptive learning,” </a:t>
            </a:r>
            <a:r>
              <a:rPr lang="en-US" i="1" err="1"/>
              <a:t>Comput</a:t>
            </a:r>
            <a:r>
              <a:rPr lang="en-US" i="1"/>
              <a:t>. Hum. </a:t>
            </a:r>
            <a:r>
              <a:rPr lang="en-US" i="1" err="1"/>
              <a:t>Behav</a:t>
            </a:r>
            <a:r>
              <a:rPr lang="en-US" i="1"/>
              <a:t>. Rep.</a:t>
            </a:r>
            <a:r>
              <a:rPr lang="en-US"/>
              <a:t>, vol. 19, Art. no. 100735, 2025. </a:t>
            </a:r>
            <a:r>
              <a:rPr lang="en-US" err="1"/>
              <a:t>doi</a:t>
            </a:r>
            <a:r>
              <a:rPr lang="en-US"/>
              <a:t>: 10.1016/j.chbr.2025.100735.</a:t>
            </a:r>
          </a:p>
          <a:p>
            <a:pPr algn="just"/>
            <a:r>
              <a:rPr lang="en-US"/>
              <a:t>[5] Z. Hu, “A method for generating personalized learning content based on AIGC,” </a:t>
            </a:r>
            <a:r>
              <a:rPr lang="en-US" i="1"/>
              <a:t>Sustain. </a:t>
            </a:r>
            <a:r>
              <a:rPr lang="en-US" i="1" err="1"/>
              <a:t>Futur</a:t>
            </a:r>
            <a:r>
              <a:rPr lang="en-US" i="1"/>
              <a:t>.</a:t>
            </a:r>
            <a:r>
              <a:rPr lang="en-US"/>
              <a:t>, vol. 7, Art. no. 100735, 2025. </a:t>
            </a:r>
            <a:r>
              <a:rPr lang="en-US" err="1"/>
              <a:t>doi</a:t>
            </a:r>
            <a:r>
              <a:rPr lang="en-US"/>
              <a:t>: 10.1016/j.sftr.2025.100735.</a:t>
            </a:r>
          </a:p>
          <a:p>
            <a:pPr algn="just"/>
            <a:r>
              <a:rPr lang="en-US"/>
              <a:t>[6] B. L. Reddy, Nirmala, V. Lathika, M. </a:t>
            </a:r>
            <a:r>
              <a:rPr lang="en-US" err="1"/>
              <a:t>Vidhyasree</a:t>
            </a:r>
            <a:r>
              <a:rPr lang="en-US"/>
              <a:t>, V. Manimegalai, and K. Kavya, "Personalized Learning Systems Using AI for Adaptive Educational Content Delivery Based on Reinforcement Learning Algorithms," in </a:t>
            </a:r>
            <a:r>
              <a:rPr lang="en-US" i="1"/>
              <a:t>2025 3rd Int. Conf. Commun. Security </a:t>
            </a:r>
            <a:r>
              <a:rPr lang="en-US" i="1" err="1"/>
              <a:t>Artif</a:t>
            </a:r>
            <a:r>
              <a:rPr lang="en-US" i="1"/>
              <a:t>. Intell. (ICCSAI)</a:t>
            </a:r>
            <a:r>
              <a:rPr lang="en-US"/>
              <a:t>, 2025, pp. 960–964. </a:t>
            </a:r>
            <a:r>
              <a:rPr lang="en-US" err="1"/>
              <a:t>doi</a:t>
            </a:r>
            <a:r>
              <a:rPr lang="en-US"/>
              <a:t>: 10.1109/ICCSAI64074.2025.11064584.</a:t>
            </a:r>
          </a:p>
          <a:p>
            <a:pPr algn="just"/>
            <a:r>
              <a:rPr lang="en-US"/>
              <a:t>[8] M. Y. Al Balushi and A. S. Al </a:t>
            </a:r>
            <a:r>
              <a:rPr lang="en-US" err="1"/>
              <a:t>Harthi</a:t>
            </a:r>
            <a:r>
              <a:rPr lang="en-US"/>
              <a:t>, "Adaptive Learning Pathways: Advancing Personalization in Online Education Platforms," </a:t>
            </a:r>
            <a:r>
              <a:rPr lang="en-US" i="1"/>
              <a:t>Int. J. Virtual Pers. Learn. Environ.</a:t>
            </a:r>
            <a:r>
              <a:rPr lang="en-US"/>
              <a:t>, vol. 13, no. 1, pp. 1–15, 2023. </a:t>
            </a:r>
            <a:r>
              <a:rPr lang="en-US" err="1"/>
              <a:t>doi</a:t>
            </a:r>
            <a:r>
              <a:rPr lang="en-US"/>
              <a:t>: unavailable.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150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/>
              <a:t>[2] J. J. Y. Lim et al., “Learning in Context: Personalizing Educational Content with Large Language Models to Enhance Student Learning,” </a:t>
            </a:r>
            <a:r>
              <a:rPr lang="en-US" i="1"/>
              <a:t>[Publication Title]</a:t>
            </a:r>
            <a:r>
              <a:rPr lang="en-US"/>
              <a:t>, vol. 1, no. 1, pp. 1–19, Sep. 2025. </a:t>
            </a:r>
            <a:r>
              <a:rPr lang="en-US" err="1"/>
              <a:t>doi</a:t>
            </a:r>
            <a:r>
              <a:rPr lang="en-US"/>
              <a:t>: 10.1145/XXXXXXXXXXXXX.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205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/>
              <a:t>[1] T. </a:t>
            </a:r>
            <a:r>
              <a:rPr lang="en-US" err="1"/>
              <a:t>Kabudi</a:t>
            </a:r>
            <a:r>
              <a:rPr lang="en-US"/>
              <a:t>, I. Pappas, and D. H. Olsen, “AI-enabled adaptive learning systems: A systematic mapping of the literature,” </a:t>
            </a:r>
            <a:r>
              <a:rPr lang="en-US" i="1" err="1"/>
              <a:t>Comput</a:t>
            </a:r>
            <a:r>
              <a:rPr lang="en-US" i="1"/>
              <a:t>. Educ. </a:t>
            </a:r>
            <a:r>
              <a:rPr lang="en-US" i="1" err="1"/>
              <a:t>Artif</a:t>
            </a:r>
            <a:r>
              <a:rPr lang="en-US" i="1"/>
              <a:t>. Intell.</a:t>
            </a:r>
            <a:r>
              <a:rPr lang="en-US"/>
              <a:t>, vol. 2, Art. no. 100017, 2021. </a:t>
            </a:r>
            <a:r>
              <a:rPr lang="en-US" err="1"/>
              <a:t>doi</a:t>
            </a:r>
            <a:r>
              <a:rPr lang="en-US"/>
              <a:t>: 10.1016/j.caeai.2021.100017.</a:t>
            </a:r>
          </a:p>
          <a:p>
            <a:pPr algn="just"/>
            <a:r>
              <a:rPr lang="en-US"/>
              <a:t>[2] J. J. Y. Lim et al., “Learning in Context: Personalizing Educational Content with Large Language Models to Enhance Student Learning,” </a:t>
            </a:r>
            <a:r>
              <a:rPr lang="en-US" i="1"/>
              <a:t>[Publication Title]</a:t>
            </a:r>
            <a:r>
              <a:rPr lang="en-US"/>
              <a:t>, vol. 1, no. 1, pp. 1–19, Sep. 2025. </a:t>
            </a:r>
            <a:r>
              <a:rPr lang="en-US" err="1"/>
              <a:t>doi</a:t>
            </a:r>
            <a:r>
              <a:rPr lang="en-US"/>
              <a:t>: 10.1145/XXXXXXXXXXXXX.</a:t>
            </a:r>
          </a:p>
          <a:p>
            <a:pPr algn="just"/>
            <a:r>
              <a:rPr lang="en-US"/>
              <a:t>[3] L. </a:t>
            </a:r>
            <a:r>
              <a:rPr lang="en-US" err="1"/>
              <a:t>Nouraei</a:t>
            </a:r>
            <a:r>
              <a:rPr lang="en-US"/>
              <a:t> Yeganeh, Y. Chen, N. S. Fenty, A. Simpson, and M. Hatami, “STREAM: A Semantic Transformation and Real-Time Educational Adaptation Multimodal Framework in Personalized Virtual Classrooms,” </a:t>
            </a:r>
            <a:r>
              <a:rPr lang="en-US" i="1"/>
              <a:t>Future Internet</a:t>
            </a:r>
            <a:r>
              <a:rPr lang="en-US"/>
              <a:t>, vol. 17, no. 12, Art. no. 564, Dec. 2025. </a:t>
            </a:r>
            <a:r>
              <a:rPr lang="en-US" err="1"/>
              <a:t>doi</a:t>
            </a:r>
            <a:r>
              <a:rPr lang="en-US"/>
              <a:t>: 10.3390/fi17120564.</a:t>
            </a:r>
          </a:p>
          <a:p>
            <a:pPr algn="just"/>
            <a:r>
              <a:rPr lang="en-US"/>
              <a:t>[4] W. Hu and Z. Shao, “Design and evaluation of a GenAI-based personalized educational content system tailored to personality traits and emotional responses for adaptive learning,” </a:t>
            </a:r>
            <a:r>
              <a:rPr lang="en-US" i="1" err="1"/>
              <a:t>Comput</a:t>
            </a:r>
            <a:r>
              <a:rPr lang="en-US" i="1"/>
              <a:t>. Hum. </a:t>
            </a:r>
            <a:r>
              <a:rPr lang="en-US" i="1" err="1"/>
              <a:t>Behav</a:t>
            </a:r>
            <a:r>
              <a:rPr lang="en-US" i="1"/>
              <a:t>. Rep.</a:t>
            </a:r>
            <a:r>
              <a:rPr lang="en-US"/>
              <a:t>, vol. 19, Art. no. 100735, 2025. </a:t>
            </a:r>
            <a:r>
              <a:rPr lang="en-US" err="1"/>
              <a:t>doi</a:t>
            </a:r>
            <a:r>
              <a:rPr lang="en-US"/>
              <a:t>: 10.1016/j.chbr.2025.100735.</a:t>
            </a:r>
          </a:p>
          <a:p>
            <a:pPr algn="just"/>
            <a:r>
              <a:rPr lang="en-US"/>
              <a:t>[5] Z. Hu, “A method for generating personalized learning content based on AIGC,” </a:t>
            </a:r>
            <a:r>
              <a:rPr lang="en-US" i="1"/>
              <a:t>Sustain. </a:t>
            </a:r>
            <a:r>
              <a:rPr lang="en-US" i="1" err="1"/>
              <a:t>Futur</a:t>
            </a:r>
            <a:r>
              <a:rPr lang="en-US" i="1"/>
              <a:t>.</a:t>
            </a:r>
            <a:r>
              <a:rPr lang="en-US"/>
              <a:t>, vol. 7, Art. no. 100735, 2025. </a:t>
            </a:r>
            <a:r>
              <a:rPr lang="en-US" err="1"/>
              <a:t>doi</a:t>
            </a:r>
            <a:r>
              <a:rPr lang="en-US"/>
              <a:t>: 10.1016/j.sftr.2025.100735.</a:t>
            </a:r>
          </a:p>
          <a:p>
            <a:pPr algn="just"/>
            <a:r>
              <a:rPr lang="en-US"/>
              <a:t>[6] B. L. Reddy, Nirmala, V. Lathika, M. </a:t>
            </a:r>
            <a:r>
              <a:rPr lang="en-US" err="1"/>
              <a:t>Vidhyasree</a:t>
            </a:r>
            <a:r>
              <a:rPr lang="en-US"/>
              <a:t>, V. Manimegalai, and K. Kavya, "Personalized Learning Systems Using AI for Adaptive Educational Content Delivery Based on Reinforcement Learning Algorithms," in </a:t>
            </a:r>
            <a:r>
              <a:rPr lang="en-US" i="1"/>
              <a:t>2025 3rd Int. Conf. Commun. Security </a:t>
            </a:r>
            <a:r>
              <a:rPr lang="en-US" i="1" err="1"/>
              <a:t>Artif</a:t>
            </a:r>
            <a:r>
              <a:rPr lang="en-US" i="1"/>
              <a:t>. Intell. (ICCSAI)</a:t>
            </a:r>
            <a:r>
              <a:rPr lang="en-US"/>
              <a:t>, 2025, pp. 960–964. </a:t>
            </a:r>
            <a:r>
              <a:rPr lang="en-US" err="1"/>
              <a:t>doi</a:t>
            </a:r>
            <a:r>
              <a:rPr lang="en-US"/>
              <a:t>: 10.1109/ICCSAI64074.2025.11064584.</a:t>
            </a:r>
          </a:p>
          <a:p>
            <a:pPr algn="just"/>
            <a:r>
              <a:rPr lang="en-US"/>
              <a:t>[7] B. Ogunleye, O. S. Okonkwo, O. O. Ajayi, O. E. Olaniyi, S. O. Oladipo, and T. A. Adeyemi, "Artificial intelligence in education: A review of personalized learning and educational technology," </a:t>
            </a:r>
            <a:r>
              <a:rPr lang="en-US" i="1"/>
              <a:t>GSC Adv. Res. Rev.</a:t>
            </a:r>
            <a:r>
              <a:rPr lang="en-US"/>
              <a:t>, vol. 18, no. 2, pp. 261–271, 2024. </a:t>
            </a:r>
            <a:r>
              <a:rPr lang="en-US" err="1"/>
              <a:t>doi</a:t>
            </a:r>
            <a:r>
              <a:rPr lang="en-US"/>
              <a:t>: 10.30574/gscarr.2024.18.2.0062.</a:t>
            </a:r>
          </a:p>
          <a:p>
            <a:pPr algn="just"/>
            <a:r>
              <a:rPr lang="en-US"/>
              <a:t>[8] M. Y. Al Balushi and A. S. Al </a:t>
            </a:r>
            <a:r>
              <a:rPr lang="en-US" err="1"/>
              <a:t>Harthi</a:t>
            </a:r>
            <a:r>
              <a:rPr lang="en-US"/>
              <a:t>, "Adaptive Learning Pathways: Advancing Personalization in Online Education Platforms," </a:t>
            </a:r>
            <a:r>
              <a:rPr lang="en-US" i="1"/>
              <a:t>Int. J. Virtual Pers. Learn. Environ.</a:t>
            </a:r>
            <a:r>
              <a:rPr lang="en-US"/>
              <a:t>, vol. 13, no. 1, pp. 1–15, 2023. </a:t>
            </a:r>
            <a:r>
              <a:rPr lang="en-US" err="1"/>
              <a:t>doi</a:t>
            </a:r>
            <a:r>
              <a:rPr lang="en-US"/>
              <a:t>: unavailable.</a:t>
            </a:r>
          </a:p>
          <a:p>
            <a:pPr algn="just"/>
            <a:r>
              <a:rPr lang="en-US"/>
              <a:t>[9] Z. C. da Silva, A. R. Pimentel, and L. R. Ferreira, "Learning Objects Content Presentation Adaptation Model Considering Students' Learning Styles," </a:t>
            </a:r>
            <a:r>
              <a:rPr lang="en-US" i="1"/>
              <a:t>Int. J. Educ. </a:t>
            </a:r>
            <a:r>
              <a:rPr lang="en-US" i="1" err="1"/>
              <a:t>Pedagog</a:t>
            </a:r>
            <a:r>
              <a:rPr lang="en-US" i="1"/>
              <a:t>. Sci.</a:t>
            </a:r>
            <a:r>
              <a:rPr lang="en-US"/>
              <a:t>, vol. 15, no. 8, pp. 783–790, 2021. </a:t>
            </a:r>
            <a:r>
              <a:rPr lang="en-US" err="1"/>
              <a:t>doi</a:t>
            </a:r>
            <a:r>
              <a:rPr lang="en-US"/>
              <a:t>: 10.5281/zenodo.10012193.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0538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/>
              <a:t>[1] T. </a:t>
            </a:r>
            <a:r>
              <a:rPr lang="en-US" err="1"/>
              <a:t>Kabudi</a:t>
            </a:r>
            <a:r>
              <a:rPr lang="en-US"/>
              <a:t>, I. Pappas, and D. H. Olsen, “AI-enabled adaptive learning systems: A systematic mapping of the literature,” </a:t>
            </a:r>
            <a:r>
              <a:rPr lang="en-US" i="1" err="1"/>
              <a:t>Comput</a:t>
            </a:r>
            <a:r>
              <a:rPr lang="en-US" i="1"/>
              <a:t>. Educ. </a:t>
            </a:r>
            <a:r>
              <a:rPr lang="en-US" i="1" err="1"/>
              <a:t>Artif</a:t>
            </a:r>
            <a:r>
              <a:rPr lang="en-US" i="1"/>
              <a:t>. Intell.</a:t>
            </a:r>
            <a:r>
              <a:rPr lang="en-US"/>
              <a:t>, vol. 2, Art. no. 100017, 2021. </a:t>
            </a:r>
            <a:r>
              <a:rPr lang="en-US" err="1"/>
              <a:t>doi</a:t>
            </a:r>
            <a:r>
              <a:rPr lang="en-US"/>
              <a:t>: 10.1016/j.caeai.2021.100017.</a:t>
            </a:r>
          </a:p>
          <a:p>
            <a:pPr algn="just"/>
            <a:r>
              <a:rPr lang="en-US"/>
              <a:t>[2] J. J. Y. Lim et al., “Learning in Context: Personalizing Educational Content with Large Language Models to Enhance Student Learning,” </a:t>
            </a:r>
            <a:r>
              <a:rPr lang="en-US" i="1"/>
              <a:t>[Publication Title]</a:t>
            </a:r>
            <a:r>
              <a:rPr lang="en-US"/>
              <a:t>, vol. 1, no. 1, pp. 1–19, Sep. 2025. </a:t>
            </a:r>
            <a:r>
              <a:rPr lang="en-US" err="1"/>
              <a:t>doi</a:t>
            </a:r>
            <a:r>
              <a:rPr lang="en-US"/>
              <a:t>: 10.1145/XXXXXXXXXXXXX.</a:t>
            </a:r>
          </a:p>
          <a:p>
            <a:pPr algn="just"/>
            <a:r>
              <a:rPr lang="en-US"/>
              <a:t>[3] L. </a:t>
            </a:r>
            <a:r>
              <a:rPr lang="en-US" err="1"/>
              <a:t>Nouraei</a:t>
            </a:r>
            <a:r>
              <a:rPr lang="en-US"/>
              <a:t> Yeganeh, Y. Chen, N. S. Fenty, A. Simpson, and M. Hatami, “STREAM: A Semantic Transformation and Real-Time Educational Adaptation Multimodal Framework in Personalized Virtual Classrooms,” </a:t>
            </a:r>
            <a:r>
              <a:rPr lang="en-US" i="1"/>
              <a:t>Future Internet</a:t>
            </a:r>
            <a:r>
              <a:rPr lang="en-US"/>
              <a:t>, vol. 17, no. 12, Art. no. 564, Dec. 2025. </a:t>
            </a:r>
            <a:r>
              <a:rPr lang="en-US" err="1"/>
              <a:t>doi</a:t>
            </a:r>
            <a:r>
              <a:rPr lang="en-US"/>
              <a:t>: 10.3390/fi17120564.</a:t>
            </a:r>
          </a:p>
          <a:p>
            <a:pPr algn="just"/>
            <a:r>
              <a:rPr lang="en-US"/>
              <a:t>[4] W. Hu and Z. Shao, “Design and evaluation of a GenAI-based personalized educational content system tailored to personality traits and emotional responses for adaptive learning,” </a:t>
            </a:r>
            <a:r>
              <a:rPr lang="en-US" i="1" err="1"/>
              <a:t>Comput</a:t>
            </a:r>
            <a:r>
              <a:rPr lang="en-US" i="1"/>
              <a:t>. Hum. </a:t>
            </a:r>
            <a:r>
              <a:rPr lang="en-US" i="1" err="1"/>
              <a:t>Behav</a:t>
            </a:r>
            <a:r>
              <a:rPr lang="en-US" i="1"/>
              <a:t>. Rep.</a:t>
            </a:r>
            <a:r>
              <a:rPr lang="en-US"/>
              <a:t>, vol. 19, Art. no. 100735, 2025. </a:t>
            </a:r>
            <a:r>
              <a:rPr lang="en-US" err="1"/>
              <a:t>doi</a:t>
            </a:r>
            <a:r>
              <a:rPr lang="en-US"/>
              <a:t>: 10.1016/j.chbr.2025.100735.</a:t>
            </a:r>
          </a:p>
          <a:p>
            <a:pPr algn="just"/>
            <a:r>
              <a:rPr lang="en-US"/>
              <a:t>[5] Z. Hu, “A method for generating personalized learning content based on AIGC,” </a:t>
            </a:r>
            <a:r>
              <a:rPr lang="en-US" i="1"/>
              <a:t>Sustain. </a:t>
            </a:r>
            <a:r>
              <a:rPr lang="en-US" i="1" err="1"/>
              <a:t>Futur</a:t>
            </a:r>
            <a:r>
              <a:rPr lang="en-US" i="1"/>
              <a:t>.</a:t>
            </a:r>
            <a:r>
              <a:rPr lang="en-US"/>
              <a:t>, vol. 7, Art. no. 100735, 2025. </a:t>
            </a:r>
            <a:r>
              <a:rPr lang="en-US" err="1"/>
              <a:t>doi</a:t>
            </a:r>
            <a:r>
              <a:rPr lang="en-US"/>
              <a:t>: 10.1016/j.sftr.2025.100735.</a:t>
            </a:r>
          </a:p>
          <a:p>
            <a:pPr algn="just"/>
            <a:r>
              <a:rPr lang="en-US"/>
              <a:t>[6] B. L. Reddy, Nirmala, V. Lathika, M. </a:t>
            </a:r>
            <a:r>
              <a:rPr lang="en-US" err="1"/>
              <a:t>Vidhyasree</a:t>
            </a:r>
            <a:r>
              <a:rPr lang="en-US"/>
              <a:t>, V. Manimegalai, and K. Kavya, "Personalized Learning Systems Using AI for Adaptive Educational Content Delivery Based on Reinforcement Learning Algorithms," in </a:t>
            </a:r>
            <a:r>
              <a:rPr lang="en-US" i="1"/>
              <a:t>2025 3rd Int. Conf. Commun. Security </a:t>
            </a:r>
            <a:r>
              <a:rPr lang="en-US" i="1" err="1"/>
              <a:t>Artif</a:t>
            </a:r>
            <a:r>
              <a:rPr lang="en-US" i="1"/>
              <a:t>. Intell. (ICCSAI)</a:t>
            </a:r>
            <a:r>
              <a:rPr lang="en-US"/>
              <a:t>, 2025, pp. 960–964. </a:t>
            </a:r>
            <a:r>
              <a:rPr lang="en-US" err="1"/>
              <a:t>doi</a:t>
            </a:r>
            <a:r>
              <a:rPr lang="en-US"/>
              <a:t>: 10.1109/ICCSAI64074.2025.11064584.</a:t>
            </a:r>
          </a:p>
          <a:p>
            <a:pPr algn="just"/>
            <a:r>
              <a:rPr lang="en-US"/>
              <a:t>[7] B. Ogunleye, O. S. Okonkwo, O. O. Ajayi, O. E. Olaniyi, S. O. Oladipo, and T. A. Adeyemi, "Artificial intelligence in education: A review of personalized learning and educational technology," </a:t>
            </a:r>
            <a:r>
              <a:rPr lang="en-US" i="1"/>
              <a:t>GSC Adv. Res. Rev.</a:t>
            </a:r>
            <a:r>
              <a:rPr lang="en-US"/>
              <a:t>, vol. 18, no. 2, pp. 261–271, 2024. </a:t>
            </a:r>
            <a:r>
              <a:rPr lang="en-US" err="1"/>
              <a:t>doi</a:t>
            </a:r>
            <a:r>
              <a:rPr lang="en-US"/>
              <a:t>: 10.30574/gscarr.2024.18.2.0062.</a:t>
            </a:r>
          </a:p>
          <a:p>
            <a:pPr algn="just"/>
            <a:r>
              <a:rPr lang="en-US"/>
              <a:t>[8] M. Y. Al Balushi and A. S. Al </a:t>
            </a:r>
            <a:r>
              <a:rPr lang="en-US" err="1"/>
              <a:t>Harthi</a:t>
            </a:r>
            <a:r>
              <a:rPr lang="en-US"/>
              <a:t>, "Adaptive Learning Pathways: Advancing Personalization in Online Education Platforms," </a:t>
            </a:r>
            <a:r>
              <a:rPr lang="en-US" i="1"/>
              <a:t>Int. J. Virtual Pers. Learn. Environ.</a:t>
            </a:r>
            <a:r>
              <a:rPr lang="en-US"/>
              <a:t>, vol. 13, no. 1, pp. 1–15, 2023. </a:t>
            </a:r>
            <a:r>
              <a:rPr lang="en-US" err="1"/>
              <a:t>doi</a:t>
            </a:r>
            <a:r>
              <a:rPr lang="en-US"/>
              <a:t>: unavailable.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746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/>
              <a:t>[1] T. </a:t>
            </a:r>
            <a:r>
              <a:rPr lang="en-US" err="1"/>
              <a:t>Kabudi</a:t>
            </a:r>
            <a:r>
              <a:rPr lang="en-US"/>
              <a:t>, I. Pappas, and D. H. Olsen, “AI-enabled adaptive learning systems: A systematic mapping of the literature,” </a:t>
            </a:r>
            <a:r>
              <a:rPr lang="en-US" i="1" err="1"/>
              <a:t>Comput</a:t>
            </a:r>
            <a:r>
              <a:rPr lang="en-US" i="1"/>
              <a:t>. Educ. </a:t>
            </a:r>
            <a:r>
              <a:rPr lang="en-US" i="1" err="1"/>
              <a:t>Artif</a:t>
            </a:r>
            <a:r>
              <a:rPr lang="en-US" i="1"/>
              <a:t>. Intell.</a:t>
            </a:r>
            <a:r>
              <a:rPr lang="en-US"/>
              <a:t>, vol. 2, Art. no. 100017, 2021. </a:t>
            </a:r>
            <a:r>
              <a:rPr lang="en-US" err="1"/>
              <a:t>doi</a:t>
            </a:r>
            <a:r>
              <a:rPr lang="en-US"/>
              <a:t>: 10.1016/j.caeai.2021.100017.</a:t>
            </a:r>
          </a:p>
          <a:p>
            <a:pPr algn="just"/>
            <a:r>
              <a:rPr lang="en-US"/>
              <a:t>[2] J. J. Y. Lim et al., “Learning in Context: Personalizing Educational Content with Large Language Models to Enhance Student Learning,” </a:t>
            </a:r>
            <a:r>
              <a:rPr lang="en-US" i="1"/>
              <a:t>[Publication Title]</a:t>
            </a:r>
            <a:r>
              <a:rPr lang="en-US"/>
              <a:t>, vol. 1, no. 1, pp. 1–19, Sep. 2025. </a:t>
            </a:r>
            <a:r>
              <a:rPr lang="en-US" err="1"/>
              <a:t>doi</a:t>
            </a:r>
            <a:r>
              <a:rPr lang="en-US"/>
              <a:t>: 10.1145/XXXXXXXXXXXXX.</a:t>
            </a:r>
          </a:p>
          <a:p>
            <a:pPr algn="just"/>
            <a:r>
              <a:rPr lang="en-US"/>
              <a:t>[3] L. </a:t>
            </a:r>
            <a:r>
              <a:rPr lang="en-US" err="1"/>
              <a:t>Nouraei</a:t>
            </a:r>
            <a:r>
              <a:rPr lang="en-US"/>
              <a:t> Yeganeh, Y. Chen, N. S. Fenty, A. Simpson, and M. Hatami, “STREAM: A Semantic Transformation and Real-Time Educational Adaptation Multimodal Framework in Personalized Virtual Classrooms,” </a:t>
            </a:r>
            <a:r>
              <a:rPr lang="en-US" i="1"/>
              <a:t>Future Internet</a:t>
            </a:r>
            <a:r>
              <a:rPr lang="en-US"/>
              <a:t>, vol. 17, no. 12, Art. no. 564, Dec. 2025. </a:t>
            </a:r>
            <a:r>
              <a:rPr lang="en-US" err="1"/>
              <a:t>doi</a:t>
            </a:r>
            <a:r>
              <a:rPr lang="en-US"/>
              <a:t>: 10.3390/fi17120564.</a:t>
            </a:r>
          </a:p>
          <a:p>
            <a:pPr algn="just"/>
            <a:r>
              <a:rPr lang="en-US"/>
              <a:t>[4] W. Hu and Z. Shao, “Design and evaluation of a GenAI-based personalized educational content system tailored to personality traits and emotional responses for adaptive learning,” </a:t>
            </a:r>
            <a:r>
              <a:rPr lang="en-US" i="1" err="1"/>
              <a:t>Comput</a:t>
            </a:r>
            <a:r>
              <a:rPr lang="en-US" i="1"/>
              <a:t>. Hum. </a:t>
            </a:r>
            <a:r>
              <a:rPr lang="en-US" i="1" err="1"/>
              <a:t>Behav</a:t>
            </a:r>
            <a:r>
              <a:rPr lang="en-US" i="1"/>
              <a:t>. Rep.</a:t>
            </a:r>
            <a:r>
              <a:rPr lang="en-US"/>
              <a:t>, vol. 19, Art. no. 100735, 2025. </a:t>
            </a:r>
            <a:r>
              <a:rPr lang="en-US" err="1"/>
              <a:t>doi</a:t>
            </a:r>
            <a:r>
              <a:rPr lang="en-US"/>
              <a:t>: 10.1016/j.chbr.2025.100735.</a:t>
            </a:r>
          </a:p>
          <a:p>
            <a:pPr algn="just"/>
            <a:r>
              <a:rPr lang="en-US"/>
              <a:t>[5] Z. Hu, “A method for generating personalized learning content based on AIGC,” </a:t>
            </a:r>
            <a:r>
              <a:rPr lang="en-US" i="1"/>
              <a:t>Sustain. </a:t>
            </a:r>
            <a:r>
              <a:rPr lang="en-US" i="1" err="1"/>
              <a:t>Futur</a:t>
            </a:r>
            <a:r>
              <a:rPr lang="en-US" i="1"/>
              <a:t>.</a:t>
            </a:r>
            <a:r>
              <a:rPr lang="en-US"/>
              <a:t>, vol. 7, Art. no. 100735, 2025. </a:t>
            </a:r>
            <a:r>
              <a:rPr lang="en-US" err="1"/>
              <a:t>doi</a:t>
            </a:r>
            <a:r>
              <a:rPr lang="en-US"/>
              <a:t>: 10.1016/j.sftr.2025.100735.</a:t>
            </a:r>
          </a:p>
          <a:p>
            <a:pPr algn="just"/>
            <a:r>
              <a:rPr lang="en-US"/>
              <a:t>[6] B. L. Reddy, Nirmala, V. Lathika, M. </a:t>
            </a:r>
            <a:r>
              <a:rPr lang="en-US" err="1"/>
              <a:t>Vidhyasree</a:t>
            </a:r>
            <a:r>
              <a:rPr lang="en-US"/>
              <a:t>, V. Manimegalai, and K. Kavya, "Personalized Learning Systems Using AI for Adaptive Educational Content Delivery Based on Reinforcement Learning Algorithms," in </a:t>
            </a:r>
            <a:r>
              <a:rPr lang="en-US" i="1"/>
              <a:t>2025 3rd Int. Conf. Commun. Security </a:t>
            </a:r>
            <a:r>
              <a:rPr lang="en-US" i="1" err="1"/>
              <a:t>Artif</a:t>
            </a:r>
            <a:r>
              <a:rPr lang="en-US" i="1"/>
              <a:t>. Intell. (ICCSAI)</a:t>
            </a:r>
            <a:r>
              <a:rPr lang="en-US"/>
              <a:t>, 2025, pp. 960–964. </a:t>
            </a:r>
            <a:r>
              <a:rPr lang="en-US" err="1"/>
              <a:t>doi</a:t>
            </a:r>
            <a:r>
              <a:rPr lang="en-US"/>
              <a:t>: 10.1109/ICCSAI64074.2025.11064584.</a:t>
            </a:r>
          </a:p>
          <a:p>
            <a:pPr algn="just"/>
            <a:r>
              <a:rPr lang="en-US"/>
              <a:t>[7] B. Ogunleye, O. S. Okonkwo, O. O. Ajayi, O. E. Olaniyi, S. O. Oladipo, and T. A. Adeyemi, "Artificial intelligence in education: A review of personalized learning and educational technology," </a:t>
            </a:r>
            <a:r>
              <a:rPr lang="en-US" i="1"/>
              <a:t>GSC Adv. Res. Rev.</a:t>
            </a:r>
            <a:r>
              <a:rPr lang="en-US"/>
              <a:t>, vol. 18, no. 2, pp. 261–271, 2024. </a:t>
            </a:r>
            <a:r>
              <a:rPr lang="en-US" err="1"/>
              <a:t>doi</a:t>
            </a:r>
            <a:r>
              <a:rPr lang="en-US"/>
              <a:t>: 10.30574/gscarr.2024.18.2.0062.</a:t>
            </a:r>
          </a:p>
          <a:p>
            <a:pPr algn="just"/>
            <a:r>
              <a:rPr lang="en-US"/>
              <a:t>[8] M. Y. Al Balushi and A. S. Al </a:t>
            </a:r>
            <a:r>
              <a:rPr lang="en-US" err="1"/>
              <a:t>Harthi</a:t>
            </a:r>
            <a:r>
              <a:rPr lang="en-US"/>
              <a:t>, "Adaptive Learning Pathways: Advancing Personalization in Online Education Platforms," </a:t>
            </a:r>
            <a:r>
              <a:rPr lang="en-US" i="1"/>
              <a:t>Int. J. Virtual Pers. Learn. Environ.</a:t>
            </a:r>
            <a:r>
              <a:rPr lang="en-US"/>
              <a:t>, vol. 13, no. 1, pp. 1–15, 2023. </a:t>
            </a:r>
            <a:r>
              <a:rPr lang="en-US" err="1"/>
              <a:t>doi</a:t>
            </a:r>
            <a:r>
              <a:rPr lang="en-US"/>
              <a:t>: unavailable.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884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F2DFF-2A27-6D98-6AFB-814B9DD18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75962-A93B-ACB4-837D-DBD5C2BD0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9FA636-ACC6-F23F-B648-0D0608F94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[10] M. Cai and C. D. Epp, “Modeling Cognitive Load and Affect to Support Adaptive Online Learning,” in Educational Data Mining Conference, 2022.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[14] I. H. Ajayi and E.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Avksentyeva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“Machine Learning Methods for Predicting Cognitive Load Using Eye-Tracking Data,” Pakistan Journal of Life and Social Sciences, 2024.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[12] J. V. R.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Jaisoorya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al., “Social Network-Integrated Machine Learning for Prediction Models,” 2023.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[5] M. Suryani et al., “Role, Methodology, and Measurement of Cognitive Load in Computer Science and Information Systems Research,” IEEE Access, vol. 12, pp. 138096–138115, 2024.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1D9E3-93C6-B7B7-E05E-0A1A7684F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411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10/11/2026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B645-3AA4-2E3D-571F-786B8D4B6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219200"/>
            <a:ext cx="10363200" cy="1470025"/>
          </a:xfrm>
        </p:spPr>
        <p:txBody>
          <a:bodyPr>
            <a:normAutofit fontScale="90000"/>
          </a:bodyPr>
          <a:lstStyle/>
          <a:p>
            <a:r>
              <a:rPr lang="en-US" b="1">
                <a:latin typeface="Adobe Devanagari"/>
              </a:rPr>
              <a:t>Adaptive Cognitive Load and Style Prediction System for Online Learning Using Behavioral Patterns</a:t>
            </a:r>
            <a:br>
              <a:rPr lang="en-US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5A9AC-835B-6C6C-5086-297B213B4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2971800"/>
            <a:ext cx="8534400" cy="1752600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patos"/>
              </a:rPr>
              <a:t>R26-SE-004</a:t>
            </a:r>
          </a:p>
          <a:p>
            <a:endParaRPr lang="en-US">
              <a:solidFill>
                <a:schemeClr val="tx1"/>
              </a:solidFill>
              <a:latin typeface="Apatos"/>
            </a:endParaRPr>
          </a:p>
        </p:txBody>
      </p:sp>
    </p:spTree>
    <p:extLst>
      <p:ext uri="{BB962C8B-B14F-4D97-AF65-F5344CB8AC3E}">
        <p14:creationId xmlns:p14="http://schemas.microsoft.com/office/powerpoint/2010/main" val="771518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1BE0B-4F26-3E9D-2D4E-D78DEA61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FBF1819-2DD5-1EC2-7826-0DF1AA853F82}"/>
              </a:ext>
            </a:extLst>
          </p:cNvPr>
          <p:cNvSpPr txBox="1"/>
          <p:nvPr/>
        </p:nvSpPr>
        <p:spPr>
          <a:xfrm>
            <a:off x="325617" y="655243"/>
            <a:ext cx="5943600" cy="17851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Apatos"/>
              </a:rPr>
              <a:t>The problem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latin typeface="Apatos"/>
              </a:rPr>
              <a:t>Current online learning systems do not effectively adapt to individual learners’ cognitive styles, study behaviors, and cognitive load, which can lead to inefficient learning and student frustration.</a:t>
            </a:r>
            <a:br>
              <a:rPr lang="en-US">
                <a:latin typeface="Apatos"/>
              </a:rPr>
            </a:br>
            <a:endParaRPr lang="en-US">
              <a:latin typeface="Apa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48F96-2B6F-B831-A52B-A45E958AE4A4}"/>
              </a:ext>
            </a:extLst>
          </p:cNvPr>
          <p:cNvSpPr txBox="1"/>
          <p:nvPr/>
        </p:nvSpPr>
        <p:spPr>
          <a:xfrm>
            <a:off x="325617" y="2611343"/>
            <a:ext cx="5943600" cy="707886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Apatos"/>
              </a:rPr>
              <a:t>Impact of the problem to User and Society (Stakeholders)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2FE823-98D9-ECF3-CEC1-3874A81E3CA5}"/>
              </a:ext>
            </a:extLst>
          </p:cNvPr>
          <p:cNvSpPr/>
          <p:nvPr/>
        </p:nvSpPr>
        <p:spPr>
          <a:xfrm>
            <a:off x="5257800" y="6492875"/>
            <a:ext cx="14061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  <a:latin typeface="Apatos"/>
              </a:rPr>
              <a:t>R26-SE-004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6EAA5F7-70BC-DE33-5FA1-4D2FF4A6C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398513"/>
              </p:ext>
            </p:extLst>
          </p:nvPr>
        </p:nvGraphicFramePr>
        <p:xfrm>
          <a:off x="341518" y="3353642"/>
          <a:ext cx="5883045" cy="292608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2793937">
                  <a:extLst>
                    <a:ext uri="{9D8B030D-6E8A-4147-A177-3AD203B41FA5}">
                      <a16:colId xmlns:a16="http://schemas.microsoft.com/office/drawing/2014/main" val="49901722"/>
                    </a:ext>
                  </a:extLst>
                </a:gridCol>
                <a:gridCol w="3089108">
                  <a:extLst>
                    <a:ext uri="{9D8B030D-6E8A-4147-A177-3AD203B41FA5}">
                      <a16:colId xmlns:a16="http://schemas.microsoft.com/office/drawing/2014/main" val="381162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patos"/>
                        </a:rPr>
                        <a:t>Stakeholder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patos"/>
                        </a:rPr>
                        <a:t>Issue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44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Apatos"/>
                        </a:rPr>
                        <a:t>Teachers / Tutors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atos"/>
                        </a:rPr>
                        <a:t>Difficult to identify student learning difficulties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2427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Apatos"/>
                        </a:rPr>
                        <a:t>Students / Undergraduates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atos"/>
                        </a:rPr>
                        <a:t>Experience confusion or cognitive overload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6752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Apatos"/>
                        </a:rPr>
                        <a:t>System Administrators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atos"/>
                        </a:rPr>
                        <a:t>Limited visibility of learner behavior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65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Apatos"/>
                        </a:rPr>
                        <a:t>Researchers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atos"/>
                        </a:rPr>
                        <a:t>Lack of behavioral data for research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232105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1AAFB20-D0CC-F85E-FB8C-78125E653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041119"/>
              </p:ext>
            </p:extLst>
          </p:nvPr>
        </p:nvGraphicFramePr>
        <p:xfrm>
          <a:off x="6519501" y="1447800"/>
          <a:ext cx="5522118" cy="4343399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1887294">
                  <a:extLst>
                    <a:ext uri="{9D8B030D-6E8A-4147-A177-3AD203B41FA5}">
                      <a16:colId xmlns:a16="http://schemas.microsoft.com/office/drawing/2014/main" val="1625503896"/>
                    </a:ext>
                  </a:extLst>
                </a:gridCol>
                <a:gridCol w="3634824">
                  <a:extLst>
                    <a:ext uri="{9D8B030D-6E8A-4147-A177-3AD203B41FA5}">
                      <a16:colId xmlns:a16="http://schemas.microsoft.com/office/drawing/2014/main" val="711299774"/>
                    </a:ext>
                  </a:extLst>
                </a:gridCol>
              </a:tblGrid>
              <a:tr h="4994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atos"/>
                        </a:rPr>
                        <a:t>Existing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atos"/>
                        </a:rPr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8594378"/>
                  </a:ext>
                </a:extLst>
              </a:tr>
              <a:tr h="1921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latin typeface="Apatos"/>
                        </a:rPr>
                        <a:t>MATHia</a:t>
                      </a:r>
                      <a:r>
                        <a:rPr lang="en-US">
                          <a:latin typeface="Apatos"/>
                        </a:rPr>
                        <a:t> (Carnegie Learning)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atos"/>
                        </a:rPr>
                        <a:t>• Mainly uses performance data </a:t>
                      </a:r>
                    </a:p>
                    <a:p>
                      <a:pPr lvl="0">
                        <a:buNone/>
                      </a:pPr>
                      <a:r>
                        <a:rPr lang="en-US">
                          <a:latin typeface="Apatos"/>
                        </a:rPr>
                        <a:t>• Does not consider cognitive style </a:t>
                      </a:r>
                    </a:p>
                    <a:p>
                      <a:pPr lvl="0">
                        <a:buNone/>
                      </a:pPr>
                      <a:r>
                        <a:rPr lang="en-US">
                          <a:latin typeface="Apatos"/>
                        </a:rPr>
                        <a:t>• No real-time cognitive load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4719344"/>
                  </a:ext>
                </a:extLst>
              </a:tr>
              <a:tr h="1921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atos"/>
                        </a:rPr>
                        <a:t>Knewton 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atos"/>
                        </a:rPr>
                        <a:t>• Focuses mainly on quiz and performance results </a:t>
                      </a:r>
                    </a:p>
                    <a:p>
                      <a:pPr lvl="0">
                        <a:buNone/>
                      </a:pPr>
                      <a:r>
                        <a:rPr lang="en-US">
                          <a:latin typeface="Apatos"/>
                        </a:rPr>
                        <a:t>• Limited behavioral learning analysis </a:t>
                      </a:r>
                    </a:p>
                    <a:p>
                      <a:pPr lvl="0">
                        <a:buNone/>
                      </a:pPr>
                      <a:r>
                        <a:rPr lang="en-US">
                          <a:latin typeface="Apatos"/>
                        </a:rPr>
                        <a:t>• Limited explainability for instructors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01529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32C3993-6CB7-7251-0503-210CE8073DFE}"/>
              </a:ext>
            </a:extLst>
          </p:cNvPr>
          <p:cNvSpPr txBox="1"/>
          <p:nvPr/>
        </p:nvSpPr>
        <p:spPr>
          <a:xfrm>
            <a:off x="5960882" y="977307"/>
            <a:ext cx="6115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000" b="1" u="sng">
                <a:latin typeface="Apatos"/>
              </a:rPr>
              <a:t>Existing Solutions and Their Limitations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C667C1-85E0-34B5-DE2A-E42C83D17174}"/>
              </a:ext>
            </a:extLst>
          </p:cNvPr>
          <p:cNvSpPr txBox="1"/>
          <p:nvPr/>
        </p:nvSpPr>
        <p:spPr>
          <a:xfrm>
            <a:off x="569260" y="16970"/>
            <a:ext cx="11304493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>
                <a:latin typeface="Aptos"/>
              </a:rPr>
              <a:t>Adaptive Cognitive Load &amp; Cognitive Style </a:t>
            </a:r>
            <a:r>
              <a:rPr lang="en-US" b="1">
                <a:latin typeface="Aptos"/>
                <a:ea typeface="+mn-lt"/>
                <a:cs typeface="+mn-lt"/>
              </a:rPr>
              <a:t>Prediction  </a:t>
            </a:r>
            <a:r>
              <a:rPr lang="en-US" b="1">
                <a:latin typeface="Aptos"/>
              </a:rPr>
              <a:t>System for Online Learning Using Behavioral Patterns</a:t>
            </a:r>
            <a:br>
              <a:rPr lang="en-US">
                <a:latin typeface="Aptos"/>
              </a:rPr>
            </a:br>
            <a:endParaRPr lang="en-US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97224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2A618-29F0-F01B-9E31-4CE42597C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70708EB-1F33-D21E-73BC-EC43E5EE99E1}"/>
              </a:ext>
            </a:extLst>
          </p:cNvPr>
          <p:cNvSpPr/>
          <p:nvPr/>
        </p:nvSpPr>
        <p:spPr>
          <a:xfrm>
            <a:off x="5392917" y="6420404"/>
            <a:ext cx="14061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  <a:latin typeface="Apatos"/>
              </a:rPr>
              <a:t>R26-SE-004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5491E-2EE1-8CF5-1BDF-194E44A96E35}"/>
              </a:ext>
            </a:extLst>
          </p:cNvPr>
          <p:cNvSpPr txBox="1"/>
          <p:nvPr/>
        </p:nvSpPr>
        <p:spPr>
          <a:xfrm>
            <a:off x="381000" y="147440"/>
            <a:ext cx="11658600" cy="13849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>
                <a:latin typeface="Apatos"/>
              </a:rPr>
              <a:t>The Proposed Solution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Current online learning systems do not effectively adapt to individual learners’ cognitive styles, study behaviors, and cognitive load, which can lead to inefficient learning and student frustration.</a:t>
            </a:r>
            <a:br>
              <a:rPr lang="en-US" sz="2000">
                <a:latin typeface="Apatos"/>
              </a:rPr>
            </a:br>
            <a:endParaRPr lang="en-US" sz="2000">
              <a:latin typeface="Apato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40ECB9-E467-30A0-C52F-D7EC794FA09F}"/>
              </a:ext>
            </a:extLst>
          </p:cNvPr>
          <p:cNvSpPr txBox="1"/>
          <p:nvPr/>
        </p:nvSpPr>
        <p:spPr>
          <a:xfrm>
            <a:off x="-169682" y="1830572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>
                <a:solidFill>
                  <a:schemeClr val="tx1"/>
                </a:solidFill>
                <a:latin typeface="Apatos"/>
              </a:rPr>
              <a:t>Solution Overview and how it overcomes the limitations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2629022-10EF-1AC1-B5CE-6AF0786EB0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110742"/>
              </p:ext>
            </p:extLst>
          </p:nvPr>
        </p:nvGraphicFramePr>
        <p:xfrm>
          <a:off x="385583" y="2354588"/>
          <a:ext cx="7493000" cy="3128074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746500">
                  <a:extLst>
                    <a:ext uri="{9D8B030D-6E8A-4147-A177-3AD203B41FA5}">
                      <a16:colId xmlns:a16="http://schemas.microsoft.com/office/drawing/2014/main" val="2861958749"/>
                    </a:ext>
                  </a:extLst>
                </a:gridCol>
                <a:gridCol w="3746500">
                  <a:extLst>
                    <a:ext uri="{9D8B030D-6E8A-4147-A177-3AD203B41FA5}">
                      <a16:colId xmlns:a16="http://schemas.microsoft.com/office/drawing/2014/main" val="358006243"/>
                    </a:ext>
                  </a:extLst>
                </a:gridCol>
              </a:tblGrid>
              <a:tr h="432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patos"/>
                        </a:rPr>
                        <a:t>Limitation in Existing Systems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patos"/>
                        </a:rPr>
                        <a:t>Proposed System Solution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197778"/>
                  </a:ext>
                </a:extLst>
              </a:tr>
              <a:tr h="660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atos"/>
                        </a:rPr>
                        <a:t>Adaptation based only on quiz scores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atos"/>
                        </a:rPr>
                        <a:t>Uses learner profiling and cognitive load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7000756"/>
                  </a:ext>
                </a:extLst>
              </a:tr>
              <a:tr h="37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atos"/>
                        </a:rPr>
                        <a:t>No understanding of learner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atos"/>
                        </a:rPr>
                        <a:t>Detects cognitive styles from interaction behavior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464034"/>
                  </a:ext>
                </a:extLst>
              </a:tr>
              <a:tr h="37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atos"/>
                        </a:rPr>
                        <a:t>No real-time cognitive load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atos"/>
                        </a:rPr>
                        <a:t>Predicts load using behavioral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930323"/>
                  </a:ext>
                </a:extLst>
              </a:tr>
              <a:tr h="37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atos"/>
                        </a:rPr>
                        <a:t>Limited personalization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atos"/>
                        </a:rPr>
                        <a:t>Generates adaptive learning content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82124"/>
                  </a:ext>
                </a:extLst>
              </a:tr>
              <a:tr h="37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atos"/>
                        </a:rPr>
                        <a:t>Lack of transparency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atos"/>
                        </a:rPr>
                        <a:t>Uses Explainable AI (XAI)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0244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F6B575-8D4F-CB83-67B9-9BDDA49D900D}"/>
              </a:ext>
            </a:extLst>
          </p:cNvPr>
          <p:cNvSpPr txBox="1"/>
          <p:nvPr/>
        </p:nvSpPr>
        <p:spPr>
          <a:xfrm>
            <a:off x="8090044" y="2292237"/>
            <a:ext cx="3979682" cy="2862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>
                <a:latin typeface="Apatos"/>
              </a:rPr>
              <a:t>Individual students’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Cognitive Style Detection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Cognitive Load Prediction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  <a:ea typeface="Cambria"/>
              </a:rPr>
              <a:t>Cognitive-Adaptive Content Personalization Engine (CACPE)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Explainable AI (XAI) Module</a:t>
            </a:r>
          </a:p>
          <a:p>
            <a:endParaRPr lang="en-US" sz="2000">
              <a:latin typeface="Apatos"/>
            </a:endParaRPr>
          </a:p>
          <a:p>
            <a:endParaRPr lang="en-US" sz="2000">
              <a:latin typeface="Apatos"/>
            </a:endParaRPr>
          </a:p>
        </p:txBody>
      </p:sp>
    </p:spTree>
    <p:extLst>
      <p:ext uri="{BB962C8B-B14F-4D97-AF65-F5344CB8AC3E}">
        <p14:creationId xmlns:p14="http://schemas.microsoft.com/office/powerpoint/2010/main" val="3038626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7A1B86-9A4C-B883-5696-AF7CC0820F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-247068"/>
            <a:ext cx="10281920" cy="672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912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73CE5-2C08-F20B-12F7-57D852D3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A9D864-63A9-71DB-E0B1-C6B3F76C2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768" y="563521"/>
            <a:ext cx="10363200" cy="755426"/>
          </a:xfrm>
        </p:spPr>
        <p:txBody>
          <a:bodyPr>
            <a:normAutofit/>
          </a:bodyPr>
          <a:lstStyle/>
          <a:p>
            <a:r>
              <a:rPr lang="en-US" sz="3600">
                <a:latin typeface="Adobe Devanagari"/>
              </a:rPr>
              <a:t>IT22281364 |  </a:t>
            </a:r>
            <a:r>
              <a:rPr lang="en-US" sz="3600" err="1">
                <a:latin typeface="Adobe Devanagari"/>
              </a:rPr>
              <a:t>Imesh</a:t>
            </a:r>
            <a:r>
              <a:rPr lang="en-US" sz="3600">
                <a:latin typeface="Adobe Devanagari"/>
              </a:rPr>
              <a:t>  </a:t>
            </a:r>
            <a:r>
              <a:rPr lang="en-US" sz="3600" err="1">
                <a:latin typeface="Adobe Devanagari"/>
              </a:rPr>
              <a:t>L.a.r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A71CAB-4BC9-B2C1-D324-933168478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6619" y="1309821"/>
            <a:ext cx="9448833" cy="498012"/>
          </a:xfrm>
        </p:spPr>
        <p:txBody>
          <a:bodyPr>
            <a:no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Aptos"/>
                <a:ea typeface="Cambria"/>
              </a:rPr>
              <a:t>Learner Profile Based Cognitive Style Detection System</a:t>
            </a:r>
            <a:endParaRPr lang="en-US" sz="2800">
              <a:solidFill>
                <a:schemeClr val="tx1"/>
              </a:solidFill>
              <a:latin typeface="Aptos"/>
              <a:ea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1EB6DA-6309-895C-BC4E-82163CC63342}"/>
              </a:ext>
            </a:extLst>
          </p:cNvPr>
          <p:cNvSpPr/>
          <p:nvPr/>
        </p:nvSpPr>
        <p:spPr>
          <a:xfrm>
            <a:off x="3200400" y="6514646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IT22281364           | Imesh L.A.R          |R26-SE-004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371C05-1660-4F00-BFD4-AA5DBC9CF948}"/>
              </a:ext>
            </a:extLst>
          </p:cNvPr>
          <p:cNvSpPr txBox="1"/>
          <p:nvPr/>
        </p:nvSpPr>
        <p:spPr>
          <a:xfrm>
            <a:off x="455768" y="1924174"/>
            <a:ext cx="10065050" cy="418576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 u="sng">
                <a:latin typeface="Aptos"/>
              </a:rPr>
              <a:t>Contribution  for the overall system</a:t>
            </a:r>
          </a:p>
          <a:p>
            <a:r>
              <a:rPr lang="en-US" sz="2800">
                <a:latin typeface="Aptos"/>
                <a:ea typeface="Cambria"/>
              </a:rPr>
              <a:t>• ASSIST questions–based learner profile prediction at system entry </a:t>
            </a:r>
          </a:p>
          <a:p>
            <a:r>
              <a:rPr lang="en-US" sz="2800">
                <a:latin typeface="Aptos"/>
                <a:ea typeface="Cambria"/>
              </a:rPr>
              <a:t>• Cognitive style detection using behavioral interaction data</a:t>
            </a:r>
            <a:br>
              <a:rPr lang="en-US" sz="2800">
                <a:latin typeface="Aptos"/>
                <a:ea typeface="Cambria"/>
              </a:rPr>
            </a:br>
            <a:r>
              <a:rPr lang="en-US" sz="2800">
                <a:latin typeface="Aptos"/>
                <a:ea typeface="Cambria"/>
              </a:rPr>
              <a:t>• Learner profile verification and refinement using behavioral evidence</a:t>
            </a:r>
            <a:br>
              <a:rPr lang="en-US" sz="2800">
                <a:latin typeface="Aptos"/>
                <a:ea typeface="Cambria"/>
              </a:rPr>
            </a:br>
            <a:r>
              <a:rPr lang="en-US" sz="2800">
                <a:latin typeface="Aptos"/>
                <a:ea typeface="Cambria"/>
              </a:rPr>
              <a:t>• Provide learner profile and cognitive style information to the adaptive content generation module</a:t>
            </a:r>
          </a:p>
          <a:p>
            <a:endParaRPr lang="en-US" sz="2000">
              <a:latin typeface="Apatos"/>
            </a:endParaRPr>
          </a:p>
          <a:p>
            <a:endParaRPr lang="en-US">
              <a:latin typeface="Apa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ECD9ED-6783-92E1-B8FA-8B56012A33FF}"/>
              </a:ext>
            </a:extLst>
          </p:cNvPr>
          <p:cNvSpPr/>
          <p:nvPr/>
        </p:nvSpPr>
        <p:spPr>
          <a:xfrm>
            <a:off x="10091052" y="175947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D79B30-13AC-65BC-347F-4384482128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6765" y="158458"/>
            <a:ext cx="2065736" cy="265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835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F9C11-FEDB-1397-DD43-0042513A4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8C25FBA-DCC3-42A7-ECA2-F13B93ACD6CD}"/>
              </a:ext>
            </a:extLst>
          </p:cNvPr>
          <p:cNvSpPr txBox="1"/>
          <p:nvPr/>
        </p:nvSpPr>
        <p:spPr>
          <a:xfrm>
            <a:off x="325617" y="373499"/>
            <a:ext cx="11460365" cy="15081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>
                <a:latin typeface="Aptos"/>
              </a:rPr>
              <a:t>Problem Statement</a:t>
            </a:r>
            <a:endParaRPr lang="en-US" sz="2000" u="sng">
              <a:latin typeface="Aptos"/>
            </a:endParaRPr>
          </a:p>
          <a:p>
            <a:r>
              <a:rPr lang="en-US">
                <a:latin typeface="Aptos"/>
              </a:rPr>
              <a:t>• Existing systems rely on simple LMS interaction data that does not fully represent learner cognition.</a:t>
            </a:r>
            <a:br>
              <a:rPr lang="en-US">
                <a:latin typeface="Aptos"/>
              </a:rPr>
            </a:br>
            <a:r>
              <a:rPr lang="en-US">
                <a:latin typeface="Aptos"/>
              </a:rPr>
              <a:t>• Self-reported questionnaires may not accurately reflect real learning behavior.</a:t>
            </a:r>
            <a:br>
              <a:rPr lang="en-US">
                <a:latin typeface="Aptos"/>
              </a:rPr>
            </a:br>
            <a:r>
              <a:rPr lang="en-US">
                <a:latin typeface="Aptos"/>
              </a:rPr>
              <a:t>• Learner profiles are often treated as static and not updated during learning.</a:t>
            </a:r>
            <a:br>
              <a:rPr lang="en-US">
                <a:latin typeface="Aptos"/>
              </a:rPr>
            </a:br>
            <a:r>
              <a:rPr lang="en-US">
                <a:latin typeface="Aptos"/>
              </a:rPr>
              <a:t>• Single data sources are commonly used, limiting accurate learner modeling.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4421FD27-3A96-1D24-18C1-4EF9C9260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3099" y="-168371"/>
            <a:ext cx="5105400" cy="529327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chemeClr val="tx1"/>
                </a:solidFill>
                <a:latin typeface="Aptos" panose="020B0004020202020204" pitchFamily="34" charset="0"/>
                <a:ea typeface="Cambria"/>
              </a:rPr>
              <a:t>Learner Profile Based Cognitive Style Detection</a:t>
            </a:r>
            <a:endParaRPr lang="en-US" sz="180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6718E9-2462-735B-378C-8BE540C80DA8}"/>
              </a:ext>
            </a:extLst>
          </p:cNvPr>
          <p:cNvSpPr/>
          <p:nvPr/>
        </p:nvSpPr>
        <p:spPr>
          <a:xfrm>
            <a:off x="3297417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IT22281364           |   Imesh L.A.R.          |R26-SE-004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14DBB-F13C-47D9-963A-D9B60E4139E7}"/>
              </a:ext>
            </a:extLst>
          </p:cNvPr>
          <p:cNvSpPr txBox="1"/>
          <p:nvPr/>
        </p:nvSpPr>
        <p:spPr>
          <a:xfrm>
            <a:off x="325617" y="1960186"/>
            <a:ext cx="11460365" cy="45243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>
                <a:latin typeface="Aptos"/>
              </a:rPr>
              <a:t>Existing Systems and their Limitations</a:t>
            </a:r>
          </a:p>
          <a:p>
            <a:endParaRPr lang="en-US" b="1" u="sng">
              <a:latin typeface="Aptos"/>
            </a:endParaRPr>
          </a:p>
          <a:p>
            <a:endParaRPr lang="en-US" b="1" u="sng">
              <a:latin typeface="Aptos"/>
            </a:endParaRPr>
          </a:p>
          <a:p>
            <a:endParaRPr lang="en-US" b="1" u="sng">
              <a:latin typeface="Aptos"/>
            </a:endParaRPr>
          </a:p>
          <a:p>
            <a:endParaRPr lang="en-US" b="1" u="sng">
              <a:latin typeface="Aptos"/>
            </a:endParaRPr>
          </a:p>
          <a:p>
            <a:endParaRPr lang="en-US" b="1" u="sng">
              <a:latin typeface="Aptos"/>
            </a:endParaRPr>
          </a:p>
          <a:p>
            <a:endParaRPr lang="en-US" b="1" u="sng">
              <a:latin typeface="Aptos"/>
            </a:endParaRPr>
          </a:p>
          <a:p>
            <a:endParaRPr lang="en-US" b="1" u="sng">
              <a:latin typeface="Aptos"/>
            </a:endParaRPr>
          </a:p>
          <a:p>
            <a:endParaRPr lang="en-US" b="1" u="sng">
              <a:latin typeface="Aptos"/>
            </a:endParaRPr>
          </a:p>
          <a:p>
            <a:endParaRPr lang="en-US" b="1" u="sng">
              <a:latin typeface="Aptos"/>
            </a:endParaRPr>
          </a:p>
          <a:p>
            <a:endParaRPr lang="en-US" b="1" u="sng">
              <a:latin typeface="Aptos"/>
            </a:endParaRPr>
          </a:p>
          <a:p>
            <a:endParaRPr lang="en-US" b="1" u="sng">
              <a:latin typeface="Aptos"/>
            </a:endParaRPr>
          </a:p>
          <a:p>
            <a:endParaRPr lang="en-US" b="1" u="sng">
              <a:latin typeface="Aptos"/>
            </a:endParaRPr>
          </a:p>
          <a:p>
            <a:endParaRPr lang="en-US" b="1" u="sng">
              <a:latin typeface="Aptos"/>
            </a:endParaRPr>
          </a:p>
          <a:p>
            <a:endParaRPr lang="en-US" b="1" u="sng">
              <a:latin typeface="Aptos"/>
            </a:endParaRPr>
          </a:p>
          <a:p>
            <a:endParaRPr lang="en-US">
              <a:latin typeface="Apto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759209C-538A-050B-C5D7-0C44162D0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138407"/>
              </p:ext>
            </p:extLst>
          </p:nvPr>
        </p:nvGraphicFramePr>
        <p:xfrm>
          <a:off x="1048800" y="2514600"/>
          <a:ext cx="10094399" cy="3662719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350583">
                  <a:extLst>
                    <a:ext uri="{9D8B030D-6E8A-4147-A177-3AD203B41FA5}">
                      <a16:colId xmlns:a16="http://schemas.microsoft.com/office/drawing/2014/main" val="525486949"/>
                    </a:ext>
                  </a:extLst>
                </a:gridCol>
                <a:gridCol w="4743816">
                  <a:extLst>
                    <a:ext uri="{9D8B030D-6E8A-4147-A177-3AD203B41FA5}">
                      <a16:colId xmlns:a16="http://schemas.microsoft.com/office/drawing/2014/main" val="1296367609"/>
                    </a:ext>
                  </a:extLst>
                </a:gridCol>
              </a:tblGrid>
              <a:tr h="322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ptos"/>
                        </a:rPr>
                        <a:t>Existing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ptos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9621717"/>
                  </a:ext>
                </a:extLst>
              </a:tr>
              <a:tr h="737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/>
                        </a:rPr>
                        <a:t>LMS interaction log–based models (page visits, time spent)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/>
                        </a:rPr>
                        <a:t>Provides low-resolution data and does not accurately reflect learner cognitive processes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3888751"/>
                  </a:ext>
                </a:extLst>
              </a:tr>
              <a:tr h="737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latin typeface="Aptos"/>
                        </a:rPr>
                        <a:t>Self-reported questionnaires (e.g., ASSIST, ILS)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/>
                        </a:rPr>
                        <a:t>Responses may not represent actual learning behavior due to bias or misunderstanding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843345"/>
                  </a:ext>
                </a:extLst>
              </a:tr>
              <a:tr h="907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/>
                        </a:rPr>
                        <a:t>Static learner profile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/>
                        </a:rPr>
                        <a:t>Assume learner characteristics remain constant and ignore behavioral changes during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934737"/>
                  </a:ext>
                </a:extLst>
              </a:tr>
              <a:tr h="907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/>
                        </a:rPr>
                        <a:t>Single data source learner modeling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/>
                        </a:rPr>
                        <a:t>Using only one type of data limits the accuracy of cognitive style or learner behavior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212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6004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200A8-EB31-6E1B-AD92-56A95659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DB21537-2340-AD5D-39E4-BC6D14DB8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5200" y="-30636"/>
            <a:ext cx="5181600" cy="529327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chemeClr val="tx1"/>
                </a:solidFill>
                <a:latin typeface="Aptos" panose="020B0004020202020204" pitchFamily="34" charset="0"/>
                <a:ea typeface="Cambria"/>
              </a:rPr>
              <a:t>Learner Profile Based Cognitive Style Detection</a:t>
            </a:r>
            <a:endParaRPr lang="en-US" sz="180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199A29-598A-F372-04CE-3B7CECEDC1AD}"/>
              </a:ext>
            </a:extLst>
          </p:cNvPr>
          <p:cNvSpPr/>
          <p:nvPr/>
        </p:nvSpPr>
        <p:spPr>
          <a:xfrm>
            <a:off x="3297417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IT22281364           |   Imesh L.A.R.          |R26-SE-004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03BA5F-1480-EDA8-BE45-C712920DDB15}"/>
              </a:ext>
            </a:extLst>
          </p:cNvPr>
          <p:cNvSpPr txBox="1"/>
          <p:nvPr/>
        </p:nvSpPr>
        <p:spPr>
          <a:xfrm>
            <a:off x="540810" y="694765"/>
            <a:ext cx="10598523" cy="54651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2000" b="1" u="sng">
              <a:latin typeface="Apto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A76B25E-4A09-A59F-5791-BC409C333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271321"/>
              </p:ext>
            </p:extLst>
          </p:nvPr>
        </p:nvGraphicFramePr>
        <p:xfrm>
          <a:off x="1042147" y="1220993"/>
          <a:ext cx="9711558" cy="4510741"/>
        </p:xfrm>
        <a:graphic>
          <a:graphicData uri="http://schemas.openxmlformats.org/drawingml/2006/table">
            <a:tbl>
              <a:tblPr bandRow="1">
                <a:tableStyleId>{5202B0CA-FC54-4496-8BCA-5EF66A818D29}</a:tableStyleId>
              </a:tblPr>
              <a:tblGrid>
                <a:gridCol w="4855779">
                  <a:extLst>
                    <a:ext uri="{9D8B030D-6E8A-4147-A177-3AD203B41FA5}">
                      <a16:colId xmlns:a16="http://schemas.microsoft.com/office/drawing/2014/main" val="1655065240"/>
                    </a:ext>
                  </a:extLst>
                </a:gridCol>
                <a:gridCol w="4855779">
                  <a:extLst>
                    <a:ext uri="{9D8B030D-6E8A-4147-A177-3AD203B41FA5}">
                      <a16:colId xmlns:a16="http://schemas.microsoft.com/office/drawing/2014/main" val="3285068097"/>
                    </a:ext>
                  </a:extLst>
                </a:gridCol>
              </a:tblGrid>
              <a:tr h="525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Research Gap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Proposed Novelty / Solution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777752"/>
                  </a:ext>
                </a:extLst>
              </a:tr>
              <a:tr h="1328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Lack of systems that combine validated learner profile initialization with real behavioral interaction data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Hybrid learner profiling combining ASSIST questionnaire responses with behavioral interaction data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8400194"/>
                  </a:ext>
                </a:extLst>
              </a:tr>
              <a:tr h="1328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Existing models rarely update learner profiles dynamically during learning sessions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Dynamic refinement of learner profiles using continuous behavioral interaction analysis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982575"/>
                  </a:ext>
                </a:extLst>
              </a:tr>
              <a:tr h="1328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Limited use of multi-source behavioral signals such as cursor movement, video interaction, and webcam attention together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Multimodal behavioral analysis integrating cursor movement, video interaction, and gaze attention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769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80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1B791-6350-5FA6-270A-A5C46C5C9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367AD296-F340-D91A-3B4D-F329C524E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3562" y="-61404"/>
            <a:ext cx="5104875" cy="529327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chemeClr val="tx1"/>
                </a:solidFill>
                <a:latin typeface="Aptos" panose="020B0004020202020204" pitchFamily="34" charset="0"/>
                <a:ea typeface="Cambria"/>
              </a:rPr>
              <a:t>Learner Profile Based Cognitive Style Detection</a:t>
            </a:r>
            <a:endParaRPr lang="en-US" sz="180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2BD983-F2AE-F038-C65E-29DBF2B05DF8}"/>
              </a:ext>
            </a:extLst>
          </p:cNvPr>
          <p:cNvSpPr/>
          <p:nvPr/>
        </p:nvSpPr>
        <p:spPr>
          <a:xfrm>
            <a:off x="3297417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IT22281364           |   Imesh L.A.R	 |R26-SE-004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D5EF11-2F6F-2E30-9202-C1B278FEEE8E}"/>
              </a:ext>
            </a:extLst>
          </p:cNvPr>
          <p:cNvSpPr txBox="1"/>
          <p:nvPr/>
        </p:nvSpPr>
        <p:spPr>
          <a:xfrm>
            <a:off x="228600" y="685800"/>
            <a:ext cx="7391400" cy="53245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>
                <a:latin typeface="Aptos"/>
              </a:rPr>
              <a:t>Research Objective</a:t>
            </a:r>
          </a:p>
          <a:p>
            <a:r>
              <a:rPr lang="en-US" sz="2000">
                <a:latin typeface="Aptos"/>
              </a:rPr>
              <a:t>Develop a dynamic system to predict learner profiles and detect cognitive styles using behavioral interaction data to support adaptive learning.</a:t>
            </a:r>
          </a:p>
          <a:p>
            <a:r>
              <a:rPr lang="en-US" sz="2000" b="1">
                <a:latin typeface="Aptos"/>
              </a:rPr>
              <a:t>Sub-Objectives</a:t>
            </a:r>
          </a:p>
          <a:p>
            <a:r>
              <a:rPr lang="en-US" sz="2000">
                <a:latin typeface="Aptos"/>
              </a:rPr>
              <a:t>• Initialize learner profiles using selected ASSIST questionnaire categories.</a:t>
            </a:r>
          </a:p>
          <a:p>
            <a:r>
              <a:rPr lang="en-US" sz="2000">
                <a:latin typeface="Aptos"/>
              </a:rPr>
              <a:t>• Detect cognitive style dimensions (Visual–Verbal and Wholistic–Analytic) using behavioral interaction data such as cursor movements, video interaction patterns, and webcam-based attention signals.</a:t>
            </a:r>
          </a:p>
          <a:p>
            <a:r>
              <a:rPr lang="en-US" sz="2000">
                <a:latin typeface="Aptos"/>
              </a:rPr>
              <a:t>• Refine and update learner profiles dynamically by analyzing behavioral interaction patterns collected during learning sessions.</a:t>
            </a:r>
          </a:p>
          <a:p>
            <a:r>
              <a:rPr lang="en-US" sz="2000">
                <a:latin typeface="Aptos"/>
              </a:rPr>
              <a:t>• Provide learner profile and cognitive style information to the adaptive content generation module to enable personalized learning.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DCB7D8-510C-E854-D7E5-342223336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" b="10000"/>
          <a:stretch>
            <a:fillRect/>
          </a:stretch>
        </p:blipFill>
        <p:spPr>
          <a:xfrm>
            <a:off x="7799492" y="467923"/>
            <a:ext cx="4392508" cy="585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783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D4C8F-A7BA-ED11-B1D5-25EE8BF3C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E6186C7-8300-87C8-ED6D-E6078F793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3300" y="-147594"/>
            <a:ext cx="5105400" cy="529327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chemeClr val="tx1"/>
                </a:solidFill>
                <a:latin typeface="Aptos" panose="020B0004020202020204" pitchFamily="34" charset="0"/>
                <a:ea typeface="Cambria"/>
              </a:rPr>
              <a:t>Learner Profile Based Cognitive Style Detection</a:t>
            </a:r>
            <a:endParaRPr lang="en-US" sz="180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82CB69-7A99-0541-2AE8-DE366FAEDC6A}"/>
              </a:ext>
            </a:extLst>
          </p:cNvPr>
          <p:cNvSpPr/>
          <p:nvPr/>
        </p:nvSpPr>
        <p:spPr>
          <a:xfrm>
            <a:off x="3297417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IT22281364          |   Imesh L.A.R.          |R26-SE-004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F07A96-98D2-DD1A-92CB-A1E25425D21E}"/>
              </a:ext>
            </a:extLst>
          </p:cNvPr>
          <p:cNvSpPr txBox="1"/>
          <p:nvPr/>
        </p:nvSpPr>
        <p:spPr>
          <a:xfrm>
            <a:off x="511476" y="479122"/>
            <a:ext cx="11170122" cy="59093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>
                <a:latin typeface="Aptos"/>
              </a:rPr>
              <a:t>Methodology</a:t>
            </a:r>
          </a:p>
          <a:p>
            <a:r>
              <a:rPr lang="en-US" b="1">
                <a:ea typeface="+mn-lt"/>
                <a:cs typeface="+mn-lt"/>
              </a:rPr>
              <a:t>Step 1 — Data Collection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Learner data is collected through the ASSIST questionnaire and behavioral interactions such as cursor movements, video interactions, and webcam gaze tracking.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Step 2 — Initial Learner Profiling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Latent Profile Analysis (LPA) is applied to questionnaire responses to classify learners into initial profiles (Deep–Organized, Unorganized Deep, Unreflective, Dissonant).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Step 3 — Feature Extraction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Behavioral data is processed to extract relevant features such as movement speed, hover duration, pause count, replay count, and gaze focus stability.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Step 4 — Cognitive Style Prediction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A Support Vector Machine (SVM) is used to predict learners’ cognitive styles (Visual vs Verbal, Wholistic vs Analytic).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Step 5 — Profile Validation and Refinement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Learner interaction behaviors such as course completion, navigation patterns, and video engagement are used to validate and refine the predicted learner profile.</a:t>
            </a:r>
            <a:br>
              <a:rPr lang="en-US">
                <a:ea typeface="+mn-lt"/>
                <a:cs typeface="+mn-lt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85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D4C8F-A7BA-ED11-B1D5-25EE8BF3C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E6186C7-8300-87C8-ED6D-E6078F793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3300" y="-156399"/>
            <a:ext cx="5105400" cy="529327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chemeClr val="tx1"/>
                </a:solidFill>
                <a:latin typeface="Aptos" panose="020B0004020202020204" pitchFamily="34" charset="0"/>
                <a:ea typeface="Cambria"/>
              </a:rPr>
              <a:t>Learner Profile Based Cognitive Style Detection</a:t>
            </a:r>
            <a:endParaRPr lang="en-US" sz="180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82CB69-7A99-0541-2AE8-DE366FAEDC6A}"/>
              </a:ext>
            </a:extLst>
          </p:cNvPr>
          <p:cNvSpPr/>
          <p:nvPr/>
        </p:nvSpPr>
        <p:spPr>
          <a:xfrm>
            <a:off x="3297417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IT22281364           |   Imesh L.A.R.          |R26-SE-004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A21ED-5397-B986-4A04-3558FA4A38AB}"/>
              </a:ext>
            </a:extLst>
          </p:cNvPr>
          <p:cNvSpPr txBox="1"/>
          <p:nvPr/>
        </p:nvSpPr>
        <p:spPr>
          <a:xfrm>
            <a:off x="891988" y="623047"/>
            <a:ext cx="10414747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>
                <a:latin typeface="Aptos"/>
              </a:rPr>
              <a:t>Domain knowledge used</a:t>
            </a:r>
            <a:endParaRPr lang="en-US" sz="2000" u="sng">
              <a:latin typeface="Aptos"/>
            </a:endParaRPr>
          </a:p>
          <a:p>
            <a:r>
              <a:rPr lang="en-US" sz="2000">
                <a:latin typeface="Aptos"/>
              </a:rPr>
              <a:t>• Learning Approaches Theory (ASSIST – Deep, Strategic, Surface learning)</a:t>
            </a:r>
            <a:br>
              <a:rPr lang="en-US" sz="2000">
                <a:latin typeface="Aptos" panose="020B0004020202020204" pitchFamily="34" charset="0"/>
              </a:rPr>
            </a:br>
            <a:r>
              <a:rPr lang="en-US" sz="2000">
                <a:latin typeface="Aptos"/>
              </a:rPr>
              <a:t>• Cognitive Style Theory (Visual–Verbal, Wholistic–Analytic dimensions)</a:t>
            </a:r>
            <a:br>
              <a:rPr lang="en-US" sz="2000">
                <a:latin typeface="Aptos" panose="020B0004020202020204" pitchFamily="34" charset="0"/>
              </a:rPr>
            </a:br>
            <a:r>
              <a:rPr lang="en-US" sz="2000">
                <a:latin typeface="Aptos"/>
              </a:rPr>
              <a:t>• Learning Analytics for behavioral pattern analysis</a:t>
            </a:r>
            <a:br>
              <a:rPr lang="en-US" sz="2000">
                <a:latin typeface="Aptos" panose="020B0004020202020204" pitchFamily="34" charset="0"/>
              </a:rPr>
            </a:br>
            <a:r>
              <a:rPr lang="en-US" sz="2000">
                <a:latin typeface="Aptos"/>
              </a:rPr>
              <a:t>• Human–Computer Interaction (HCI) for interpreting learner interactions</a:t>
            </a:r>
            <a:br>
              <a:rPr lang="en-US" sz="2000">
                <a:latin typeface="Aptos" panose="020B0004020202020204" pitchFamily="34" charset="0"/>
              </a:rPr>
            </a:br>
            <a:r>
              <a:rPr lang="en-US" sz="2000">
                <a:latin typeface="Aptos"/>
              </a:rPr>
              <a:t>• Machine Learning for behavioral classification and prediction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6472A-A0B1-DA7A-C20C-2731AD4995A1}"/>
              </a:ext>
            </a:extLst>
          </p:cNvPr>
          <p:cNvSpPr txBox="1"/>
          <p:nvPr/>
        </p:nvSpPr>
        <p:spPr>
          <a:xfrm>
            <a:off x="887506" y="2735974"/>
            <a:ext cx="10423711" cy="255454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>
                <a:latin typeface="Aptos"/>
              </a:rPr>
              <a:t>Key technologies</a:t>
            </a:r>
            <a:endParaRPr lang="en-US" sz="2000" u="sng">
              <a:latin typeface="Aptos"/>
            </a:endParaRPr>
          </a:p>
          <a:p>
            <a:r>
              <a:rPr lang="en-US" sz="2000">
                <a:latin typeface="Aptos"/>
              </a:rPr>
              <a:t>• Python (Scikit-learn, NumPy, Pandas)</a:t>
            </a:r>
            <a:br>
              <a:rPr lang="en-US" sz="2000">
                <a:latin typeface="Aptos" panose="020B0004020202020204" pitchFamily="34" charset="0"/>
              </a:rPr>
            </a:br>
            <a:r>
              <a:rPr lang="en-US" sz="2000">
                <a:latin typeface="Aptos"/>
              </a:rPr>
              <a:t>• </a:t>
            </a:r>
            <a:r>
              <a:rPr lang="en-US" sz="2000" err="1">
                <a:latin typeface="Aptos"/>
              </a:rPr>
              <a:t>MediaPipe</a:t>
            </a:r>
            <a:r>
              <a:rPr lang="en-US" sz="2000">
                <a:latin typeface="Aptos"/>
              </a:rPr>
              <a:t> for webcam attention detection</a:t>
            </a:r>
            <a:br>
              <a:rPr lang="en-US" sz="2000">
                <a:latin typeface="Aptos" panose="020B0004020202020204" pitchFamily="34" charset="0"/>
              </a:rPr>
            </a:br>
            <a:r>
              <a:rPr lang="en-US" sz="2000">
                <a:latin typeface="Aptos"/>
              </a:rPr>
              <a:t>• MySQL/ NoSQL for learner model storage</a:t>
            </a:r>
            <a:br>
              <a:rPr lang="en-US" sz="2000">
                <a:latin typeface="Aptos" panose="020B0004020202020204" pitchFamily="34" charset="0"/>
              </a:rPr>
            </a:br>
            <a:r>
              <a:rPr lang="en-US" sz="2000">
                <a:latin typeface="Aptos"/>
              </a:rPr>
              <a:t>• Web learning interface (HTML / JavaScript / Flask)</a:t>
            </a:r>
            <a:br>
              <a:rPr lang="en-US" sz="2000">
                <a:latin typeface="Aptos" panose="020B0004020202020204" pitchFamily="34" charset="0"/>
              </a:rPr>
            </a:br>
            <a:r>
              <a:rPr lang="en-US" sz="2000">
                <a:latin typeface="Aptos"/>
              </a:rPr>
              <a:t>• REST APIs for data collection and module communication</a:t>
            </a:r>
            <a:br>
              <a:rPr lang="en-US" sz="2000">
                <a:latin typeface="Aptos" panose="020B0004020202020204" pitchFamily="34" charset="0"/>
              </a:rPr>
            </a:br>
            <a:r>
              <a:rPr lang="en-US" sz="2000">
                <a:latin typeface="Aptos"/>
              </a:rPr>
              <a:t>• Modular machine learning architecture for learner modeling</a:t>
            </a:r>
          </a:p>
          <a:p>
            <a:endParaRPr lang="en-US" sz="2000" b="1" u="sng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184583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D4C8F-A7BA-ED11-B1D5-25EE8BF3C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197733C-E146-F118-AC5E-BEF621261892}"/>
              </a:ext>
            </a:extLst>
          </p:cNvPr>
          <p:cNvSpPr txBox="1"/>
          <p:nvPr/>
        </p:nvSpPr>
        <p:spPr>
          <a:xfrm>
            <a:off x="233906" y="837855"/>
            <a:ext cx="5867400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>
                <a:latin typeface="Aptos"/>
                <a:cs typeface="Arial"/>
              </a:rPr>
              <a:t>Validation and Evaluation of Proposed Solution</a:t>
            </a:r>
            <a:endParaRPr lang="en-US" sz="2000">
              <a:latin typeface="Aptos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latin typeface="Aptos"/>
                <a:cs typeface="Arial"/>
              </a:rPr>
              <a:t>Model evaluated using machine learning metrics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000">
                <a:latin typeface="Aptos"/>
                <a:cs typeface="Arial"/>
              </a:rPr>
              <a:t>Accuracy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000">
                <a:latin typeface="Aptos"/>
                <a:cs typeface="Arial"/>
              </a:rPr>
              <a:t>Precision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000">
                <a:latin typeface="Aptos"/>
                <a:cs typeface="Arial"/>
              </a:rPr>
              <a:t>Recall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000">
                <a:latin typeface="Aptos"/>
                <a:cs typeface="Arial"/>
              </a:rPr>
              <a:t>F1-score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latin typeface="Aptos"/>
                <a:cs typeface="Arial"/>
              </a:rPr>
              <a:t>Cross-validation used to ensure stability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latin typeface="Aptos"/>
                <a:cs typeface="Arial"/>
              </a:rPr>
              <a:t>Compare multiple algorithms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000">
                <a:latin typeface="Aptos"/>
                <a:cs typeface="Arial"/>
              </a:rPr>
              <a:t>Random Forest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000">
                <a:latin typeface="Aptos"/>
                <a:cs typeface="Arial"/>
              </a:rPr>
              <a:t>Support Vector Machine (SVM)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000">
                <a:latin typeface="Aptos"/>
                <a:cs typeface="Arial"/>
              </a:rPr>
              <a:t>Logistic Regression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latin typeface="Aptos"/>
                <a:cs typeface="Arial"/>
              </a:rPr>
              <a:t>Test with different learning difficulty levels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latin typeface="Aptos"/>
                <a:cs typeface="Arial"/>
              </a:rPr>
              <a:t>Verify real-time prediction performance</a:t>
            </a:r>
          </a:p>
          <a:p>
            <a:endParaRPr lang="en-US" sz="2000" b="1">
              <a:latin typeface="Aptos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E6186C7-8300-87C8-ED6D-E6078F793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31768" y="-127106"/>
            <a:ext cx="5105400" cy="529327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chemeClr val="tx1"/>
                </a:solidFill>
                <a:latin typeface="Aptos" panose="020B0004020202020204" pitchFamily="34" charset="0"/>
                <a:ea typeface="Cambria"/>
              </a:rPr>
              <a:t>Learner Profile Based Cognitive Style Detection</a:t>
            </a:r>
            <a:endParaRPr lang="en-US" sz="180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82CB69-7A99-0541-2AE8-DE366FAEDC6A}"/>
              </a:ext>
            </a:extLst>
          </p:cNvPr>
          <p:cNvSpPr/>
          <p:nvPr/>
        </p:nvSpPr>
        <p:spPr>
          <a:xfrm>
            <a:off x="3297417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IT22281364           |   Imesh L.A.R          |R26-SE-004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6472A-A0B1-DA7A-C20C-2731AD4995A1}"/>
              </a:ext>
            </a:extLst>
          </p:cNvPr>
          <p:cNvSpPr txBox="1"/>
          <p:nvPr/>
        </p:nvSpPr>
        <p:spPr>
          <a:xfrm>
            <a:off x="6286710" y="841504"/>
            <a:ext cx="5643282" cy="44012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>
                <a:latin typeface="Aptos"/>
                <a:cs typeface="Arial"/>
              </a:rPr>
              <a:t>Data Availability, Security &amp; Ethical Clearance</a:t>
            </a:r>
            <a:endParaRPr lang="en-US" sz="2000">
              <a:latin typeface="Aptos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Behavioral interaction data (cursor movements, navigation logs, video interactions, and gaze indicators) and ASSIST questionnaire responses are used for model training and validation.</a:t>
            </a:r>
            <a:endParaRPr lang="en-US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All collected data is anonymized and securely stored in an encrypted database, and no raw video or facial images are saved.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Participants provide informed consent before data collection, and the study follows institutional ethical guidelines for privacy and responsible data usage.</a:t>
            </a:r>
            <a:endParaRPr lang="en-US">
              <a:ea typeface="Cambria"/>
            </a:endParaRPr>
          </a:p>
          <a:p>
            <a:pPr marL="342900" indent="-342900">
              <a:buFont typeface="Arial,Sans-Serif"/>
              <a:buChar char="•"/>
            </a:pPr>
            <a:endParaRPr lang="en-US" sz="2000">
              <a:latin typeface="Aptos"/>
              <a:cs typeface="Arial"/>
            </a:endParaRPr>
          </a:p>
          <a:p>
            <a:endParaRPr lang="en-US" sz="2000" b="1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13380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D1BB7-088A-749C-C069-730A0DE5B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B5AA3F1-F1D5-56B9-F376-D25E719CD1DC}"/>
              </a:ext>
            </a:extLst>
          </p:cNvPr>
          <p:cNvSpPr txBox="1"/>
          <p:nvPr/>
        </p:nvSpPr>
        <p:spPr>
          <a:xfrm>
            <a:off x="260039" y="429077"/>
            <a:ext cx="11249608" cy="31700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>
                <a:latin typeface="Aptos"/>
              </a:rPr>
              <a:t>System Overview of Individual Component</a:t>
            </a:r>
            <a:endParaRPr lang="en-US" sz="2000" u="sng">
              <a:latin typeface="Aptos"/>
            </a:endParaRPr>
          </a:p>
          <a:p>
            <a:r>
              <a:rPr lang="en-US" sz="2000" b="1">
                <a:latin typeface="Aptos"/>
                <a:ea typeface="+mn-lt"/>
                <a:cs typeface="+mn-lt"/>
              </a:rPr>
              <a:t>1.Learner Profile Initialization</a:t>
            </a:r>
            <a:br>
              <a:rPr lang="en-US" sz="2000" b="1">
                <a:latin typeface="Aptos"/>
                <a:ea typeface="+mn-lt"/>
                <a:cs typeface="+mn-lt"/>
              </a:rPr>
            </a:br>
            <a:r>
              <a:rPr lang="en-US" sz="2000" b="1">
                <a:latin typeface="Aptos"/>
                <a:ea typeface="+mn-lt"/>
                <a:cs typeface="+mn-lt"/>
              </a:rPr>
              <a:t> </a:t>
            </a:r>
            <a:r>
              <a:rPr lang="en-US" sz="2000" err="1">
                <a:latin typeface="Aptos"/>
                <a:ea typeface="+mn-lt"/>
                <a:cs typeface="+mn-lt"/>
              </a:rPr>
              <a:t>Initialization</a:t>
            </a:r>
            <a:r>
              <a:rPr lang="en-US" sz="2000">
                <a:latin typeface="Aptos"/>
                <a:ea typeface="+mn-lt"/>
                <a:cs typeface="+mn-lt"/>
              </a:rPr>
              <a:t> of learner profiles using the ASSIST questionnaire.</a:t>
            </a:r>
            <a:endParaRPr lang="en-US" sz="2000">
              <a:latin typeface="Aptos"/>
              <a:ea typeface="Cambria"/>
            </a:endParaRPr>
          </a:p>
          <a:p>
            <a:r>
              <a:rPr lang="en-US" sz="2000" b="1">
                <a:latin typeface="Aptos"/>
                <a:ea typeface="+mn-lt"/>
                <a:cs typeface="+mn-lt"/>
              </a:rPr>
              <a:t>2.Behavioral Data Collection Module</a:t>
            </a:r>
            <a:br>
              <a:rPr lang="en-US" sz="2000" b="1">
                <a:latin typeface="Aptos"/>
                <a:ea typeface="+mn-lt"/>
                <a:cs typeface="+mn-lt"/>
              </a:rPr>
            </a:br>
            <a:r>
              <a:rPr lang="en-US" sz="2000">
                <a:latin typeface="Aptos"/>
                <a:ea typeface="+mn-lt"/>
                <a:cs typeface="+mn-lt"/>
              </a:rPr>
              <a:t> Interaction data such as cursor movements, video interactions, and navigation behavior are collected from the learning platform.</a:t>
            </a:r>
            <a:endParaRPr lang="en-US" sz="2000">
              <a:latin typeface="Aptos"/>
            </a:endParaRPr>
          </a:p>
          <a:p>
            <a:r>
              <a:rPr lang="en-US" sz="2000" b="1">
                <a:latin typeface="Aptos"/>
                <a:ea typeface="+mn-lt"/>
                <a:cs typeface="+mn-lt"/>
              </a:rPr>
              <a:t>3.Feature Extraction Module</a:t>
            </a:r>
            <a:br>
              <a:rPr lang="en-US" sz="2000" b="1">
                <a:latin typeface="Aptos"/>
                <a:ea typeface="+mn-lt"/>
                <a:cs typeface="+mn-lt"/>
              </a:rPr>
            </a:br>
            <a:r>
              <a:rPr lang="en-US" sz="2000">
                <a:latin typeface="Aptos"/>
                <a:ea typeface="+mn-lt"/>
                <a:cs typeface="+mn-lt"/>
              </a:rPr>
              <a:t>Behavioral and attention data are processed to extract relevant features for analysis.</a:t>
            </a:r>
            <a:endParaRPr lang="en-US" sz="2000">
              <a:latin typeface="Aptos"/>
            </a:endParaRPr>
          </a:p>
          <a:p>
            <a:r>
              <a:rPr lang="en-US" sz="2000" b="1">
                <a:latin typeface="Aptos"/>
                <a:ea typeface="+mn-lt"/>
                <a:cs typeface="+mn-lt"/>
              </a:rPr>
              <a:t>4.Learner Profile Refinement Module</a:t>
            </a:r>
            <a:br>
              <a:rPr lang="en-US" sz="2000" b="1">
                <a:latin typeface="Aptos"/>
                <a:ea typeface="+mn-lt"/>
                <a:cs typeface="+mn-lt"/>
              </a:rPr>
            </a:br>
            <a:r>
              <a:rPr lang="en-US" sz="2000">
                <a:latin typeface="Aptos"/>
                <a:ea typeface="+mn-lt"/>
                <a:cs typeface="+mn-lt"/>
              </a:rPr>
              <a:t>Learner profiles are dynamically updated based on observed behavioral patterns.</a:t>
            </a:r>
            <a:endParaRPr lang="en-US">
              <a:latin typeface="Aptos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7AAF57D-008E-ABF0-022C-F57A9B6FB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3300" y="-82396"/>
            <a:ext cx="5105400" cy="529327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chemeClr val="tx1"/>
                </a:solidFill>
                <a:latin typeface="Aptos" panose="020B0004020202020204" pitchFamily="34" charset="0"/>
                <a:ea typeface="Cambria"/>
              </a:rPr>
              <a:t>Learner Profile Based Cognitive Style Detection</a:t>
            </a:r>
            <a:endParaRPr lang="en-US" sz="180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41F638-0F8D-4F5E-EEC8-6AA26D008451}"/>
              </a:ext>
            </a:extLst>
          </p:cNvPr>
          <p:cNvSpPr/>
          <p:nvPr/>
        </p:nvSpPr>
        <p:spPr>
          <a:xfrm>
            <a:off x="3297417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IT22281364           |   Imesh L.A.R.          |R26-SE-004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5B631D-7D45-F293-FA62-6FAE24D0578B}"/>
              </a:ext>
            </a:extLst>
          </p:cNvPr>
          <p:cNvSpPr txBox="1"/>
          <p:nvPr/>
        </p:nvSpPr>
        <p:spPr>
          <a:xfrm>
            <a:off x="260039" y="3795355"/>
            <a:ext cx="11249607" cy="19389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>
                <a:latin typeface="Aptos"/>
              </a:rPr>
              <a:t>Dependencies &amp; Common Components</a:t>
            </a:r>
          </a:p>
          <a:p>
            <a:r>
              <a:rPr lang="en-US" sz="2000">
                <a:latin typeface="Aptos"/>
              </a:rPr>
              <a:t>• Web-based learning interface for interaction logging</a:t>
            </a:r>
            <a:br>
              <a:rPr lang="en-US" sz="2000">
                <a:latin typeface="Aptos"/>
              </a:rPr>
            </a:br>
            <a:r>
              <a:rPr lang="en-US" sz="2000">
                <a:latin typeface="Aptos"/>
              </a:rPr>
              <a:t>• Central database for storing learner profiles and behavioral data</a:t>
            </a:r>
            <a:br>
              <a:rPr lang="en-US" sz="2000">
                <a:latin typeface="Aptos"/>
              </a:rPr>
            </a:br>
            <a:r>
              <a:rPr lang="en-US" sz="2000">
                <a:latin typeface="Aptos"/>
              </a:rPr>
              <a:t>• Shared feature extraction and behavioral data pipeline</a:t>
            </a:r>
            <a:br>
              <a:rPr lang="en-US" sz="2000">
                <a:latin typeface="Aptos"/>
              </a:rPr>
            </a:br>
            <a:r>
              <a:rPr lang="en-US" sz="2000">
                <a:latin typeface="Aptos"/>
              </a:rPr>
              <a:t>• Machine learning libraries (Python, Scikit-learn / TensorFlow)</a:t>
            </a:r>
            <a:br>
              <a:rPr lang="en-US" sz="2000">
                <a:latin typeface="Aptos"/>
              </a:rPr>
            </a:br>
            <a:r>
              <a:rPr lang="en-US" sz="2000">
                <a:latin typeface="Aptos"/>
              </a:rPr>
              <a:t>• REST API communication for integration with other system modules</a:t>
            </a:r>
            <a:endParaRPr lang="en-US" sz="2000">
              <a:latin typeface="Aptos"/>
              <a:ea typeface="Cambr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D550B7-C5EB-1532-3A40-779C97DC0027}"/>
              </a:ext>
            </a:extLst>
          </p:cNvPr>
          <p:cNvSpPr txBox="1"/>
          <p:nvPr/>
        </p:nvSpPr>
        <p:spPr>
          <a:xfrm>
            <a:off x="90533" y="5829684"/>
            <a:ext cx="115886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111</a:t>
            </a:r>
          </a:p>
        </p:txBody>
      </p:sp>
    </p:spTree>
    <p:extLst>
      <p:ext uri="{BB962C8B-B14F-4D97-AF65-F5344CB8AC3E}">
        <p14:creationId xmlns:p14="http://schemas.microsoft.com/office/powerpoint/2010/main" val="1841086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768" y="563521"/>
            <a:ext cx="10363200" cy="755426"/>
          </a:xfrm>
        </p:spPr>
        <p:txBody>
          <a:bodyPr>
            <a:normAutofit/>
          </a:bodyPr>
          <a:lstStyle/>
          <a:p>
            <a:r>
              <a:rPr lang="en-US" sz="3600"/>
              <a:t>IT22089786 | </a:t>
            </a:r>
            <a:r>
              <a:rPr lang="en-US" sz="3600" err="1"/>
              <a:t>Subasinghe</a:t>
            </a:r>
            <a:r>
              <a:rPr lang="en-US" sz="3600"/>
              <a:t> </a:t>
            </a:r>
            <a:r>
              <a:rPr lang="en-US" sz="3600" err="1"/>
              <a:t>m.h.r.i</a:t>
            </a:r>
            <a:r>
              <a:rPr lang="en-US" sz="3600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057" y="1278506"/>
            <a:ext cx="7747382" cy="529327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>
                <a:solidFill>
                  <a:schemeClr val="tx1"/>
                </a:solidFill>
                <a:latin typeface="Aptos" panose="020B0004020202020204" pitchFamily="34" charset="0"/>
              </a:rPr>
              <a:t>Real-time Cognitive Load Prediction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3200400" y="6514646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IT22089786           |   </a:t>
            </a:r>
            <a:r>
              <a:rPr lang="en-US" sz="1600" b="1" err="1">
                <a:solidFill>
                  <a:schemeClr val="tx1"/>
                </a:solidFill>
              </a:rPr>
              <a:t>Subasinghe</a:t>
            </a:r>
            <a:r>
              <a:rPr lang="en-US" sz="1600" b="1">
                <a:solidFill>
                  <a:schemeClr val="tx1"/>
                </a:solidFill>
              </a:rPr>
              <a:t> M.H.R.I.          |R26-SE-004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11201B-5958-4278-4564-7A3BDDAD8C71}"/>
              </a:ext>
            </a:extLst>
          </p:cNvPr>
          <p:cNvSpPr txBox="1"/>
          <p:nvPr/>
        </p:nvSpPr>
        <p:spPr>
          <a:xfrm>
            <a:off x="467057" y="2300633"/>
            <a:ext cx="6630832" cy="31085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Apatos"/>
              </a:rPr>
              <a:t>Contribution  for the overall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Real-time cognitive load prediction using behavioral interaction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Extract clickstream features (pause, navigation, idle time, response time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Machine learning model for multi-level cognitive load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Provide load level to adaptive learning module</a:t>
            </a:r>
          </a:p>
          <a:p>
            <a:r>
              <a:rPr lang="en-US">
                <a:latin typeface="Apatos"/>
              </a:rPr>
              <a:t> </a:t>
            </a:r>
          </a:p>
          <a:p>
            <a:endParaRPr lang="en-US">
              <a:latin typeface="Apato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6E3B974-EF80-654F-7411-10309810683B}"/>
              </a:ext>
            </a:extLst>
          </p:cNvPr>
          <p:cNvGrpSpPr/>
          <p:nvPr/>
        </p:nvGrpSpPr>
        <p:grpSpPr>
          <a:xfrm>
            <a:off x="6934200" y="2486129"/>
            <a:ext cx="4802032" cy="2737552"/>
            <a:chOff x="8001000" y="2731073"/>
            <a:chExt cx="4191000" cy="2339430"/>
          </a:xfrm>
        </p:grpSpPr>
        <p:pic>
          <p:nvPicPr>
            <p:cNvPr id="1027" name="Picture 3">
              <a:extLst>
                <a:ext uri="{FF2B5EF4-FFF2-40B4-BE49-F238E27FC236}">
                  <a16:creationId xmlns:a16="http://schemas.microsoft.com/office/drawing/2014/main" id="{190912C4-56E8-050E-53AF-E97684184B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1000" y="2731073"/>
              <a:ext cx="4191000" cy="23394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04D7044-6FA3-99C7-0431-C687D465ACD4}"/>
                </a:ext>
              </a:extLst>
            </p:cNvPr>
            <p:cNvSpPr/>
            <p:nvPr/>
          </p:nvSpPr>
          <p:spPr>
            <a:xfrm>
              <a:off x="9601200" y="4367255"/>
              <a:ext cx="2514600" cy="5334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AA53428F-BF79-B0F9-EBF7-0061F8264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0" y="220706"/>
            <a:ext cx="1681832" cy="168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30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F9C11-FEDB-1397-DD43-0042513A4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8C25FBA-DCC3-42A7-ECA2-F13B93ACD6CD}"/>
              </a:ext>
            </a:extLst>
          </p:cNvPr>
          <p:cNvSpPr txBox="1"/>
          <p:nvPr/>
        </p:nvSpPr>
        <p:spPr>
          <a:xfrm>
            <a:off x="325617" y="726398"/>
            <a:ext cx="5943600" cy="23391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Apatos"/>
              </a:rPr>
              <a:t>Problem Statement</a:t>
            </a:r>
            <a:endParaRPr lang="en-US" sz="2000" u="sng">
              <a:latin typeface="Apato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latin typeface="Apatos"/>
              </a:rPr>
              <a:t>Online learning systems use static content for all learners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latin typeface="Apatos"/>
              </a:rPr>
              <a:t>Learner cognitive load is not monitored during learning process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latin typeface="Apatos"/>
              </a:rPr>
              <a:t>High or low cognitive load reduces learning effectiveness.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latin typeface="Apatos"/>
              </a:rPr>
              <a:t>Physiological sensors are expensive and impractical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patos"/>
              </a:rPr>
              <a:t>Need real-time prediction using behavioral data</a:t>
            </a:r>
            <a:br>
              <a:rPr lang="en-US">
                <a:latin typeface="Apatos"/>
              </a:rPr>
            </a:br>
            <a:endParaRPr lang="en-US">
              <a:latin typeface="Apatos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4421FD27-3A96-1D24-18C1-4EF9C9260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8600" y="-141545"/>
            <a:ext cx="7747382" cy="529327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chemeClr val="tx1"/>
                </a:solidFill>
                <a:latin typeface="Aptos" panose="020B0004020202020204" pitchFamily="34" charset="0"/>
              </a:rPr>
              <a:t>Real-time Cognitive Load Prediction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6718E9-2462-735B-378C-8BE540C80DA8}"/>
              </a:ext>
            </a:extLst>
          </p:cNvPr>
          <p:cNvSpPr/>
          <p:nvPr/>
        </p:nvSpPr>
        <p:spPr>
          <a:xfrm>
            <a:off x="3297417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IT22089786           |   </a:t>
            </a:r>
            <a:r>
              <a:rPr lang="en-US" sz="1600" b="1" err="1">
                <a:solidFill>
                  <a:schemeClr val="tx1"/>
                </a:solidFill>
              </a:rPr>
              <a:t>Subasinghe</a:t>
            </a:r>
            <a:r>
              <a:rPr lang="en-US" sz="1600" b="1">
                <a:solidFill>
                  <a:schemeClr val="tx1"/>
                </a:solidFill>
              </a:rPr>
              <a:t> M.H.R.I.          |R26-SE-004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392EA4-777C-6F46-AD7C-DC9C689A57A6}"/>
              </a:ext>
            </a:extLst>
          </p:cNvPr>
          <p:cNvSpPr txBox="1"/>
          <p:nvPr/>
        </p:nvSpPr>
        <p:spPr>
          <a:xfrm>
            <a:off x="325617" y="3476603"/>
            <a:ext cx="5943600" cy="20621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Apatos"/>
              </a:rPr>
              <a:t>Existing Systems</a:t>
            </a:r>
            <a:endParaRPr lang="en-US" sz="2000" u="sng">
              <a:latin typeface="Apato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latin typeface="Apatos"/>
              </a:rPr>
              <a:t>Cognitive load measured using EEG, eye-tracking, and heart-rate signals.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latin typeface="Apatos"/>
              </a:rPr>
              <a:t>Learning analytics uses clickstream and interaction data.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latin typeface="Apatos"/>
              </a:rPr>
              <a:t>Adaptive systems adjust content based on performance or rules.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latin typeface="Apatos"/>
              </a:rPr>
              <a:t>Most systems do not support real-time prediction.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14DBB-F13C-47D9-963A-D9B60E4139E7}"/>
              </a:ext>
            </a:extLst>
          </p:cNvPr>
          <p:cNvSpPr txBox="1"/>
          <p:nvPr/>
        </p:nvSpPr>
        <p:spPr>
          <a:xfrm>
            <a:off x="6526475" y="3507380"/>
            <a:ext cx="5552004" cy="20621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Apatos"/>
              </a:rPr>
              <a:t>Research Gap</a:t>
            </a:r>
            <a:endParaRPr lang="en-US" sz="2000" u="sng">
              <a:latin typeface="Apato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latin typeface="Apatos"/>
              </a:rPr>
              <a:t>Existing methods depend on sensors or offline analysis.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latin typeface="Apatos"/>
              </a:rPr>
              <a:t>Behavioral data not fully used for cognitive load prediction.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latin typeface="Apatos"/>
              </a:rPr>
              <a:t>Limited real-time prediction during learning session.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latin typeface="Apatos"/>
              </a:rPr>
              <a:t>Many models use only low / high load classification.</a:t>
            </a:r>
          </a:p>
        </p:txBody>
      </p:sp>
      <p:pic>
        <p:nvPicPr>
          <p:cNvPr id="2052" name="Picture 4" descr="Comic illustration of different cognitive loads">
            <a:extLst>
              <a:ext uri="{FF2B5EF4-FFF2-40B4-BE49-F238E27FC236}">
                <a16:creationId xmlns:a16="http://schemas.microsoft.com/office/drawing/2014/main" id="{DAA9B61E-8D90-29BF-4644-2E067D3FD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475" y="728929"/>
            <a:ext cx="5552004" cy="233910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C0F5D4-C600-0807-D913-F480C8201156}"/>
              </a:ext>
            </a:extLst>
          </p:cNvPr>
          <p:cNvSpPr/>
          <p:nvPr/>
        </p:nvSpPr>
        <p:spPr>
          <a:xfrm>
            <a:off x="325617" y="548465"/>
            <a:ext cx="3365009" cy="56215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/>
                </a:solidFill>
                <a:ea typeface="Cambria"/>
              </a:rPr>
              <a:t>Problem Statement</a:t>
            </a:r>
            <a:endParaRPr lang="en-US">
              <a:solidFill>
                <a:schemeClr val="bg1"/>
              </a:solidFill>
              <a:ea typeface="Cambria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89C15EA-5E96-9060-D694-3D72D72B7DC5}"/>
              </a:ext>
            </a:extLst>
          </p:cNvPr>
          <p:cNvSpPr/>
          <p:nvPr/>
        </p:nvSpPr>
        <p:spPr>
          <a:xfrm>
            <a:off x="6526475" y="3243433"/>
            <a:ext cx="3552899" cy="57259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000" b="1" u="sng">
              <a:solidFill>
                <a:srgbClr val="000000"/>
              </a:solidFill>
              <a:ea typeface="Cambria"/>
            </a:endParaRPr>
          </a:p>
          <a:p>
            <a:r>
              <a:rPr lang="en-US" sz="2000" b="1">
                <a:latin typeface="Apatos"/>
              </a:rPr>
              <a:t>Research Gap</a:t>
            </a:r>
            <a:endParaRPr lang="en-US" sz="2000">
              <a:latin typeface="Apatos"/>
            </a:endParaRPr>
          </a:p>
          <a:p>
            <a:pPr algn="ctr"/>
            <a:endParaRPr lang="en-US" sz="2000" b="1">
              <a:solidFill>
                <a:schemeClr val="bg1"/>
              </a:solidFill>
              <a:ea typeface="Cambria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633216-D94D-7458-7AA2-0790BAEEE107}"/>
              </a:ext>
            </a:extLst>
          </p:cNvPr>
          <p:cNvSpPr/>
          <p:nvPr/>
        </p:nvSpPr>
        <p:spPr>
          <a:xfrm>
            <a:off x="325617" y="3243433"/>
            <a:ext cx="3365009" cy="56215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>
                <a:latin typeface="Apatos"/>
              </a:rPr>
              <a:t>Existing Systems</a:t>
            </a:r>
            <a:endParaRPr lang="en-US" sz="2000">
              <a:latin typeface="Apatos"/>
            </a:endParaRPr>
          </a:p>
        </p:txBody>
      </p:sp>
    </p:spTree>
    <p:extLst>
      <p:ext uri="{BB962C8B-B14F-4D97-AF65-F5344CB8AC3E}">
        <p14:creationId xmlns:p14="http://schemas.microsoft.com/office/powerpoint/2010/main" val="3679876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1B791-6350-5FA6-270A-A5C46C5C9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367AD296-F340-D91A-3B4D-F329C524E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9125" y="-150368"/>
            <a:ext cx="7747382" cy="529327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chemeClr val="tx1"/>
                </a:solidFill>
                <a:latin typeface="Aptos" panose="020B0004020202020204" pitchFamily="34" charset="0"/>
              </a:rPr>
              <a:t>Real-time Cognitive Load Prediction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2BD983-F2AE-F038-C65E-29DBF2B05DF8}"/>
              </a:ext>
            </a:extLst>
          </p:cNvPr>
          <p:cNvSpPr/>
          <p:nvPr/>
        </p:nvSpPr>
        <p:spPr>
          <a:xfrm>
            <a:off x="3297417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IT22089786           |   </a:t>
            </a:r>
            <a:r>
              <a:rPr lang="en-US" sz="1600" b="1" err="1">
                <a:solidFill>
                  <a:schemeClr val="tx1"/>
                </a:solidFill>
              </a:rPr>
              <a:t>Subasinghe</a:t>
            </a:r>
            <a:r>
              <a:rPr lang="en-US" sz="1600" b="1">
                <a:solidFill>
                  <a:schemeClr val="tx1"/>
                </a:solidFill>
              </a:rPr>
              <a:t> M.H.R.I.          |R26-SE-004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D0046-3615-32A0-75F0-456C7A0BF11C}"/>
              </a:ext>
            </a:extLst>
          </p:cNvPr>
          <p:cNvSpPr txBox="1"/>
          <p:nvPr/>
        </p:nvSpPr>
        <p:spPr>
          <a:xfrm>
            <a:off x="228602" y="673823"/>
            <a:ext cx="8040510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Apatos"/>
              </a:rPr>
              <a:t>Proposed Novelty</a:t>
            </a:r>
            <a:endParaRPr lang="en-US" sz="2000" u="sng">
              <a:latin typeface="Apato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Real-time cognitive load prediction using behavioral clickstream data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No physiological sensors required (non-intrusive and scalable)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Continuous prediction during learning session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Multi-level cognitive load classification</a:t>
            </a:r>
          </a:p>
          <a:p>
            <a:endParaRPr lang="en-US" sz="2000">
              <a:latin typeface="Apa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D5EF11-2F6F-2E30-9202-C1B278FEEE8E}"/>
              </a:ext>
            </a:extLst>
          </p:cNvPr>
          <p:cNvSpPr txBox="1"/>
          <p:nvPr/>
        </p:nvSpPr>
        <p:spPr>
          <a:xfrm>
            <a:off x="228601" y="3116403"/>
            <a:ext cx="8040511" cy="31700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Apatos"/>
              </a:rPr>
              <a:t>Main Objective</a:t>
            </a:r>
            <a:endParaRPr lang="en-US" sz="2000" u="sng">
              <a:latin typeface="Apa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To develop a real-time cognitive load prediction system for online learning using behavioral interaction data without physiological sensors.</a:t>
            </a:r>
          </a:p>
          <a:p>
            <a:r>
              <a:rPr lang="en-US" sz="2000" b="1" u="sng">
                <a:latin typeface="Apatos"/>
              </a:rPr>
              <a:t>Specific Objectives</a:t>
            </a:r>
            <a:endParaRPr lang="en-US" sz="2000" u="sng">
              <a:latin typeface="Apato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Identify behavioral features (pause, navigation, time-on-task, idle time, errors, response time)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Design real-time prediction model for continuous monitoring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Develop non-intrusive behavior-based prediction method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Implement multi-level cognitive load classification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Evaluate accuracy using online learning interaction data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A4686C7-B41F-88F5-F167-6560E42387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25" t="-373" r="30625"/>
          <a:stretch>
            <a:fillRect/>
          </a:stretch>
        </p:blipFill>
        <p:spPr bwMode="auto">
          <a:xfrm>
            <a:off x="8619974" y="571497"/>
            <a:ext cx="3200400" cy="571500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98773E-E70A-4616-C7B6-0080DF0E0D5E}"/>
              </a:ext>
            </a:extLst>
          </p:cNvPr>
          <p:cNvSpPr/>
          <p:nvPr/>
        </p:nvSpPr>
        <p:spPr>
          <a:xfrm>
            <a:off x="228601" y="415443"/>
            <a:ext cx="3552899" cy="57259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000" b="1" u="sng">
              <a:solidFill>
                <a:srgbClr val="000000"/>
              </a:solidFill>
              <a:ea typeface="Cambria"/>
            </a:endParaRPr>
          </a:p>
          <a:p>
            <a:r>
              <a:rPr lang="en-US" sz="2000" b="1">
                <a:latin typeface="Apatos"/>
              </a:rPr>
              <a:t>Proposed Novelty</a:t>
            </a:r>
            <a:endParaRPr lang="en-US" sz="2000">
              <a:latin typeface="Apatos"/>
            </a:endParaRPr>
          </a:p>
          <a:p>
            <a:pPr algn="ctr"/>
            <a:endParaRPr lang="en-US" sz="2000" b="1">
              <a:solidFill>
                <a:schemeClr val="bg1"/>
              </a:solidFill>
              <a:ea typeface="Cambria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27D898-C55C-696D-535C-11825BAD7E95}"/>
              </a:ext>
            </a:extLst>
          </p:cNvPr>
          <p:cNvSpPr/>
          <p:nvPr/>
        </p:nvSpPr>
        <p:spPr>
          <a:xfrm>
            <a:off x="207018" y="2626603"/>
            <a:ext cx="3365009" cy="56215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>
                <a:latin typeface="Apatos"/>
              </a:rPr>
              <a:t>Objectives</a:t>
            </a:r>
            <a:endParaRPr lang="en-US" sz="2000">
              <a:latin typeface="Apatos"/>
            </a:endParaRPr>
          </a:p>
        </p:txBody>
      </p:sp>
    </p:spTree>
    <p:extLst>
      <p:ext uri="{BB962C8B-B14F-4D97-AF65-F5344CB8AC3E}">
        <p14:creationId xmlns:p14="http://schemas.microsoft.com/office/powerpoint/2010/main" val="3254882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D4C8F-A7BA-ED11-B1D5-25EE8BF3C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197733C-E146-F118-AC5E-BEF621261892}"/>
              </a:ext>
            </a:extLst>
          </p:cNvPr>
          <p:cNvSpPr txBox="1"/>
          <p:nvPr/>
        </p:nvSpPr>
        <p:spPr>
          <a:xfrm>
            <a:off x="152400" y="497994"/>
            <a:ext cx="5943600" cy="53553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>
                <a:latin typeface="Apatos"/>
              </a:rPr>
              <a:t>Methodology</a:t>
            </a:r>
          </a:p>
          <a:p>
            <a:r>
              <a:rPr lang="en-US" b="1">
                <a:latin typeface="Apatos"/>
              </a:rPr>
              <a:t>Phase 1 – Behavioral Data Collection</a:t>
            </a:r>
            <a:endParaRPr lang="en-US">
              <a:latin typeface="Apatos"/>
            </a:endParaRPr>
          </a:p>
          <a:p>
            <a:r>
              <a:rPr lang="en-US">
                <a:latin typeface="Apatos"/>
              </a:rPr>
              <a:t>Collect clickstream interaction data from the learning platform (pause, navigation, time, scroll, quiz).</a:t>
            </a:r>
          </a:p>
          <a:p>
            <a:r>
              <a:rPr lang="en-US" b="1">
                <a:latin typeface="Apatos"/>
              </a:rPr>
              <a:t>Phase 2 – Feature Extraction</a:t>
            </a:r>
            <a:endParaRPr lang="en-US">
              <a:latin typeface="Apatos"/>
            </a:endParaRPr>
          </a:p>
          <a:p>
            <a:r>
              <a:rPr lang="en-US">
                <a:latin typeface="Apatos"/>
              </a:rPr>
              <a:t>Convert raw logs into behavioral features for machine learning input.</a:t>
            </a:r>
          </a:p>
          <a:p>
            <a:r>
              <a:rPr lang="en-US" b="1">
                <a:latin typeface="Apatos"/>
              </a:rPr>
              <a:t>Phase 3 – Dataset Preparation</a:t>
            </a:r>
            <a:endParaRPr lang="en-US">
              <a:latin typeface="Apatos"/>
            </a:endParaRPr>
          </a:p>
          <a:p>
            <a:r>
              <a:rPr lang="en-US">
                <a:latin typeface="Apatos"/>
              </a:rPr>
              <a:t>Clean, normalize, and prepare datasets for training and testing.</a:t>
            </a:r>
          </a:p>
          <a:p>
            <a:r>
              <a:rPr lang="en-US" b="1">
                <a:latin typeface="Apatos"/>
              </a:rPr>
              <a:t>Phase 4 – Machine Learning Model</a:t>
            </a:r>
            <a:endParaRPr lang="en-US">
              <a:latin typeface="Apatos"/>
            </a:endParaRPr>
          </a:p>
          <a:p>
            <a:r>
              <a:rPr lang="en-US">
                <a:latin typeface="Apatos"/>
              </a:rPr>
              <a:t>Train models (Random Forest, SVM, Logistic Regression) to predict cognitive load.</a:t>
            </a:r>
          </a:p>
          <a:p>
            <a:r>
              <a:rPr lang="en-US" b="1">
                <a:latin typeface="Apatos"/>
              </a:rPr>
              <a:t>Phase 5 – Real-Time Prediction</a:t>
            </a:r>
            <a:endParaRPr lang="en-US">
              <a:latin typeface="Apatos"/>
            </a:endParaRPr>
          </a:p>
          <a:p>
            <a:r>
              <a:rPr lang="en-US">
                <a:latin typeface="Apatos"/>
              </a:rPr>
              <a:t>Process interaction data continuously and predict cognitive load during learning with </a:t>
            </a:r>
            <a:r>
              <a:rPr lang="en-US" b="1">
                <a:latin typeface="Apatos"/>
              </a:rPr>
              <a:t>Multi-Level Classification</a:t>
            </a:r>
            <a:endParaRPr lang="en-US">
              <a:latin typeface="Apatos"/>
            </a:endParaRPr>
          </a:p>
          <a:p>
            <a:r>
              <a:rPr lang="en-US" b="1">
                <a:latin typeface="Apatos"/>
              </a:rPr>
              <a:t>Phase 6 – Validation</a:t>
            </a:r>
            <a:endParaRPr lang="en-US">
              <a:latin typeface="Apatos"/>
            </a:endParaRPr>
          </a:p>
          <a:p>
            <a:r>
              <a:rPr lang="en-US">
                <a:latin typeface="Apatos"/>
              </a:rPr>
              <a:t>Evaluate model using Accuracy, Precision, Recall, and F1-score.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E6186C7-8300-87C8-ED6D-E6078F793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8600" y="-144876"/>
            <a:ext cx="7747382" cy="529327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chemeClr val="tx1"/>
                </a:solidFill>
                <a:latin typeface="Aptos" panose="020B0004020202020204" pitchFamily="34" charset="0"/>
              </a:rPr>
              <a:t>Real-time Cognitive Load Prediction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82CB69-7A99-0541-2AE8-DE366FAEDC6A}"/>
              </a:ext>
            </a:extLst>
          </p:cNvPr>
          <p:cNvSpPr/>
          <p:nvPr/>
        </p:nvSpPr>
        <p:spPr>
          <a:xfrm>
            <a:off x="3297417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IT22089786           |   </a:t>
            </a:r>
            <a:r>
              <a:rPr lang="en-US" sz="1600" b="1" err="1">
                <a:solidFill>
                  <a:schemeClr val="tx1"/>
                </a:solidFill>
              </a:rPr>
              <a:t>Subasinghe</a:t>
            </a:r>
            <a:r>
              <a:rPr lang="en-US" sz="1600" b="1">
                <a:solidFill>
                  <a:schemeClr val="tx1"/>
                </a:solidFill>
              </a:rPr>
              <a:t> M.H.R.I.          |R26-SE-004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A21ED-5397-B986-4A04-3558FA4A38AB}"/>
              </a:ext>
            </a:extLst>
          </p:cNvPr>
          <p:cNvSpPr txBox="1"/>
          <p:nvPr/>
        </p:nvSpPr>
        <p:spPr>
          <a:xfrm>
            <a:off x="6421617" y="886114"/>
            <a:ext cx="5638800" cy="1631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Apatos"/>
              </a:rPr>
              <a:t>Domain knowledge used</a:t>
            </a:r>
            <a:endParaRPr lang="en-US" sz="2000" u="sng">
              <a:latin typeface="Apato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Cognitive Load Theory (CLT)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Learning Analytics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Human–Computer Interaction (HCI)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Machine Learning for behavior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6472A-A0B1-DA7A-C20C-2731AD4995A1}"/>
              </a:ext>
            </a:extLst>
          </p:cNvPr>
          <p:cNvSpPr txBox="1"/>
          <p:nvPr/>
        </p:nvSpPr>
        <p:spPr>
          <a:xfrm>
            <a:off x="6400800" y="3227830"/>
            <a:ext cx="5638800" cy="25545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Apatos"/>
              </a:rPr>
              <a:t>Key technologies</a:t>
            </a:r>
            <a:endParaRPr lang="en-US" sz="2000" u="sng">
              <a:latin typeface="Apato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Python (Scikit-learn, NumPy, TensorFlow)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MySQL / Database for interaction logs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Web learning interface (HTML / JS / Flask)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REST API for data logging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NLP / Speech-to-text for quiz generation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Modular system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Apato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EBC928-DBF0-2118-C4F0-3422C8107796}"/>
              </a:ext>
            </a:extLst>
          </p:cNvPr>
          <p:cNvSpPr/>
          <p:nvPr/>
        </p:nvSpPr>
        <p:spPr>
          <a:xfrm>
            <a:off x="6421617" y="3018993"/>
            <a:ext cx="3365009" cy="56215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>
                <a:latin typeface="Apatos"/>
              </a:rPr>
              <a:t>Key technologies</a:t>
            </a:r>
            <a:endParaRPr lang="en-US" sz="2000">
              <a:latin typeface="Apato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39F4B7-DC42-0CEF-3DED-F50ADDE4AE50}"/>
              </a:ext>
            </a:extLst>
          </p:cNvPr>
          <p:cNvSpPr/>
          <p:nvPr/>
        </p:nvSpPr>
        <p:spPr>
          <a:xfrm>
            <a:off x="152400" y="211699"/>
            <a:ext cx="3552899" cy="57259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000" b="1" u="sng">
              <a:solidFill>
                <a:srgbClr val="000000"/>
              </a:solidFill>
              <a:ea typeface="Cambria"/>
            </a:endParaRPr>
          </a:p>
          <a:p>
            <a:r>
              <a:rPr lang="en-US" sz="2000" b="1">
                <a:latin typeface="Apatos"/>
              </a:rPr>
              <a:t>Methodology</a:t>
            </a:r>
          </a:p>
          <a:p>
            <a:pPr algn="ctr"/>
            <a:endParaRPr lang="en-US" sz="2000" b="1">
              <a:solidFill>
                <a:schemeClr val="bg1"/>
              </a:solidFill>
              <a:ea typeface="Cambria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7A7E246-446E-6B6B-33B8-06B31C168011}"/>
              </a:ext>
            </a:extLst>
          </p:cNvPr>
          <p:cNvSpPr/>
          <p:nvPr/>
        </p:nvSpPr>
        <p:spPr>
          <a:xfrm>
            <a:off x="6421617" y="673823"/>
            <a:ext cx="3365009" cy="56215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>
                <a:latin typeface="Apatos"/>
              </a:rPr>
              <a:t>Domain knowledge used</a:t>
            </a:r>
            <a:endParaRPr lang="en-US" sz="2000">
              <a:latin typeface="Apatos"/>
            </a:endParaRPr>
          </a:p>
        </p:txBody>
      </p:sp>
    </p:spTree>
    <p:extLst>
      <p:ext uri="{BB962C8B-B14F-4D97-AF65-F5344CB8AC3E}">
        <p14:creationId xmlns:p14="http://schemas.microsoft.com/office/powerpoint/2010/main" val="1068240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1C5C4-85B6-1DD1-FCBE-BFB04F488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E2E1E26-3415-0CF4-5109-0C3285BF0778}"/>
              </a:ext>
            </a:extLst>
          </p:cNvPr>
          <p:cNvSpPr txBox="1"/>
          <p:nvPr/>
        </p:nvSpPr>
        <p:spPr>
          <a:xfrm>
            <a:off x="234754" y="695960"/>
            <a:ext cx="5613400" cy="40934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sz="2000" b="1" u="sng">
                <a:latin typeface="Apatos"/>
              </a:rPr>
              <a:t>Validation and Evaluation of Proposed Solution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Model evaluated using machine learning metrics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Accuracy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Precision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Recall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F1-score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Cross-validation used to ensure stability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Compare multiple algorithms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Random Forest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Support Vector Machine (SVM)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Logistic Regression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Test with different learning difficulty levels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>
              <a:latin typeface="Apatos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27C469F-C928-979E-F199-7FD13C3E0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9125" y="-209338"/>
            <a:ext cx="7747382" cy="529327"/>
          </a:xfrm>
        </p:spPr>
        <p:txBody>
          <a:bodyPr>
            <a:norm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Aptos" panose="020B0004020202020204" pitchFamily="34" charset="0"/>
              </a:rPr>
              <a:t>Real-time Cognitive Load Prediction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A860CD-E21E-4B3E-2CFB-649EE2B4C2AC}"/>
              </a:ext>
            </a:extLst>
          </p:cNvPr>
          <p:cNvSpPr/>
          <p:nvPr/>
        </p:nvSpPr>
        <p:spPr>
          <a:xfrm>
            <a:off x="3297417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IT22089786           |   </a:t>
            </a:r>
            <a:r>
              <a:rPr lang="en-US" sz="1600" b="1" err="1">
                <a:solidFill>
                  <a:schemeClr val="tx1"/>
                </a:solidFill>
              </a:rPr>
              <a:t>Subasinghe</a:t>
            </a:r>
            <a:r>
              <a:rPr lang="en-US" sz="1600" b="1">
                <a:solidFill>
                  <a:schemeClr val="tx1"/>
                </a:solidFill>
              </a:rPr>
              <a:t> M.H.R.I.          |R26-SE-004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4AAABC-8636-00C7-5B09-2421108F9DEA}"/>
              </a:ext>
            </a:extLst>
          </p:cNvPr>
          <p:cNvSpPr txBox="1"/>
          <p:nvPr/>
        </p:nvSpPr>
        <p:spPr>
          <a:xfrm>
            <a:off x="6096000" y="695960"/>
            <a:ext cx="5943600" cy="40934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Apatos"/>
              </a:rPr>
              <a:t>Data Availability, Security &amp; Ethical Clearance</a:t>
            </a:r>
            <a:endParaRPr lang="en-US" sz="2000" u="sng">
              <a:latin typeface="Apatos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Behavioral interaction data collected from learning platform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Data includes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navigation actions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pause events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time-on-task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scroll behavior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quiz responses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No physiological / biometric data collected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Data anonymized before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Data stored securely in database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>
              <a:latin typeface="Apatos"/>
            </a:endParaRPr>
          </a:p>
        </p:txBody>
      </p:sp>
    </p:spTree>
    <p:extLst>
      <p:ext uri="{BB962C8B-B14F-4D97-AF65-F5344CB8AC3E}">
        <p14:creationId xmlns:p14="http://schemas.microsoft.com/office/powerpoint/2010/main" val="1660808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D1BB7-088A-749C-C069-730A0DE5B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B5AA3F1-F1D5-56B9-F376-D25E719CD1DC}"/>
              </a:ext>
            </a:extLst>
          </p:cNvPr>
          <p:cNvSpPr txBox="1"/>
          <p:nvPr/>
        </p:nvSpPr>
        <p:spPr>
          <a:xfrm>
            <a:off x="333022" y="3239551"/>
            <a:ext cx="5943600" cy="28623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>
                <a:latin typeface="Apatos"/>
              </a:rPr>
              <a:t>System Overview of </a:t>
            </a:r>
            <a:r>
              <a:rPr lang="en-US" sz="2000" b="1" u="sng">
                <a:latin typeface="Aptos" panose="020B0004020202020204" pitchFamily="34" charset="0"/>
              </a:rPr>
              <a:t>Real-time Cognitive Load Prediction</a:t>
            </a:r>
            <a:endParaRPr lang="en-US" sz="2000" b="1" u="sng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  <a:ea typeface="+mn-lt"/>
                <a:cs typeface="+mn-lt"/>
              </a:rPr>
              <a:t>Modular learning analytics architecture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  <a:ea typeface="+mn-lt"/>
                <a:cs typeface="+mn-lt"/>
              </a:rPr>
              <a:t>Behavioral data collected from learning platform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>
                <a:latin typeface="Apatos"/>
                <a:ea typeface="+mn-lt"/>
                <a:cs typeface="+mn-lt"/>
              </a:rPr>
              <a:t>Shared data pipeline,  central database</a:t>
            </a:r>
            <a:endParaRPr 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  <a:ea typeface="+mn-lt"/>
                <a:cs typeface="+mn-lt"/>
              </a:rPr>
              <a:t>Feature extraction from interaction logs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  <a:ea typeface="+mn-lt"/>
                <a:cs typeface="+mn-lt"/>
              </a:rPr>
              <a:t>Real-time cognitive load prediction module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  <a:ea typeface="+mn-lt"/>
                <a:cs typeface="+mn-lt"/>
              </a:rPr>
              <a:t>Machine learning classification model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  <a:ea typeface="+mn-lt"/>
                <a:cs typeface="+mn-lt"/>
              </a:rPr>
              <a:t>Multi-level cognitive load output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7AAF57D-008E-ABF0-022C-F57A9B6FB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8600" y="-144876"/>
            <a:ext cx="7747382" cy="529327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chemeClr val="tx1"/>
                </a:solidFill>
                <a:latin typeface="Aptos" panose="020B0004020202020204" pitchFamily="34" charset="0"/>
              </a:rPr>
              <a:t>Real-time Cognitive Load Prediction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41F638-0F8D-4F5E-EEC8-6AA26D008451}"/>
              </a:ext>
            </a:extLst>
          </p:cNvPr>
          <p:cNvSpPr/>
          <p:nvPr/>
        </p:nvSpPr>
        <p:spPr>
          <a:xfrm>
            <a:off x="3297417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IT22089786           |   </a:t>
            </a:r>
            <a:r>
              <a:rPr lang="en-US" sz="1600" b="1" err="1">
                <a:solidFill>
                  <a:schemeClr val="tx1"/>
                </a:solidFill>
              </a:rPr>
              <a:t>Subasinghe</a:t>
            </a:r>
            <a:r>
              <a:rPr lang="en-US" sz="1600" b="1">
                <a:solidFill>
                  <a:schemeClr val="tx1"/>
                </a:solidFill>
              </a:rPr>
              <a:t> M.H.R.I.          |R26-SE-004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5B631D-7D45-F293-FA62-6FAE24D0578B}"/>
              </a:ext>
            </a:extLst>
          </p:cNvPr>
          <p:cNvSpPr txBox="1"/>
          <p:nvPr/>
        </p:nvSpPr>
        <p:spPr>
          <a:xfrm>
            <a:off x="6472499" y="3393439"/>
            <a:ext cx="5638800" cy="255454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Apatos"/>
              </a:rPr>
              <a:t>Dependencies &amp; Common Components</a:t>
            </a:r>
            <a:endParaRPr lang="en-US" sz="2000" u="sng">
              <a:latin typeface="Apato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Web-based learning interface (interaction logging)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Shared data pipeline for behavioral logs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Central database (MySQL / relational DB)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Machine learning libraries (Python, Scikit-learn)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Adaptive learning support module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REST / API communication between modules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71BA4A-CC45-72A6-0933-86124FB2D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32"/>
          <a:stretch>
            <a:fillRect/>
          </a:stretch>
        </p:blipFill>
        <p:spPr bwMode="auto">
          <a:xfrm>
            <a:off x="2362200" y="392100"/>
            <a:ext cx="7665591" cy="26827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75827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684" y="164725"/>
            <a:ext cx="10363200" cy="755426"/>
          </a:xfrm>
        </p:spPr>
        <p:txBody>
          <a:bodyPr/>
          <a:lstStyle/>
          <a:p>
            <a:r>
              <a:rPr lang="en-US"/>
              <a:t>IT22166074 | Jayasinghe j m s n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213" y="1176280"/>
            <a:ext cx="9628716" cy="103632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tx1"/>
                </a:solidFill>
              </a:rPr>
              <a:t>Cognitive-Adaptive Content Personalization Engine (CACPE)</a:t>
            </a:r>
            <a:endParaRPr lang="en-US" b="1">
              <a:solidFill>
                <a:schemeClr val="tx1"/>
              </a:solidFill>
              <a:ea typeface="Cambria"/>
            </a:endParaRPr>
          </a:p>
          <a:p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IT22166074</a:t>
            </a:r>
            <a:r>
              <a:rPr lang="en-US" sz="1800" b="1">
                <a:solidFill>
                  <a:schemeClr val="tx1"/>
                </a:solidFill>
              </a:rPr>
              <a:t>| </a:t>
            </a:r>
            <a:r>
              <a:rPr lang="en-US" b="1">
                <a:solidFill>
                  <a:schemeClr val="tx1"/>
                </a:solidFill>
              </a:rPr>
              <a:t>Jayasinghe J.M.S.N.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 sz="1600" b="1">
                <a:solidFill>
                  <a:schemeClr val="tx1"/>
                </a:solidFill>
              </a:rPr>
              <a:t>R26-SE-004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11201B-5958-4278-4564-7A3BDDAD8C71}"/>
              </a:ext>
            </a:extLst>
          </p:cNvPr>
          <p:cNvSpPr txBox="1"/>
          <p:nvPr/>
        </p:nvSpPr>
        <p:spPr>
          <a:xfrm>
            <a:off x="677375" y="2068830"/>
            <a:ext cx="8085017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/>
              <a:t>Contribution to the Overall System</a:t>
            </a:r>
            <a:endParaRPr lang="en-US" sz="2000" b="1" u="sng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Resource Upload:</a:t>
            </a:r>
            <a:r>
              <a:rPr lang="en-US" sz="2000">
                <a:ea typeface="+mn-lt"/>
                <a:cs typeface="+mn-lt"/>
              </a:rPr>
              <a:t> Upload structured learning materials (PDFs, PPTs, images, videos).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Content Processing:</a:t>
            </a:r>
            <a:r>
              <a:rPr lang="en-US" sz="2000">
                <a:ea typeface="+mn-lt"/>
                <a:cs typeface="+mn-lt"/>
              </a:rPr>
              <a:t> Extract and clean content.</a:t>
            </a:r>
          </a:p>
          <a:p>
            <a:endParaRPr lang="en-US" sz="2000" b="1" u="sng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</p:txBody>
      </p:sp>
      <p:pic>
        <p:nvPicPr>
          <p:cNvPr id="7" name="Picture 6" descr="A person in a white shirt&#10;&#10;AI-generated content may be incorrect.">
            <a:extLst>
              <a:ext uri="{FF2B5EF4-FFF2-40B4-BE49-F238E27FC236}">
                <a16:creationId xmlns:a16="http://schemas.microsoft.com/office/drawing/2014/main" id="{B052C61C-5743-28F9-54C4-8D0F7537E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6115" y="163830"/>
            <a:ext cx="2305050" cy="2019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6C1016-8D87-40E1-586F-0A551E1E800B}"/>
              </a:ext>
            </a:extLst>
          </p:cNvPr>
          <p:cNvSpPr txBox="1"/>
          <p:nvPr/>
        </p:nvSpPr>
        <p:spPr>
          <a:xfrm>
            <a:off x="675154" y="3464719"/>
            <a:ext cx="5369718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    Knowledge Base:</a:t>
            </a:r>
            <a:r>
              <a:rPr lang="en-US" sz="2000">
                <a:ea typeface="+mn-lt"/>
                <a:cs typeface="+mn-lt"/>
              </a:rPr>
              <a:t> Store chunked learning content.</a:t>
            </a:r>
          </a:p>
          <a:p>
            <a:pPr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    Prompt Builder (RAG):</a:t>
            </a:r>
            <a:r>
              <a:rPr lang="en-US" sz="2000">
                <a:ea typeface="+mn-lt"/>
                <a:cs typeface="+mn-lt"/>
              </a:rPr>
              <a:t> Combine learner profile, cognitive style, load, and knowledge.</a:t>
            </a:r>
          </a:p>
          <a:p>
            <a:pPr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    Content Generation:</a:t>
            </a:r>
            <a:r>
              <a:rPr lang="en-US" sz="2000">
                <a:ea typeface="+mn-lt"/>
                <a:cs typeface="+mn-lt"/>
              </a:rPr>
              <a:t> Generate personalized content using GPT-4.</a:t>
            </a:r>
          </a:p>
          <a:p>
            <a:pPr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    Cognitive Load Optimization:</a:t>
            </a:r>
            <a:r>
              <a:rPr lang="en-US" sz="2000">
                <a:ea typeface="+mn-lt"/>
                <a:cs typeface="+mn-lt"/>
              </a:rPr>
              <a:t> Adapt content to reduce learner overload.</a:t>
            </a:r>
          </a:p>
          <a:p>
            <a:pPr marL="285750" indent="-285750" algn="l">
              <a:buFont typeface="Arial,Sans-Serif"/>
              <a:buChar char="•"/>
            </a:pPr>
            <a:endParaRPr lang="en-US" sz="2000">
              <a:ea typeface="Cambria"/>
            </a:endParaRPr>
          </a:p>
        </p:txBody>
      </p:sp>
      <p:pic>
        <p:nvPicPr>
          <p:cNvPr id="11" name="Picture 10" descr="A diagram of a software development&#10;&#10;AI-generated content may be incorrect.">
            <a:extLst>
              <a:ext uri="{FF2B5EF4-FFF2-40B4-BE49-F238E27FC236}">
                <a16:creationId xmlns:a16="http://schemas.microsoft.com/office/drawing/2014/main" id="{7B5E73DA-4925-431E-CC42-B28DAABE5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007" y="2845704"/>
            <a:ext cx="5650124" cy="3196627"/>
          </a:xfrm>
          <a:prstGeom prst="rect">
            <a:avLst/>
          </a:prstGeom>
          <a:ln w="28575" cap="rnd">
            <a:solidFill>
              <a:srgbClr val="002060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03185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F9C11-FEDB-1397-DD43-0042513A4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8C25FBA-DCC3-42A7-ECA2-F13B93ACD6CD}"/>
              </a:ext>
            </a:extLst>
          </p:cNvPr>
          <p:cNvSpPr txBox="1"/>
          <p:nvPr/>
        </p:nvSpPr>
        <p:spPr>
          <a:xfrm>
            <a:off x="304618" y="1394564"/>
            <a:ext cx="5476048" cy="31700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2000" b="1" u="sng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Many e-learning systems use a </a:t>
            </a:r>
            <a:r>
              <a:rPr lang="en-US" sz="2000" b="1">
                <a:ea typeface="+mn-lt"/>
                <a:cs typeface="+mn-lt"/>
              </a:rPr>
              <a:t>one-size-fits-all approach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They ignore </a:t>
            </a:r>
            <a:r>
              <a:rPr lang="en-US" sz="2000" b="1">
                <a:ea typeface="+mn-lt"/>
                <a:cs typeface="+mn-lt"/>
              </a:rPr>
              <a:t>cognitive style, learner profile, and cognitive load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This causes </a:t>
            </a:r>
            <a:r>
              <a:rPr lang="en-US" sz="2000" b="1">
                <a:ea typeface="+mn-lt"/>
                <a:cs typeface="+mn-lt"/>
              </a:rPr>
              <a:t>cognitive overload and low learning effectiveness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ea typeface="Cambri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F2331-8EBC-14F5-F535-C3D660899C8D}"/>
              </a:ext>
            </a:extLst>
          </p:cNvPr>
          <p:cNvSpPr txBox="1"/>
          <p:nvPr/>
        </p:nvSpPr>
        <p:spPr>
          <a:xfrm>
            <a:off x="2504161" y="245208"/>
            <a:ext cx="6816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chemeClr val="tx1"/>
                </a:solidFill>
              </a:rPr>
              <a:t>Cognitive-Adaptive Content Personalization Engine (CACPE)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AEA22C-C634-FA43-FC43-4EFC0345B2CE}"/>
              </a:ext>
            </a:extLst>
          </p:cNvPr>
          <p:cNvSpPr txBox="1"/>
          <p:nvPr/>
        </p:nvSpPr>
        <p:spPr>
          <a:xfrm>
            <a:off x="5910629" y="1394564"/>
            <a:ext cx="6143923" cy="41549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endParaRPr lang="en-US" b="1" u="sng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Student Performance:</a:t>
            </a:r>
            <a:r>
              <a:rPr lang="en-US">
                <a:ea typeface="+mn-lt"/>
                <a:cs typeface="+mn-lt"/>
              </a:rPr>
              <a:t> Adaptive learning improves scores by </a:t>
            </a:r>
            <a:r>
              <a:rPr lang="en-US" b="1">
                <a:ea typeface="+mn-lt"/>
                <a:cs typeface="+mn-lt"/>
              </a:rPr>
              <a:t>~15%.</a:t>
            </a:r>
            <a:endParaRPr lang="en-US" b="1">
              <a:ea typeface="Cambria"/>
            </a:endParaRPr>
          </a:p>
          <a:p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Instructional Effectiveness: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AI personalization (20.26%)</a:t>
            </a:r>
            <a:r>
              <a:rPr lang="en-US">
                <a:ea typeface="+mn-lt"/>
                <a:cs typeface="+mn-lt"/>
              </a:rPr>
              <a:t> vs </a:t>
            </a:r>
            <a:r>
              <a:rPr lang="en-US" b="1">
                <a:ea typeface="+mn-lt"/>
                <a:cs typeface="+mn-lt"/>
              </a:rPr>
              <a:t>traditional methods (10.04%)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ea typeface="Cambria"/>
            </a:endParaRPr>
          </a:p>
          <a:p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Dropout Reduction: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24% → 12%</a:t>
            </a:r>
            <a:r>
              <a:rPr lang="en-US">
                <a:ea typeface="+mn-lt"/>
                <a:cs typeface="+mn-lt"/>
              </a:rPr>
              <a:t> with adaptive systems.</a:t>
            </a:r>
          </a:p>
          <a:p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Learner Engagement: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65% → 92%</a:t>
            </a:r>
            <a:r>
              <a:rPr lang="en-US">
                <a:ea typeface="+mn-lt"/>
                <a:cs typeface="+mn-lt"/>
              </a:rPr>
              <a:t> with intelligent models.</a:t>
            </a:r>
            <a:endParaRPr lang="en-US">
              <a:ea typeface="Cambria"/>
            </a:endParaRPr>
          </a:p>
          <a:p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Learning Efficiency: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Time-to-mastery reduced from 12h → 6h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endParaRPr lang="en-US" sz="1200">
              <a:ea typeface="Cambr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A3BB6-539D-B4AF-4DBB-C314CD7BFABB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IT22166074</a:t>
            </a:r>
            <a:r>
              <a:rPr lang="en-US" sz="1800" b="1">
                <a:solidFill>
                  <a:schemeClr val="tx1"/>
                </a:solidFill>
              </a:rPr>
              <a:t>| </a:t>
            </a:r>
            <a:r>
              <a:rPr lang="en-US" b="1">
                <a:solidFill>
                  <a:schemeClr val="tx1"/>
                </a:solidFill>
              </a:rPr>
              <a:t>Jayasinghe J.M.S.N.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 sz="1600" b="1">
                <a:solidFill>
                  <a:schemeClr val="tx1"/>
                </a:solidFill>
              </a:rPr>
              <a:t>R26-SE-004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2653F76-910E-7562-9BEC-AB33F7CD0D56}"/>
              </a:ext>
            </a:extLst>
          </p:cNvPr>
          <p:cNvSpPr/>
          <p:nvPr/>
        </p:nvSpPr>
        <p:spPr>
          <a:xfrm>
            <a:off x="582320" y="923136"/>
            <a:ext cx="3365009" cy="56215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/>
                </a:solidFill>
                <a:ea typeface="Cambria"/>
              </a:rPr>
              <a:t>Problem Statement</a:t>
            </a:r>
            <a:endParaRPr lang="en-US">
              <a:solidFill>
                <a:schemeClr val="bg1"/>
              </a:solidFill>
              <a:ea typeface="Cambria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8C70DC-CD89-EF51-9855-37F679C1C4DA}"/>
              </a:ext>
            </a:extLst>
          </p:cNvPr>
          <p:cNvSpPr/>
          <p:nvPr/>
        </p:nvSpPr>
        <p:spPr>
          <a:xfrm>
            <a:off x="6584375" y="923136"/>
            <a:ext cx="3552899" cy="57259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000" b="1" u="sng">
              <a:solidFill>
                <a:srgbClr val="000000"/>
              </a:solidFill>
              <a:ea typeface="Cambria"/>
            </a:endParaRPr>
          </a:p>
          <a:p>
            <a:pPr algn="ctr"/>
            <a:r>
              <a:rPr lang="en-US" sz="2000" b="1">
                <a:solidFill>
                  <a:schemeClr val="bg1"/>
                </a:solidFill>
                <a:ea typeface="Cambria"/>
              </a:rPr>
              <a:t>Statistical Evidence</a:t>
            </a:r>
          </a:p>
          <a:p>
            <a:pPr algn="ctr"/>
            <a:endParaRPr lang="en-US" sz="2000" b="1">
              <a:solidFill>
                <a:schemeClr val="bg1"/>
              </a:solidFill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22280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0AD67-0181-E041-8C18-D75D2A73C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6BF2C4A-7845-8F92-8233-6EB098A1B003}"/>
              </a:ext>
            </a:extLst>
          </p:cNvPr>
          <p:cNvSpPr txBox="1"/>
          <p:nvPr/>
        </p:nvSpPr>
        <p:spPr>
          <a:xfrm>
            <a:off x="2692051" y="159961"/>
            <a:ext cx="6816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chemeClr val="tx1"/>
                </a:solidFill>
              </a:rPr>
              <a:t>Cognitive-Adaptive Content Personalization Engine (CACPE)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8EA881-9567-1203-1E52-D8DDF46A29B3}"/>
              </a:ext>
            </a:extLst>
          </p:cNvPr>
          <p:cNvSpPr txBox="1"/>
          <p:nvPr/>
        </p:nvSpPr>
        <p:spPr>
          <a:xfrm>
            <a:off x="6789834" y="1025093"/>
            <a:ext cx="4950610" cy="53553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endParaRPr lang="en-US" b="1">
              <a:ea typeface="+mn-lt"/>
              <a:cs typeface="+mn-lt"/>
            </a:endParaRPr>
          </a:p>
          <a:p>
            <a:r>
              <a:rPr lang="en-US" b="1"/>
              <a:t>1.Core Gap – No Integrated Personalization</a:t>
            </a:r>
            <a:r>
              <a:rPr lang="en-US" b="1">
                <a:ea typeface="+mn-lt"/>
                <a:cs typeface="+mn-lt"/>
              </a:rPr>
              <a:t>: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         Existing systems do not combine key learner factors in a single adaptive model: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Cognitive Style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Real-Time Cognitive Load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Academic Profile </a:t>
            </a:r>
          </a:p>
          <a:p>
            <a:endParaRPr lang="en-US" b="1">
              <a:ea typeface="Cambria"/>
            </a:endParaRPr>
          </a:p>
          <a:p>
            <a:r>
              <a:rPr lang="en-US" b="1">
                <a:ea typeface="+mn-lt"/>
                <a:cs typeface="+mn-lt"/>
              </a:rPr>
              <a:t>2.</a:t>
            </a:r>
            <a:r>
              <a:rPr lang="en-US" b="1"/>
              <a:t>Psychological Blind Spot</a:t>
            </a:r>
            <a:r>
              <a:rPr lang="en-US" b="1">
                <a:ea typeface="+mn-lt"/>
                <a:cs typeface="+mn-lt"/>
              </a:rPr>
              <a:t>: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         </a:t>
            </a:r>
            <a:r>
              <a:rPr lang="en-US">
                <a:ea typeface="+mn-lt"/>
                <a:cs typeface="+mn-lt"/>
              </a:rPr>
              <a:t>Most adaptive learning systems rely on quiz performance, ignoring mental workload and processing preferences.</a:t>
            </a:r>
            <a:r>
              <a:rPr lang="en-US"/>
              <a:t> </a:t>
            </a:r>
            <a:endParaRPr lang="en-US">
              <a:ea typeface="+mn-lt"/>
              <a:cs typeface="+mn-lt"/>
            </a:endParaRPr>
          </a:p>
          <a:p>
            <a:endParaRPr lang="en-US">
              <a:ea typeface="Cambria"/>
            </a:endParaRPr>
          </a:p>
          <a:p>
            <a:r>
              <a:rPr lang="en-US" b="1"/>
              <a:t>3.Lack of Multidimensional Integration</a:t>
            </a:r>
            <a:r>
              <a:rPr lang="en-US" b="1">
                <a:ea typeface="+mn-lt"/>
                <a:cs typeface="+mn-lt"/>
              </a:rPr>
              <a:t>: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         </a:t>
            </a:r>
            <a:r>
              <a:rPr lang="en-US">
                <a:ea typeface="+mn-lt"/>
                <a:cs typeface="+mn-lt"/>
              </a:rPr>
              <a:t>Research exists separately for cognitive load detection, learning styles (ACPLOLS), and personality models (PAGE), but no unified AI system integrates them</a:t>
            </a:r>
            <a:r>
              <a:rPr lang="en-US" b="1">
                <a:ea typeface="+mn-lt"/>
                <a:cs typeface="+mn-lt"/>
              </a:rPr>
              <a:t>.</a:t>
            </a:r>
            <a:endParaRPr lang="en-US" b="1"/>
          </a:p>
          <a:p>
            <a:endParaRPr lang="en-US" b="1">
              <a:ea typeface="Cambr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109211-2BEF-E178-25A8-1856DB0D189F}"/>
              </a:ext>
            </a:extLst>
          </p:cNvPr>
          <p:cNvSpPr txBox="1"/>
          <p:nvPr/>
        </p:nvSpPr>
        <p:spPr>
          <a:xfrm>
            <a:off x="292930" y="986566"/>
            <a:ext cx="6288591" cy="54168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u="sng"/>
              <a:t>Standard LMS</a:t>
            </a:r>
            <a:endParaRPr lang="en-US" sz="2000" b="1" u="sng">
              <a:ea typeface="Cambria"/>
            </a:endParaRPr>
          </a:p>
          <a:p>
            <a:r>
              <a:rPr lang="en-US" b="1">
                <a:ea typeface="+mn-lt"/>
                <a:cs typeface="+mn-lt"/>
              </a:rPr>
              <a:t>Examples:</a:t>
            </a:r>
            <a:r>
              <a:rPr lang="en-US">
                <a:ea typeface="+mn-lt"/>
                <a:cs typeface="+mn-lt"/>
              </a:rPr>
              <a:t> Blackboard, Moodle, Canvas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Focus:</a:t>
            </a:r>
            <a:r>
              <a:rPr lang="en-US">
                <a:ea typeface="+mn-lt"/>
                <a:cs typeface="+mn-lt"/>
              </a:rPr>
              <a:t> Content delivery and course management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Limitation:</a:t>
            </a:r>
            <a:r>
              <a:rPr lang="en-US">
                <a:ea typeface="+mn-lt"/>
                <a:cs typeface="+mn-lt"/>
              </a:rPr>
              <a:t> Little personalization; no adaptation to learner profile or cognitive load</a:t>
            </a:r>
          </a:p>
          <a:p>
            <a:endParaRPr lang="en-US"/>
          </a:p>
          <a:p>
            <a:r>
              <a:rPr lang="en-US" sz="2000" b="1" u="sng"/>
              <a:t>Commercial AI Learning Platforms</a:t>
            </a:r>
            <a:endParaRPr lang="en-US" sz="2000" b="1" u="sng">
              <a:ea typeface="Cambria"/>
            </a:endParaRPr>
          </a:p>
          <a:p>
            <a:r>
              <a:rPr lang="en-US" b="1">
                <a:ea typeface="+mn-lt"/>
                <a:cs typeface="+mn-lt"/>
              </a:rPr>
              <a:t>Examples:</a:t>
            </a:r>
            <a:r>
              <a:rPr lang="en-US">
                <a:ea typeface="+mn-lt"/>
                <a:cs typeface="+mn-lt"/>
              </a:rPr>
              <a:t> Khan Academy, Duolingo, ALEKS, </a:t>
            </a:r>
            <a:r>
              <a:rPr lang="en-US" err="1">
                <a:ea typeface="+mn-lt"/>
                <a:cs typeface="+mn-lt"/>
              </a:rPr>
              <a:t>Knewton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Focus:</a:t>
            </a:r>
            <a:r>
              <a:rPr lang="en-US">
                <a:ea typeface="+mn-lt"/>
                <a:cs typeface="+mn-lt"/>
              </a:rPr>
              <a:t> Adaptive learning using performance data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Limitation:</a:t>
            </a:r>
            <a:r>
              <a:rPr lang="en-US">
                <a:ea typeface="+mn-lt"/>
                <a:cs typeface="+mn-lt"/>
              </a:rPr>
              <a:t> Limited consideration of cognitive style and real-time cognitive load</a:t>
            </a:r>
          </a:p>
          <a:p>
            <a:endParaRPr lang="en-US"/>
          </a:p>
          <a:p>
            <a:r>
              <a:rPr lang="en-US" sz="2000" b="1" u="sng"/>
              <a:t>Research Frameworks</a:t>
            </a:r>
            <a:endParaRPr lang="en-US" sz="2000" b="1" u="sng">
              <a:ea typeface="Cambria"/>
            </a:endParaRPr>
          </a:p>
          <a:p>
            <a:r>
              <a:rPr lang="en-US" b="1">
                <a:ea typeface="+mn-lt"/>
                <a:cs typeface="+mn-lt"/>
              </a:rPr>
              <a:t>Examples:</a:t>
            </a:r>
            <a:r>
              <a:rPr lang="en-US">
                <a:ea typeface="+mn-lt"/>
                <a:cs typeface="+mn-lt"/>
              </a:rPr>
              <a:t> STREAM, PAGE, </a:t>
            </a:r>
            <a:r>
              <a:rPr lang="en-US" err="1">
                <a:ea typeface="+mn-lt"/>
                <a:cs typeface="+mn-lt"/>
              </a:rPr>
              <a:t>Tamaxtil</a:t>
            </a:r>
            <a:r>
              <a:rPr lang="en-US">
                <a:ea typeface="+mn-lt"/>
                <a:cs typeface="+mn-lt"/>
              </a:rPr>
              <a:t>, ACPLOLS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Focus:</a:t>
            </a:r>
            <a:r>
              <a:rPr lang="en-US">
                <a:ea typeface="+mn-lt"/>
                <a:cs typeface="+mn-lt"/>
              </a:rPr>
              <a:t> Adaptation using factors like modality, personality, or learning styles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Limitation:</a:t>
            </a:r>
            <a:r>
              <a:rPr lang="en-US">
                <a:ea typeface="+mn-lt"/>
                <a:cs typeface="+mn-lt"/>
              </a:rPr>
              <a:t> Usually consider </a:t>
            </a:r>
            <a:r>
              <a:rPr lang="en-US" b="1">
                <a:ea typeface="+mn-lt"/>
                <a:cs typeface="+mn-lt"/>
              </a:rPr>
              <a:t>only one learner factor</a:t>
            </a:r>
            <a:r>
              <a:rPr lang="en-US">
                <a:ea typeface="+mn-lt"/>
                <a:cs typeface="+mn-lt"/>
              </a:rPr>
              <a:t>, not multiple together</a:t>
            </a:r>
          </a:p>
          <a:p>
            <a:endParaRPr lang="en-US">
              <a:ea typeface="+mn-lt"/>
              <a:cs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ED2D67-4C11-4266-9CA8-14DB9DA4CAB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IT22166074</a:t>
            </a:r>
            <a:r>
              <a:rPr lang="en-US" sz="1800" b="1">
                <a:solidFill>
                  <a:schemeClr val="tx1"/>
                </a:solidFill>
              </a:rPr>
              <a:t>| </a:t>
            </a:r>
            <a:r>
              <a:rPr lang="en-US" b="1">
                <a:solidFill>
                  <a:schemeClr val="tx1"/>
                </a:solidFill>
              </a:rPr>
              <a:t>Jayasinghe J.M.S.N.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 sz="1600" b="1">
                <a:solidFill>
                  <a:schemeClr val="tx1"/>
                </a:solidFill>
              </a:rPr>
              <a:t>R26-SE-004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4CD61BA-9856-BE05-398F-03412D02ABD0}"/>
              </a:ext>
            </a:extLst>
          </p:cNvPr>
          <p:cNvSpPr/>
          <p:nvPr/>
        </p:nvSpPr>
        <p:spPr>
          <a:xfrm>
            <a:off x="2200541" y="636283"/>
            <a:ext cx="2468729" cy="49374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/>
                </a:solidFill>
                <a:ea typeface="Cambria"/>
              </a:rPr>
              <a:t>Existing Systems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5D57D8-10A4-0563-5F82-63E344F86E5E}"/>
              </a:ext>
            </a:extLst>
          </p:cNvPr>
          <p:cNvSpPr/>
          <p:nvPr/>
        </p:nvSpPr>
        <p:spPr>
          <a:xfrm>
            <a:off x="8032581" y="636283"/>
            <a:ext cx="2468729" cy="4937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chemeClr val="bg1"/>
                </a:solidFill>
                <a:ea typeface="Cambria"/>
              </a:rPr>
              <a:t>Research Gap</a:t>
            </a:r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271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A8274-BF1D-E873-284E-186F01A0E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6411AF9-D0E0-0FB4-9C3A-C0EED5A99097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IT22166074</a:t>
            </a:r>
            <a:r>
              <a:rPr lang="en-US" sz="1800" b="1">
                <a:solidFill>
                  <a:schemeClr val="tx1"/>
                </a:solidFill>
              </a:rPr>
              <a:t>| </a:t>
            </a:r>
            <a:r>
              <a:rPr lang="en-US" b="1">
                <a:solidFill>
                  <a:schemeClr val="tx1"/>
                </a:solidFill>
              </a:rPr>
              <a:t>Jayasinghe J.M.S.N.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 sz="1600" b="1">
                <a:solidFill>
                  <a:schemeClr val="tx1"/>
                </a:solidFill>
              </a:rPr>
              <a:t>R26-SE-004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FC83C-5D26-EB9A-9820-4E7446D63250}"/>
              </a:ext>
            </a:extLst>
          </p:cNvPr>
          <p:cNvSpPr txBox="1"/>
          <p:nvPr/>
        </p:nvSpPr>
        <p:spPr>
          <a:xfrm>
            <a:off x="6521254" y="795779"/>
            <a:ext cx="5481917" cy="50783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endParaRPr lang="en-US" b="1" u="sng">
              <a:ea typeface="Cambria"/>
            </a:endParaRPr>
          </a:p>
          <a:p>
            <a:endParaRPr lang="en-US" b="1" u="sng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Develop an </a:t>
            </a:r>
            <a:r>
              <a:rPr lang="en-US" b="1">
                <a:ea typeface="+mn-lt"/>
                <a:cs typeface="+mn-lt"/>
              </a:rPr>
              <a:t>AI-based adaptive learning system</a:t>
            </a:r>
            <a:r>
              <a:rPr lang="en-US">
                <a:ea typeface="+mn-lt"/>
                <a:cs typeface="+mn-lt"/>
              </a:rPr>
              <a:t> that generates </a:t>
            </a:r>
            <a:r>
              <a:rPr lang="en-US" b="1">
                <a:ea typeface="+mn-lt"/>
                <a:cs typeface="+mn-lt"/>
              </a:rPr>
              <a:t>personalized content</a:t>
            </a:r>
            <a:r>
              <a:rPr lang="en-US">
                <a:ea typeface="+mn-lt"/>
                <a:cs typeface="+mn-lt"/>
              </a:rPr>
              <a:t> using: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Cognitive Style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User Academic Profile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Real-Time Cognitive Load</a:t>
            </a:r>
          </a:p>
          <a:p>
            <a:r>
              <a:rPr lang="en-US" b="1">
                <a:ea typeface="+mn-lt"/>
                <a:cs typeface="+mn-lt"/>
              </a:rPr>
              <a:t>Goal:</a:t>
            </a:r>
            <a:r>
              <a:rPr lang="en-US">
                <a:ea typeface="+mn-lt"/>
                <a:cs typeface="+mn-lt"/>
              </a:rPr>
              <a:t> Improve learning performance and reduce cognitive overload.</a:t>
            </a:r>
          </a:p>
          <a:p>
            <a:endParaRPr lang="en-US" b="1" u="sng">
              <a:ea typeface="Cambria"/>
            </a:endParaRPr>
          </a:p>
          <a:p>
            <a:endParaRPr lang="en-US" b="1" u="sng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Extract</a:t>
            </a:r>
            <a:r>
              <a:rPr lang="en-US">
                <a:ea typeface="+mn-lt"/>
                <a:cs typeface="+mn-lt"/>
              </a:rPr>
              <a:t> content from PDFs, PPTs, images, and videos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Clean &amp; preprocess</a:t>
            </a:r>
            <a:r>
              <a:rPr lang="en-US">
                <a:ea typeface="+mn-lt"/>
                <a:cs typeface="+mn-lt"/>
              </a:rPr>
              <a:t> text for LLM input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Store</a:t>
            </a:r>
            <a:r>
              <a:rPr lang="en-US">
                <a:ea typeface="+mn-lt"/>
                <a:cs typeface="+mn-lt"/>
              </a:rPr>
              <a:t> knowledge chunks in a knowledge base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Generate personalized content</a:t>
            </a:r>
            <a:r>
              <a:rPr lang="en-US">
                <a:ea typeface="+mn-lt"/>
                <a:cs typeface="+mn-lt"/>
              </a:rPr>
              <a:t> using </a:t>
            </a:r>
            <a:r>
              <a:rPr lang="en-US" b="1">
                <a:ea typeface="+mn-lt"/>
                <a:cs typeface="+mn-lt"/>
              </a:rPr>
              <a:t>RAG , GPT-4</a:t>
            </a:r>
            <a:endParaRPr lang="en-US">
              <a:ea typeface="+mn-lt"/>
              <a:cs typeface="+mn-lt"/>
            </a:endParaRPr>
          </a:p>
          <a:p>
            <a:endParaRPr lang="en-US" b="1" u="sng">
              <a:ea typeface="Cambri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BEF255-37BE-8114-3C8A-3902A4238023}"/>
              </a:ext>
            </a:extLst>
          </p:cNvPr>
          <p:cNvSpPr txBox="1"/>
          <p:nvPr/>
        </p:nvSpPr>
        <p:spPr>
          <a:xfrm>
            <a:off x="340487" y="1114346"/>
            <a:ext cx="6014720" cy="39241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400">
              <a:ea typeface="+mn-lt"/>
              <a:cs typeface="+mn-lt"/>
            </a:endParaRPr>
          </a:p>
          <a:p>
            <a:r>
              <a:rPr lang="en-US" sz="1700" b="1">
                <a:ea typeface="+mn-lt"/>
                <a:cs typeface="+mn-lt"/>
              </a:rPr>
              <a:t>Main Innovation:</a:t>
            </a:r>
            <a:br>
              <a:rPr lang="en-US" sz="1700" b="1">
                <a:ea typeface="+mn-lt"/>
                <a:cs typeface="+mn-lt"/>
              </a:rPr>
            </a:br>
            <a:r>
              <a:rPr lang="en-US" sz="1700" b="1">
                <a:ea typeface="+mn-lt"/>
                <a:cs typeface="+mn-lt"/>
              </a:rPr>
              <a:t> </a:t>
            </a:r>
            <a:r>
              <a:rPr lang="en-US" sz="1700">
                <a:ea typeface="+mn-lt"/>
                <a:cs typeface="+mn-lt"/>
              </a:rPr>
              <a:t>Dynamic within-lesson content conversion based on </a:t>
            </a:r>
            <a:r>
              <a:rPr lang="en-US" sz="1700" b="1">
                <a:ea typeface="+mn-lt"/>
                <a:cs typeface="+mn-lt"/>
              </a:rPr>
              <a:t>User Profile, Cognitive Style, and Real-Time Cognitive Load</a:t>
            </a:r>
            <a:r>
              <a:rPr lang="en-US" sz="1700">
                <a:ea typeface="+mn-lt"/>
                <a:cs typeface="+mn-lt"/>
              </a:rPr>
              <a:t>.</a:t>
            </a:r>
            <a:endParaRPr lang="en-US" sz="1700">
              <a:ea typeface="Cambria"/>
            </a:endParaRPr>
          </a:p>
          <a:p>
            <a:endParaRPr lang="en-US" sz="1700">
              <a:ea typeface="+mn-lt"/>
              <a:cs typeface="+mn-lt"/>
            </a:endParaRPr>
          </a:p>
          <a:p>
            <a:r>
              <a:rPr lang="en-US" sz="1700" b="1">
                <a:ea typeface="+mn-lt"/>
                <a:cs typeface="+mn-lt"/>
              </a:rPr>
              <a:t>Key Contributions:</a:t>
            </a:r>
            <a:endParaRPr lang="en-US" sz="17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700" b="1">
                <a:ea typeface="+mn-lt"/>
                <a:cs typeface="+mn-lt"/>
              </a:rPr>
              <a:t>Personalized Adaptation</a:t>
            </a:r>
            <a:r>
              <a:rPr lang="en-US" sz="1700">
                <a:ea typeface="+mn-lt"/>
                <a:cs typeface="+mn-lt"/>
              </a:rPr>
              <a:t> – content matches learner profile &amp; style</a:t>
            </a:r>
            <a:endParaRPr lang="en-US" sz="17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700" b="1">
                <a:ea typeface="+mn-lt"/>
                <a:cs typeface="+mn-lt"/>
              </a:rPr>
              <a:t>Continuous Monitoring</a:t>
            </a:r>
            <a:r>
              <a:rPr lang="en-US" sz="1700">
                <a:ea typeface="+mn-lt"/>
                <a:cs typeface="+mn-lt"/>
              </a:rPr>
              <a:t> – cognitive load tracked and adjusted in real time</a:t>
            </a:r>
            <a:endParaRPr lang="en-US" sz="17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700" b="1">
                <a:ea typeface="+mn-lt"/>
                <a:cs typeface="+mn-lt"/>
              </a:rPr>
              <a:t>Content Processing Pipeline</a:t>
            </a:r>
            <a:r>
              <a:rPr lang="en-US" sz="1700">
                <a:ea typeface="+mn-lt"/>
                <a:cs typeface="+mn-lt"/>
              </a:rPr>
              <a:t> – extraction and cleaning of materials</a:t>
            </a:r>
            <a:endParaRPr lang="en-US" sz="17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700" b="1">
                <a:ea typeface="+mn-lt"/>
                <a:cs typeface="+mn-lt"/>
              </a:rPr>
              <a:t>AI Generation &amp; Knowledge Base</a:t>
            </a:r>
            <a:r>
              <a:rPr lang="en-US" sz="1700">
                <a:ea typeface="+mn-lt"/>
                <a:cs typeface="+mn-lt"/>
              </a:rPr>
              <a:t> – </a:t>
            </a:r>
            <a:r>
              <a:rPr lang="en-US" sz="1700" b="1">
                <a:ea typeface="+mn-lt"/>
                <a:cs typeface="+mn-lt"/>
              </a:rPr>
              <a:t>GPT-4 and  RAG</a:t>
            </a:r>
            <a:r>
              <a:rPr lang="en-US" sz="1700">
                <a:ea typeface="+mn-lt"/>
                <a:cs typeface="+mn-lt"/>
              </a:rPr>
              <a:t> with source traceability</a:t>
            </a:r>
            <a:endParaRPr lang="en-US" sz="1700">
              <a:ea typeface="Cambria"/>
            </a:endParaRPr>
          </a:p>
          <a:p>
            <a:pPr algn="l"/>
            <a:endParaRPr lang="en-US" sz="1400">
              <a:ea typeface="Cambria"/>
            </a:endParaRPr>
          </a:p>
        </p:txBody>
      </p:sp>
      <p:pic>
        <p:nvPicPr>
          <p:cNvPr id="10" name="Picture 9" descr="A light bulb with rays of light&#10;&#10;AI-generated content may be incorrect.">
            <a:extLst>
              <a:ext uri="{FF2B5EF4-FFF2-40B4-BE49-F238E27FC236}">
                <a16:creationId xmlns:a16="http://schemas.microsoft.com/office/drawing/2014/main" id="{7C51A011-E929-FA7F-CE79-1A20334F0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546" y="5024045"/>
            <a:ext cx="1417918" cy="14687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27E90C-49BF-6DC3-5091-4E6B557610BE}"/>
              </a:ext>
            </a:extLst>
          </p:cNvPr>
          <p:cNvSpPr txBox="1"/>
          <p:nvPr/>
        </p:nvSpPr>
        <p:spPr>
          <a:xfrm>
            <a:off x="2803318" y="207199"/>
            <a:ext cx="8609555" cy="8802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1600" b="1">
                <a:ea typeface="Cambria"/>
              </a:rPr>
              <a:t>Cognitive-Adaptive Content Personalization Engine (CACPE)</a:t>
            </a:r>
            <a:endParaRPr lang="en-US" sz="1600">
              <a:ea typeface="Cambria"/>
            </a:endParaRPr>
          </a:p>
          <a:p>
            <a:pPr>
              <a:spcBef>
                <a:spcPct val="20000"/>
              </a:spcBef>
            </a:pPr>
            <a:endParaRPr lang="en-US" sz="1600">
              <a:ea typeface="Cambria"/>
            </a:endParaRPr>
          </a:p>
          <a:p>
            <a:pPr algn="l"/>
            <a:endParaRPr lang="en-US" sz="1600">
              <a:ea typeface="Cambri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0120DE9-95A4-026A-84EC-46BC3D6199F6}"/>
              </a:ext>
            </a:extLst>
          </p:cNvPr>
          <p:cNvSpPr/>
          <p:nvPr/>
        </p:nvSpPr>
        <p:spPr>
          <a:xfrm>
            <a:off x="579301" y="676168"/>
            <a:ext cx="2640908" cy="5977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  <a:ea typeface="Cambria"/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ea typeface="Cambria"/>
              </a:rPr>
              <a:t>Research Novelty</a:t>
            </a:r>
            <a:endParaRPr lang="en-US">
              <a:solidFill>
                <a:schemeClr val="bg1"/>
              </a:solidFill>
            </a:endParaRPr>
          </a:p>
          <a:p>
            <a:pPr algn="ctr"/>
            <a:endParaRPr lang="en-US">
              <a:ea typeface="Cambria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19B544-B386-366C-49BD-6E3B55E1F64E}"/>
              </a:ext>
            </a:extLst>
          </p:cNvPr>
          <p:cNvSpPr/>
          <p:nvPr/>
        </p:nvSpPr>
        <p:spPr>
          <a:xfrm>
            <a:off x="6644819" y="929676"/>
            <a:ext cx="2606966" cy="322071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ea typeface="Cambria"/>
              </a:rPr>
              <a:t>Main Objective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B15545-A8E9-E406-C91D-E554F3DB0E2F}"/>
              </a:ext>
            </a:extLst>
          </p:cNvPr>
          <p:cNvSpPr/>
          <p:nvPr/>
        </p:nvSpPr>
        <p:spPr>
          <a:xfrm>
            <a:off x="6644819" y="3540647"/>
            <a:ext cx="2606966" cy="322071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ea typeface="Cambria"/>
              </a:rPr>
              <a:t>Specific Objectives</a:t>
            </a:r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436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CF556-E17E-FB0B-FB31-936AF5BA3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04ABC3-7F83-5977-8140-A827FE73155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IT22166074</a:t>
            </a:r>
            <a:r>
              <a:rPr lang="en-US" sz="1800" b="1">
                <a:solidFill>
                  <a:schemeClr val="tx1"/>
                </a:solidFill>
              </a:rPr>
              <a:t>| </a:t>
            </a:r>
            <a:r>
              <a:rPr lang="en-US" b="1">
                <a:solidFill>
                  <a:schemeClr val="tx1"/>
                </a:solidFill>
              </a:rPr>
              <a:t>Jayasinghe J.M.S.N.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 sz="1600" b="1">
                <a:solidFill>
                  <a:schemeClr val="tx1"/>
                </a:solidFill>
              </a:rPr>
              <a:t>R26-SE-004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10" name="Picture 9" descr="A light bulb with rays of light&#10;&#10;AI-generated content may be incorrect.">
            <a:extLst>
              <a:ext uri="{FF2B5EF4-FFF2-40B4-BE49-F238E27FC236}">
                <a16:creationId xmlns:a16="http://schemas.microsoft.com/office/drawing/2014/main" id="{97EFFE42-28A9-D5D2-FBC7-9DA6ED69E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870" y="4138781"/>
            <a:ext cx="1765300" cy="1816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AF7F117-2866-66B0-DE38-A6C3F8F8E24B}"/>
              </a:ext>
            </a:extLst>
          </p:cNvPr>
          <p:cNvSpPr txBox="1"/>
          <p:nvPr/>
        </p:nvSpPr>
        <p:spPr>
          <a:xfrm>
            <a:off x="2635230" y="5493"/>
            <a:ext cx="8609555" cy="8802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1600" b="1">
                <a:ea typeface="Cambria"/>
              </a:rPr>
              <a:t>Cognitive-Adaptive Content Personalization Engine (CACPE)</a:t>
            </a:r>
            <a:endParaRPr lang="en-US" sz="1600">
              <a:ea typeface="Cambria"/>
            </a:endParaRPr>
          </a:p>
          <a:p>
            <a:pPr>
              <a:spcBef>
                <a:spcPct val="20000"/>
              </a:spcBef>
            </a:pPr>
            <a:endParaRPr lang="en-US" sz="1600">
              <a:ea typeface="Cambria"/>
            </a:endParaRPr>
          </a:p>
          <a:p>
            <a:pPr algn="l"/>
            <a:endParaRPr lang="en-US" sz="1600">
              <a:ea typeface="Cambria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12476B5-3021-3040-0EE9-80DFE1DD9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023" y="974405"/>
            <a:ext cx="6891138" cy="5371803"/>
          </a:xfr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endParaRPr lang="en-US" sz="1800" b="1">
              <a:solidFill>
                <a:schemeClr val="tx1"/>
              </a:solidFill>
            </a:endParaRPr>
          </a:p>
          <a:p>
            <a:endParaRPr lang="en-US" sz="1800" b="1">
              <a:solidFill>
                <a:schemeClr val="tx1"/>
              </a:solidFill>
            </a:endParaRPr>
          </a:p>
          <a:p>
            <a:r>
              <a:rPr lang="en-US" sz="1800" b="1">
                <a:solidFill>
                  <a:schemeClr val="tx1"/>
                </a:solidFill>
              </a:rPr>
              <a:t>Phase 1 – Resource Organization (Extended ACPLOLS)</a:t>
            </a:r>
            <a:br>
              <a:rPr lang="en-US" sz="1800"/>
            </a:br>
            <a:r>
              <a:rPr lang="en-US" sz="1700">
                <a:solidFill>
                  <a:schemeClr val="tx1"/>
                </a:solidFill>
              </a:rPr>
              <a:t>Upload learning materials structured as </a:t>
            </a:r>
            <a:r>
              <a:rPr lang="en-US" sz="1700" b="1">
                <a:solidFill>
                  <a:schemeClr val="tx1"/>
                </a:solidFill>
              </a:rPr>
              <a:t>Summary, Introduction, Content, Activity, Assessment</a:t>
            </a:r>
            <a:r>
              <a:rPr lang="en-US" sz="1700">
                <a:solidFill>
                  <a:schemeClr val="tx1"/>
                </a:solidFill>
              </a:rPr>
              <a:t>, including diagrams and images.</a:t>
            </a:r>
            <a:endParaRPr lang="en-US" sz="1700">
              <a:solidFill>
                <a:schemeClr val="tx1"/>
              </a:solidFill>
              <a:ea typeface="Cambria"/>
            </a:endParaRPr>
          </a:p>
          <a:p>
            <a:endParaRPr lang="en-US" sz="1800">
              <a:solidFill>
                <a:schemeClr val="tx1"/>
              </a:solidFill>
              <a:ea typeface="Cambria"/>
            </a:endParaRPr>
          </a:p>
          <a:p>
            <a:r>
              <a:rPr lang="en-US" sz="1800" b="1">
                <a:solidFill>
                  <a:schemeClr val="tx1"/>
                </a:solidFill>
              </a:rPr>
              <a:t>Phase 2 – Multimodal Extraction</a:t>
            </a:r>
            <a:br>
              <a:rPr lang="en-US" sz="1800"/>
            </a:br>
            <a:r>
              <a:rPr lang="en-US" sz="1700">
                <a:solidFill>
                  <a:schemeClr val="tx1"/>
                </a:solidFill>
              </a:rPr>
              <a:t>Extract data from </a:t>
            </a:r>
            <a:r>
              <a:rPr lang="en-US" sz="1700" b="1">
                <a:solidFill>
                  <a:schemeClr val="tx1"/>
                </a:solidFill>
              </a:rPr>
              <a:t>PDFs, PPTs, videos, and images</a:t>
            </a:r>
            <a:r>
              <a:rPr lang="en-US" sz="1700">
                <a:solidFill>
                  <a:schemeClr val="tx1"/>
                </a:solidFill>
              </a:rPr>
              <a:t> using extraction and OCR tools.</a:t>
            </a:r>
            <a:endParaRPr lang="en-US" sz="1700">
              <a:solidFill>
                <a:schemeClr val="tx1"/>
              </a:solidFill>
              <a:ea typeface="Cambria"/>
            </a:endParaRPr>
          </a:p>
          <a:p>
            <a:endParaRPr lang="en-US" sz="1600">
              <a:solidFill>
                <a:schemeClr val="tx1"/>
              </a:solidFill>
              <a:ea typeface="Cambria"/>
            </a:endParaRPr>
          </a:p>
          <a:p>
            <a:r>
              <a:rPr lang="en-US" sz="1800" b="1">
                <a:solidFill>
                  <a:schemeClr val="tx1"/>
                </a:solidFill>
              </a:rPr>
              <a:t>Phase 3 – Cleaning &amp; Knowledge Base</a:t>
            </a:r>
            <a:br>
              <a:rPr lang="en-US" sz="1800"/>
            </a:br>
            <a:r>
              <a:rPr lang="en-US" sz="1700">
                <a:solidFill>
                  <a:schemeClr val="tx1"/>
                </a:solidFill>
              </a:rPr>
              <a:t>Clean text and store </a:t>
            </a:r>
            <a:r>
              <a:rPr lang="en-US" sz="1700" b="1">
                <a:solidFill>
                  <a:schemeClr val="tx1"/>
                </a:solidFill>
              </a:rPr>
              <a:t>semantic knowledge chunks in a vector database</a:t>
            </a:r>
            <a:r>
              <a:rPr lang="en-US" sz="1700">
                <a:solidFill>
                  <a:schemeClr val="tx1"/>
                </a:solidFill>
              </a:rPr>
              <a:t>.</a:t>
            </a:r>
            <a:endParaRPr lang="en-US" sz="1700">
              <a:solidFill>
                <a:schemeClr val="tx1"/>
              </a:solidFill>
              <a:ea typeface="Cambria"/>
            </a:endParaRPr>
          </a:p>
          <a:p>
            <a:endParaRPr lang="en-US" sz="1800">
              <a:solidFill>
                <a:schemeClr val="tx1"/>
              </a:solidFill>
              <a:ea typeface="Cambria"/>
            </a:endParaRPr>
          </a:p>
          <a:p>
            <a:r>
              <a:rPr lang="en-US" sz="1800" b="1">
                <a:solidFill>
                  <a:schemeClr val="tx1"/>
                </a:solidFill>
              </a:rPr>
              <a:t>Phase 4 – Context-Aware Prompt Builder (RAG)</a:t>
            </a:r>
            <a:br>
              <a:rPr lang="en-US" sz="1800"/>
            </a:br>
            <a:r>
              <a:rPr lang="en-US" sz="1700">
                <a:solidFill>
                  <a:schemeClr val="tx1"/>
                </a:solidFill>
              </a:rPr>
              <a:t>Combine </a:t>
            </a:r>
            <a:r>
              <a:rPr lang="en-US" sz="1700" b="1">
                <a:solidFill>
                  <a:schemeClr val="tx1"/>
                </a:solidFill>
              </a:rPr>
              <a:t>user profile, cognitive style, cognitive load, and retrieved knowledge</a:t>
            </a:r>
            <a:r>
              <a:rPr lang="en-US" sz="1700">
                <a:solidFill>
                  <a:schemeClr val="tx1"/>
                </a:solidFill>
              </a:rPr>
              <a:t>.</a:t>
            </a:r>
            <a:endParaRPr lang="en-US" sz="1700">
              <a:solidFill>
                <a:schemeClr val="tx1"/>
              </a:solidFill>
              <a:ea typeface="Cambria"/>
            </a:endParaRPr>
          </a:p>
          <a:p>
            <a:endParaRPr lang="en-US" sz="1800">
              <a:solidFill>
                <a:schemeClr val="tx1"/>
              </a:solidFill>
              <a:ea typeface="Cambria"/>
            </a:endParaRPr>
          </a:p>
          <a:p>
            <a:r>
              <a:rPr lang="en-US" sz="1800" b="1">
                <a:solidFill>
                  <a:schemeClr val="tx1"/>
                </a:solidFill>
              </a:rPr>
              <a:t>Phase 5 – GPT-4 Content Transformation</a:t>
            </a:r>
            <a:br>
              <a:rPr lang="en-US" sz="1800"/>
            </a:br>
            <a:r>
              <a:rPr lang="en-US" sz="1700">
                <a:solidFill>
                  <a:schemeClr val="tx1"/>
                </a:solidFill>
              </a:rPr>
              <a:t>Generate </a:t>
            </a:r>
            <a:r>
              <a:rPr lang="en-US" sz="1700" b="1">
                <a:solidFill>
                  <a:schemeClr val="tx1"/>
                </a:solidFill>
              </a:rPr>
              <a:t>personalized instructional content</a:t>
            </a:r>
            <a:r>
              <a:rPr lang="en-US" sz="1700">
                <a:solidFill>
                  <a:schemeClr val="tx1"/>
                </a:solidFill>
              </a:rPr>
              <a:t> based on learner needs.</a:t>
            </a:r>
            <a:endParaRPr lang="en-US" sz="1700">
              <a:solidFill>
                <a:schemeClr val="tx1"/>
              </a:solidFill>
              <a:ea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A1BDDF-CA55-82B5-117F-1B279EEFF403}"/>
              </a:ext>
            </a:extLst>
          </p:cNvPr>
          <p:cNvSpPr txBox="1"/>
          <p:nvPr/>
        </p:nvSpPr>
        <p:spPr>
          <a:xfrm>
            <a:off x="7667722" y="1032553"/>
            <a:ext cx="4198551" cy="23982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/>
                </a:solidFill>
              </a:rPr>
              <a:t>Design-Based Research (DBR)</a:t>
            </a:r>
            <a:endParaRPr lang="en-US" sz="1700">
              <a:solidFill>
                <a:schemeClr val="tx1"/>
              </a:solidFill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/>
                </a:solidFill>
              </a:rPr>
              <a:t>Cognitive Theory of Multimedia Learning (CTML)</a:t>
            </a:r>
            <a:endParaRPr lang="en-US" sz="1700">
              <a:solidFill>
                <a:schemeClr val="tx1"/>
              </a:solidFill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/>
                </a:solidFill>
              </a:rPr>
              <a:t>ACPLOLS Adaptive Learning Method</a:t>
            </a:r>
            <a:endParaRPr lang="en-US" sz="1700">
              <a:solidFill>
                <a:schemeClr val="tx1"/>
              </a:solidFill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/>
                </a:solidFill>
              </a:rPr>
              <a:t>Retrieval-Augmented Generation (RAG)</a:t>
            </a:r>
            <a:endParaRPr lang="en-US" sz="1700">
              <a:solidFill>
                <a:schemeClr val="tx1"/>
              </a:solidFill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/>
                </a:solidFill>
              </a:rPr>
              <a:t>Universal Design for Learning (UDL)</a:t>
            </a:r>
            <a:endParaRPr lang="en-US" sz="1700">
              <a:solidFill>
                <a:schemeClr val="tx1"/>
              </a:solidFill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C0769F-393E-0727-A1B8-87469FB47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48" y="3951948"/>
            <a:ext cx="4052913" cy="2203955"/>
          </a:xfrm>
          <a:prstGeom prst="rect">
            <a:avLst/>
          </a:prstGeom>
          <a:ln w="28575">
            <a:solidFill>
              <a:srgbClr val="002060"/>
            </a:solidFill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923BC67-9B16-B61F-086A-0CD03F172FE7}"/>
              </a:ext>
            </a:extLst>
          </p:cNvPr>
          <p:cNvSpPr/>
          <p:nvPr/>
        </p:nvSpPr>
        <p:spPr>
          <a:xfrm>
            <a:off x="1776166" y="636294"/>
            <a:ext cx="2503997" cy="5113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u="sng">
              <a:solidFill>
                <a:schemeClr val="tx1"/>
              </a:solidFill>
              <a:ea typeface="Cambria"/>
            </a:endParaRPr>
          </a:p>
          <a:p>
            <a:pPr algn="ctr"/>
            <a:r>
              <a:rPr lang="en-US" sz="2000" b="1">
                <a:solidFill>
                  <a:schemeClr val="bg1"/>
                </a:solidFill>
                <a:ea typeface="Cambria"/>
              </a:rPr>
              <a:t>Methodology</a:t>
            </a:r>
          </a:p>
          <a:p>
            <a:pPr algn="ctr"/>
            <a:endParaRPr lang="en-US">
              <a:ea typeface="Cambria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5AB912-D519-306D-F378-C12C9C94F90B}"/>
              </a:ext>
            </a:extLst>
          </p:cNvPr>
          <p:cNvSpPr/>
          <p:nvPr/>
        </p:nvSpPr>
        <p:spPr>
          <a:xfrm>
            <a:off x="8118695" y="636294"/>
            <a:ext cx="3187556" cy="5113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u="sng">
              <a:solidFill>
                <a:schemeClr val="tx1"/>
              </a:solidFill>
              <a:ea typeface="Cambria"/>
            </a:endParaRPr>
          </a:p>
          <a:p>
            <a:endParaRPr lang="en-US" sz="2000" b="1">
              <a:solidFill>
                <a:schemeClr val="bg1"/>
              </a:solidFill>
              <a:ea typeface="Cambria"/>
            </a:endParaRPr>
          </a:p>
          <a:p>
            <a:pPr algn="ctr"/>
            <a:r>
              <a:rPr lang="en-US" sz="2000" b="1">
                <a:solidFill>
                  <a:schemeClr val="bg1"/>
                </a:solidFill>
                <a:ea typeface="Cambria"/>
              </a:rPr>
              <a:t>Domain Knowledge Used</a:t>
            </a:r>
            <a:endParaRPr lang="en-US" sz="2000">
              <a:solidFill>
                <a:schemeClr val="bg1"/>
              </a:solidFill>
              <a:ea typeface="Cambria"/>
            </a:endParaRPr>
          </a:p>
          <a:p>
            <a:pPr algn="ctr"/>
            <a:endParaRPr lang="en-US" sz="2000" b="1">
              <a:solidFill>
                <a:schemeClr val="bg1"/>
              </a:solidFill>
              <a:ea typeface="Cambria"/>
            </a:endParaRPr>
          </a:p>
          <a:p>
            <a:pPr algn="ctr"/>
            <a:endParaRPr lang="en-US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799492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7E96F-F816-7640-75C9-4803FF534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B18A18-BF45-5D33-A5CA-46E68D8F3AA8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IT22166074</a:t>
            </a:r>
            <a:r>
              <a:rPr lang="en-US" sz="1800" b="1">
                <a:solidFill>
                  <a:schemeClr val="tx1"/>
                </a:solidFill>
              </a:rPr>
              <a:t>| </a:t>
            </a:r>
            <a:r>
              <a:rPr lang="en-US" b="1">
                <a:solidFill>
                  <a:schemeClr val="tx1"/>
                </a:solidFill>
              </a:rPr>
              <a:t>Jayasinghe J.M.S.N.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 sz="1600" b="1">
                <a:solidFill>
                  <a:schemeClr val="tx1"/>
                </a:solidFill>
              </a:rPr>
              <a:t>R26-SE-004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20EA27-6ACD-A7C2-381B-0F7CE7B8D6EA}"/>
              </a:ext>
            </a:extLst>
          </p:cNvPr>
          <p:cNvSpPr txBox="1"/>
          <p:nvPr/>
        </p:nvSpPr>
        <p:spPr>
          <a:xfrm>
            <a:off x="6533926" y="893333"/>
            <a:ext cx="5453380" cy="34932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700" b="1" u="sng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700" b="1">
                <a:ea typeface="+mn-lt"/>
                <a:cs typeface="+mn-lt"/>
              </a:rPr>
              <a:t>Core Metric – Cognitive Load Reduction:</a:t>
            </a:r>
            <a:r>
              <a:rPr lang="en-US" sz="1700">
                <a:ea typeface="+mn-lt"/>
                <a:cs typeface="+mn-lt"/>
              </a:rPr>
              <a:t> Verify that </a:t>
            </a:r>
            <a:r>
              <a:rPr lang="en-US" sz="1700" b="1">
                <a:ea typeface="+mn-lt"/>
                <a:cs typeface="+mn-lt"/>
              </a:rPr>
              <a:t>personalized resources reduce cognitive load over time</a:t>
            </a:r>
            <a:r>
              <a:rPr lang="en-US" sz="1700">
                <a:ea typeface="+mn-lt"/>
                <a:cs typeface="+mn-lt"/>
              </a:rPr>
              <a:t>.</a:t>
            </a:r>
            <a:endParaRPr lang="en-US" sz="1700">
              <a:ea typeface="Cambria"/>
            </a:endParaRPr>
          </a:p>
          <a:p>
            <a:endParaRPr lang="en-US" sz="17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700" b="1">
                <a:ea typeface="+mn-lt"/>
                <a:cs typeface="+mn-lt"/>
              </a:rPr>
              <a:t>Expert Review:</a:t>
            </a:r>
            <a:r>
              <a:rPr lang="en-US" sz="1700">
                <a:ea typeface="+mn-lt"/>
                <a:cs typeface="+mn-lt"/>
              </a:rPr>
              <a:t> Evaluate </a:t>
            </a:r>
            <a:r>
              <a:rPr lang="en-US" sz="1700" b="1">
                <a:ea typeface="+mn-lt"/>
                <a:cs typeface="+mn-lt"/>
              </a:rPr>
              <a:t>accuracy, clarity, and personalization quality</a:t>
            </a:r>
            <a:r>
              <a:rPr lang="en-US" sz="1700">
                <a:ea typeface="+mn-lt"/>
                <a:cs typeface="+mn-lt"/>
              </a:rPr>
              <a:t>.</a:t>
            </a:r>
            <a:endParaRPr lang="en-US" sz="1700">
              <a:ea typeface="Cambria"/>
            </a:endParaRPr>
          </a:p>
          <a:p>
            <a:endParaRPr lang="en-US" sz="17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700" b="1">
                <a:ea typeface="+mn-lt"/>
                <a:cs typeface="+mn-lt"/>
              </a:rPr>
              <a:t>Learner Evaluation: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b="1">
                <a:ea typeface="+mn-lt"/>
                <a:cs typeface="+mn-lt"/>
              </a:rPr>
              <a:t>A/B testing with pre–post tests</a:t>
            </a:r>
            <a:r>
              <a:rPr lang="en-US" sz="1700">
                <a:ea typeface="+mn-lt"/>
                <a:cs typeface="+mn-lt"/>
              </a:rPr>
              <a:t> for learning improvement.</a:t>
            </a:r>
            <a:endParaRPr lang="en-US" sz="1700">
              <a:ea typeface="Cambria"/>
            </a:endParaRPr>
          </a:p>
          <a:p>
            <a:endParaRPr lang="en-US" sz="17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700" b="1">
                <a:ea typeface="+mn-lt"/>
                <a:cs typeface="+mn-lt"/>
              </a:rPr>
              <a:t>User Feedback: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b="1">
                <a:ea typeface="+mn-lt"/>
                <a:cs typeface="+mn-lt"/>
              </a:rPr>
              <a:t>UEQ surveys and interviews</a:t>
            </a:r>
            <a:r>
              <a:rPr lang="en-US" sz="1700">
                <a:ea typeface="+mn-lt"/>
                <a:cs typeface="+mn-lt"/>
              </a:rPr>
              <a:t> for usability and satisfaction.</a:t>
            </a:r>
            <a:endParaRPr lang="en-US" sz="1700">
              <a:ea typeface="Cambri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AD484B-0B15-34B5-3B78-7409EDFA3E24}"/>
              </a:ext>
            </a:extLst>
          </p:cNvPr>
          <p:cNvSpPr txBox="1"/>
          <p:nvPr/>
        </p:nvSpPr>
        <p:spPr>
          <a:xfrm>
            <a:off x="160617" y="4477425"/>
            <a:ext cx="6137835" cy="17543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endParaRPr lang="en-US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Data Sourcing:</a:t>
            </a:r>
            <a:r>
              <a:rPr lang="en-US">
                <a:ea typeface="+mn-lt"/>
                <a:cs typeface="+mn-lt"/>
              </a:rPr>
              <a:t> Materials collected using the </a:t>
            </a:r>
            <a:r>
              <a:rPr lang="en-US" b="1">
                <a:ea typeface="+mn-lt"/>
                <a:cs typeface="+mn-lt"/>
              </a:rPr>
              <a:t>ACPLOLS structure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Privacy:</a:t>
            </a:r>
            <a:r>
              <a:rPr lang="en-US">
                <a:ea typeface="+mn-lt"/>
                <a:cs typeface="+mn-lt"/>
              </a:rPr>
              <a:t> Student data protected via </a:t>
            </a:r>
            <a:r>
              <a:rPr lang="en-US" b="1">
                <a:ea typeface="+mn-lt"/>
                <a:cs typeface="+mn-lt"/>
              </a:rPr>
              <a:t>encryption and anonymization</a:t>
            </a:r>
            <a:r>
              <a:rPr lang="en-US">
                <a:ea typeface="+mn-lt"/>
                <a:cs typeface="+mn-lt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264327-B7D9-C411-A276-3E0DD921C48B}"/>
              </a:ext>
            </a:extLst>
          </p:cNvPr>
          <p:cNvSpPr txBox="1"/>
          <p:nvPr/>
        </p:nvSpPr>
        <p:spPr>
          <a:xfrm>
            <a:off x="160618" y="948261"/>
            <a:ext cx="6132754" cy="323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Calibri"/>
              <a:buAutoNum type="arabicPeriod"/>
            </a:pPr>
            <a:r>
              <a:rPr lang="en-US" sz="1700" b="1">
                <a:solidFill>
                  <a:schemeClr val="tx1"/>
                </a:solidFill>
              </a:rPr>
              <a:t>Multimodal Extraction:</a:t>
            </a:r>
            <a:r>
              <a:rPr lang="en-US" sz="1700">
                <a:solidFill>
                  <a:schemeClr val="tx1"/>
                </a:solidFill>
              </a:rPr>
              <a:t> </a:t>
            </a:r>
            <a:r>
              <a:rPr lang="en-US" sz="1700" err="1">
                <a:solidFill>
                  <a:schemeClr val="tx1"/>
                </a:solidFill>
              </a:rPr>
              <a:t>pdfminer</a:t>
            </a:r>
            <a:r>
              <a:rPr lang="en-US" sz="1700">
                <a:solidFill>
                  <a:schemeClr val="tx1"/>
                </a:solidFill>
              </a:rPr>
              <a:t>, </a:t>
            </a:r>
            <a:r>
              <a:rPr lang="en-US" sz="1700" err="1">
                <a:solidFill>
                  <a:schemeClr val="tx1"/>
                </a:solidFill>
              </a:rPr>
              <a:t>BeautifulSoup</a:t>
            </a:r>
            <a:r>
              <a:rPr lang="en-US" sz="1700">
                <a:solidFill>
                  <a:schemeClr val="tx1"/>
                </a:solidFill>
              </a:rPr>
              <a:t>, </a:t>
            </a:r>
            <a:r>
              <a:rPr lang="en-US" sz="1700" err="1">
                <a:solidFill>
                  <a:schemeClr val="tx1"/>
                </a:solidFill>
              </a:rPr>
              <a:t>pydub</a:t>
            </a:r>
            <a:r>
              <a:rPr lang="en-US" sz="1700">
                <a:solidFill>
                  <a:schemeClr val="tx1"/>
                </a:solidFill>
              </a:rPr>
              <a:t>, </a:t>
            </a:r>
            <a:r>
              <a:rPr lang="en-US" sz="1700" err="1">
                <a:solidFill>
                  <a:schemeClr val="tx1"/>
                </a:solidFill>
              </a:rPr>
              <a:t>OpenVoice</a:t>
            </a:r>
            <a:r>
              <a:rPr lang="en-US" sz="1700">
                <a:solidFill>
                  <a:schemeClr val="tx1"/>
                </a:solidFill>
              </a:rPr>
              <a:t>, Tesseract OCR</a:t>
            </a:r>
            <a:endParaRPr lang="en-US" sz="1700">
              <a:solidFill>
                <a:schemeClr val="tx1"/>
              </a:solidFill>
              <a:ea typeface="Cambria"/>
            </a:endParaRPr>
          </a:p>
          <a:p>
            <a:pPr marL="342900" indent="-342900">
              <a:buFont typeface="+mj-lt"/>
              <a:buAutoNum type="arabicPeriod"/>
            </a:pPr>
            <a:endParaRPr lang="en-US" sz="1700">
              <a:solidFill>
                <a:schemeClr val="tx1"/>
              </a:solidFill>
              <a:ea typeface="Cambria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700" b="1">
                <a:solidFill>
                  <a:schemeClr val="tx1"/>
                </a:solidFill>
              </a:rPr>
              <a:t>Text Processing &amp; NLP:</a:t>
            </a:r>
            <a:r>
              <a:rPr lang="en-US" sz="1700">
                <a:solidFill>
                  <a:schemeClr val="tx1"/>
                </a:solidFill>
              </a:rPr>
              <a:t> clean-text, </a:t>
            </a:r>
            <a:r>
              <a:rPr lang="en-US" sz="1700" err="1">
                <a:solidFill>
                  <a:schemeClr val="tx1"/>
                </a:solidFill>
              </a:rPr>
              <a:t>pyspellchecker</a:t>
            </a:r>
            <a:r>
              <a:rPr lang="en-US" sz="1700">
                <a:solidFill>
                  <a:schemeClr val="tx1"/>
                </a:solidFill>
              </a:rPr>
              <a:t>, BERT </a:t>
            </a:r>
            <a:endParaRPr lang="en-US" sz="1700">
              <a:solidFill>
                <a:schemeClr val="tx1"/>
              </a:solidFill>
              <a:ea typeface="Cambria"/>
            </a:endParaRPr>
          </a:p>
          <a:p>
            <a:pPr marL="342900" indent="-342900">
              <a:buFont typeface="+mj-lt"/>
              <a:buAutoNum type="arabicPeriod"/>
            </a:pPr>
            <a:endParaRPr lang="en-US" sz="1700">
              <a:solidFill>
                <a:schemeClr val="tx1"/>
              </a:solidFill>
              <a:ea typeface="Cambria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700" b="1">
                <a:solidFill>
                  <a:schemeClr val="tx1"/>
                </a:solidFill>
              </a:rPr>
              <a:t>Knowledge Management:</a:t>
            </a:r>
            <a:r>
              <a:rPr lang="en-US" sz="1700">
                <a:solidFill>
                  <a:schemeClr val="tx1"/>
                </a:solidFill>
              </a:rPr>
              <a:t> Vector Database, Embedding Models</a:t>
            </a:r>
            <a:endParaRPr lang="en-US" sz="1700">
              <a:solidFill>
                <a:schemeClr val="tx1"/>
              </a:solidFill>
              <a:ea typeface="Cambria"/>
            </a:endParaRPr>
          </a:p>
          <a:p>
            <a:pPr marL="342900" indent="-342900">
              <a:buFont typeface="+mj-lt"/>
              <a:buAutoNum type="arabicPeriod"/>
            </a:pPr>
            <a:endParaRPr lang="en-US" sz="1700">
              <a:solidFill>
                <a:schemeClr val="tx1"/>
              </a:solidFill>
              <a:ea typeface="Cambria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1700" b="1">
                <a:solidFill>
                  <a:schemeClr val="tx1"/>
                </a:solidFill>
              </a:rPr>
              <a:t>Generative AI Model:</a:t>
            </a:r>
            <a:r>
              <a:rPr lang="it-IT" sz="1700">
                <a:solidFill>
                  <a:schemeClr val="tx1"/>
                </a:solidFill>
              </a:rPr>
              <a:t> GPT-4 Large Language Model</a:t>
            </a:r>
            <a:endParaRPr lang="it-IT" sz="1700">
              <a:solidFill>
                <a:schemeClr val="tx1"/>
              </a:solidFill>
              <a:ea typeface="Cambria"/>
            </a:endParaRPr>
          </a:p>
          <a:p>
            <a:pPr marL="342900" indent="-342900">
              <a:buFont typeface="+mj-lt"/>
              <a:buAutoNum type="arabicPeriod"/>
            </a:pPr>
            <a:endParaRPr lang="it-IT" sz="1700">
              <a:solidFill>
                <a:schemeClr val="tx1"/>
              </a:solidFill>
              <a:ea typeface="Cambria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700" b="1">
                <a:solidFill>
                  <a:schemeClr val="tx1"/>
                </a:solidFill>
              </a:rPr>
              <a:t>Semantic Knowledge Storage:</a:t>
            </a:r>
            <a:r>
              <a:rPr lang="en-US" sz="1700">
                <a:solidFill>
                  <a:schemeClr val="tx1"/>
                </a:solidFill>
              </a:rPr>
              <a:t> Vector Database with Embedding Models</a:t>
            </a:r>
            <a:endParaRPr lang="en-US" sz="1700">
              <a:solidFill>
                <a:schemeClr val="tx1"/>
              </a:solidFill>
              <a:ea typeface="Cambri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440325-8A29-073C-3B76-32B208A0ACB5}"/>
              </a:ext>
            </a:extLst>
          </p:cNvPr>
          <p:cNvSpPr txBox="1"/>
          <p:nvPr/>
        </p:nvSpPr>
        <p:spPr>
          <a:xfrm>
            <a:off x="2825730" y="16699"/>
            <a:ext cx="8609555" cy="8802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1600" b="1">
                <a:ea typeface="Cambria"/>
              </a:rPr>
              <a:t>Cognitive-Adaptive Content Personalization Engine (CACPE)</a:t>
            </a:r>
            <a:endParaRPr lang="en-US" sz="1600">
              <a:ea typeface="Cambria"/>
            </a:endParaRPr>
          </a:p>
          <a:p>
            <a:pPr>
              <a:spcBef>
                <a:spcPct val="20000"/>
              </a:spcBef>
            </a:pPr>
            <a:endParaRPr lang="en-US" sz="1600">
              <a:ea typeface="Cambria"/>
            </a:endParaRPr>
          </a:p>
          <a:p>
            <a:pPr algn="l"/>
            <a:endParaRPr lang="en-US" sz="1600">
              <a:ea typeface="Cambri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BCF1FD1-CCFE-26BA-839F-8E5FA2FD8AAF}"/>
              </a:ext>
            </a:extLst>
          </p:cNvPr>
          <p:cNvSpPr/>
          <p:nvPr/>
        </p:nvSpPr>
        <p:spPr>
          <a:xfrm>
            <a:off x="6774673" y="666955"/>
            <a:ext cx="3225436" cy="466383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bg1"/>
                </a:solidFill>
                <a:ea typeface="Cambria"/>
              </a:rPr>
              <a:t>Validation &amp; Evaluation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D424BE-E9C4-EC0D-2D9A-83C71E03EDF4}"/>
              </a:ext>
            </a:extLst>
          </p:cNvPr>
          <p:cNvSpPr/>
          <p:nvPr/>
        </p:nvSpPr>
        <p:spPr>
          <a:xfrm>
            <a:off x="320084" y="498866"/>
            <a:ext cx="3225436" cy="4663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700" b="1" u="sng">
              <a:solidFill>
                <a:schemeClr val="tx1"/>
              </a:solidFill>
              <a:ea typeface="Cambria"/>
            </a:endParaRPr>
          </a:p>
          <a:p>
            <a:pPr algn="ctr"/>
            <a:r>
              <a:rPr lang="en-US" sz="2000" b="1">
                <a:solidFill>
                  <a:schemeClr val="bg1"/>
                </a:solidFill>
                <a:ea typeface="Cambria"/>
              </a:rPr>
              <a:t>Key Technologies</a:t>
            </a:r>
          </a:p>
          <a:p>
            <a:pPr algn="ctr"/>
            <a:endParaRPr lang="en-US" sz="2000">
              <a:solidFill>
                <a:schemeClr val="bg1"/>
              </a:solidFill>
              <a:ea typeface="Cambria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01AC4E-9FB9-F634-EB4A-19E082260EA6}"/>
              </a:ext>
            </a:extLst>
          </p:cNvPr>
          <p:cNvSpPr/>
          <p:nvPr/>
        </p:nvSpPr>
        <p:spPr>
          <a:xfrm>
            <a:off x="325313" y="4312371"/>
            <a:ext cx="5721391" cy="338168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Data Availability Security &amp; Ethical Clearance</a:t>
            </a:r>
            <a:endParaRPr lang="en-US" b="1">
              <a:solidFill>
                <a:schemeClr val="bg1"/>
              </a:solidFill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645363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BA8DE-CB72-840A-F1B1-FF7E08F0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B2A604F-F8FB-9BF7-0F2D-69A1483313D6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IT22166074</a:t>
            </a:r>
            <a:r>
              <a:rPr lang="en-US" sz="1800" b="1">
                <a:solidFill>
                  <a:schemeClr val="tx1"/>
                </a:solidFill>
              </a:rPr>
              <a:t>| </a:t>
            </a:r>
            <a:r>
              <a:rPr lang="en-US" b="1">
                <a:solidFill>
                  <a:schemeClr val="tx1"/>
                </a:solidFill>
              </a:rPr>
              <a:t>Jayasinghe J.M.S.N.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 sz="1600" b="1">
                <a:solidFill>
                  <a:schemeClr val="tx1"/>
                </a:solidFill>
              </a:rPr>
              <a:t>R26-SE-004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1A069EF5-09FC-B01C-2253-947881659C13}"/>
              </a:ext>
            </a:extLst>
          </p:cNvPr>
          <p:cNvSpPr txBox="1"/>
          <p:nvPr/>
        </p:nvSpPr>
        <p:spPr>
          <a:xfrm>
            <a:off x="508000" y="3613341"/>
            <a:ext cx="5679162" cy="25545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/>
              <a:t>Dependencies &amp; Common Component</a:t>
            </a:r>
            <a:r>
              <a:rPr lang="en-US"/>
              <a:t> </a:t>
            </a:r>
            <a:endParaRPr lang="en-US" sz="14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Cognitive Load Detection Component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Cognitive Style Detection Component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User Profile Component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GPT-4 Language Model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Content Processing Libraries (</a:t>
            </a:r>
            <a:r>
              <a:rPr lang="en-US" err="1">
                <a:ea typeface="+mn-lt"/>
                <a:cs typeface="+mn-lt"/>
              </a:rPr>
              <a:t>pdfminer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BeautifulSoup</a:t>
            </a:r>
            <a:r>
              <a:rPr lang="en-US">
                <a:ea typeface="+mn-lt"/>
                <a:cs typeface="+mn-lt"/>
              </a:rPr>
              <a:t>, OCR, </a:t>
            </a:r>
            <a:r>
              <a:rPr lang="en-US" err="1">
                <a:ea typeface="+mn-lt"/>
                <a:cs typeface="+mn-lt"/>
              </a:rPr>
              <a:t>pydub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OpenVoice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Text Processing Libraries (clean-text, </a:t>
            </a:r>
            <a:r>
              <a:rPr lang="en-US" err="1">
                <a:ea typeface="+mn-lt"/>
                <a:cs typeface="+mn-lt"/>
              </a:rPr>
              <a:t>pyspellchecker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  <a:p>
            <a:endParaRPr lang="en-US" sz="1600" b="1" u="sng">
              <a:ea typeface="+mn-lt"/>
              <a:cs typeface="+mn-lt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3F261CC-08F8-3141-485C-CF13340CAA5E}"/>
              </a:ext>
            </a:extLst>
          </p:cNvPr>
          <p:cNvSpPr txBox="1"/>
          <p:nvPr/>
        </p:nvSpPr>
        <p:spPr>
          <a:xfrm>
            <a:off x="508000" y="634804"/>
            <a:ext cx="5684520" cy="286232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>
                <a:solidFill>
                  <a:schemeClr val="tx1"/>
                </a:solidFill>
              </a:rPr>
              <a:t>System Overview of Individual Component</a:t>
            </a:r>
            <a:endParaRPr lang="en-US" b="1" u="sng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Receive learner parameters from external modules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Accept educator-uploaded learning resources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Extract content from multimodal files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Clean and preprocess extracted text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Store processed content in chunk-wise knowledge base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Build personalized prompts using learner data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Generate adaptive content with GPT-4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Deliver personalized learning material</a:t>
            </a:r>
            <a:endParaRPr lang="it-IT" err="1">
              <a:solidFill>
                <a:schemeClr val="tx1"/>
              </a:solidFill>
              <a:ea typeface="Cambria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0E4040AC-38A4-FBBA-ECE9-D8F5E67D8186}"/>
              </a:ext>
            </a:extLst>
          </p:cNvPr>
          <p:cNvSpPr txBox="1"/>
          <p:nvPr/>
        </p:nvSpPr>
        <p:spPr>
          <a:xfrm>
            <a:off x="2803318" y="207199"/>
            <a:ext cx="8609555" cy="8802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</a:pPr>
            <a:r>
              <a:rPr lang="en-US" sz="1600" b="1">
                <a:ea typeface="Cambria"/>
              </a:rPr>
              <a:t>Cognitive-Adaptive Content Personalization Engine (CACPE)</a:t>
            </a:r>
            <a:endParaRPr lang="en-US" sz="1600">
              <a:ea typeface="Cambria"/>
            </a:endParaRPr>
          </a:p>
          <a:p>
            <a:pPr>
              <a:spcBef>
                <a:spcPct val="20000"/>
              </a:spcBef>
            </a:pPr>
            <a:endParaRPr lang="en-US" sz="1600">
              <a:ea typeface="Cambria"/>
            </a:endParaRPr>
          </a:p>
          <a:p>
            <a:pPr algn="l"/>
            <a:endParaRPr lang="en-US" sz="1600">
              <a:ea typeface="Cambria"/>
            </a:endParaRPr>
          </a:p>
        </p:txBody>
      </p:sp>
      <p:pic>
        <p:nvPicPr>
          <p:cNvPr id="12" name="Picture 11" descr="A diagram of a process&#10;&#10;AI-generated content may be incorrect.">
            <a:extLst>
              <a:ext uri="{FF2B5EF4-FFF2-40B4-BE49-F238E27FC236}">
                <a16:creationId xmlns:a16="http://schemas.microsoft.com/office/drawing/2014/main" id="{CE15EB8C-FCCF-CD5C-777E-DC4690DD8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195" y="750795"/>
            <a:ext cx="4746697" cy="5345205"/>
          </a:xfrm>
          <a:prstGeom prst="rect">
            <a:avLst/>
          </a:prstGeom>
          <a:ln w="28575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2902999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A1D492-F330-91E5-C26E-A4BA5C935357}"/>
              </a:ext>
            </a:extLst>
          </p:cNvPr>
          <p:cNvSpPr/>
          <p:nvPr/>
        </p:nvSpPr>
        <p:spPr>
          <a:xfrm>
            <a:off x="810684" y="1752600"/>
            <a:ext cx="8409516" cy="41148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684" y="164725"/>
            <a:ext cx="10363200" cy="755426"/>
          </a:xfrm>
        </p:spPr>
        <p:txBody>
          <a:bodyPr/>
          <a:lstStyle/>
          <a:p>
            <a:r>
              <a:rPr lang="en-US"/>
              <a:t>IT22055712 | Dilshan W.G.W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684" y="681727"/>
            <a:ext cx="9628716" cy="1524000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chemeClr val="tx1"/>
                </a:solidFill>
              </a:rPr>
              <a:t>Teacher-Centered Explainable AI Framework for Content Adaptation</a:t>
            </a:r>
          </a:p>
          <a:p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IT22055712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Dilshan W.G.W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R26-SE-004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2B1B0E-3A95-38D8-C68C-389F644DF9F9}"/>
              </a:ext>
            </a:extLst>
          </p:cNvPr>
          <p:cNvSpPr/>
          <p:nvPr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39B251-965B-565A-7F74-099BCD822CCB}"/>
              </a:ext>
            </a:extLst>
          </p:cNvPr>
          <p:cNvSpPr txBox="1"/>
          <p:nvPr/>
        </p:nvSpPr>
        <p:spPr>
          <a:xfrm>
            <a:off x="1066800" y="175260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Contribution for the Overall System</a:t>
            </a:r>
          </a:p>
          <a:p>
            <a:pPr>
              <a:buNone/>
            </a:pPr>
            <a:endParaRPr lang="en-US" b="1"/>
          </a:p>
          <a:p>
            <a:r>
              <a:rPr lang="en-US"/>
              <a:t>This research introduces an </a:t>
            </a:r>
            <a:r>
              <a:rPr lang="en-US" b="1"/>
              <a:t>Explainable AI (XAI) module</a:t>
            </a:r>
            <a:r>
              <a:rPr lang="en-US"/>
              <a:t> that explains why learning content is adapted for students.</a:t>
            </a:r>
          </a:p>
          <a:p>
            <a:endParaRPr lang="en-US"/>
          </a:p>
          <a:p>
            <a:r>
              <a:rPr lang="en-US"/>
              <a:t>The module:</a:t>
            </a:r>
          </a:p>
          <a:p>
            <a:r>
              <a:rPr lang="en-US"/>
              <a:t>• Uses </a:t>
            </a:r>
            <a:r>
              <a:rPr lang="en-US" b="1"/>
              <a:t>LIME and SHAP</a:t>
            </a:r>
            <a:r>
              <a:rPr lang="en-US"/>
              <a:t> to analyze which student features influence adaptation decisions.</a:t>
            </a:r>
            <a:br>
              <a:rPr lang="en-US"/>
            </a:br>
            <a:r>
              <a:rPr lang="en-US"/>
              <a:t>• Generates </a:t>
            </a:r>
            <a:r>
              <a:rPr lang="en-US" b="1"/>
              <a:t>teacher-friendly explanations</a:t>
            </a:r>
            <a:r>
              <a:rPr lang="en-US"/>
              <a:t> for AI decisions.</a:t>
            </a:r>
            <a:br>
              <a:rPr lang="en-US"/>
            </a:br>
            <a:r>
              <a:rPr lang="en-US"/>
              <a:t>• Integrates outputs from </a:t>
            </a:r>
            <a:r>
              <a:rPr lang="en-US" b="1"/>
              <a:t>cognitive load, cognitive style, and content adaptation modules</a:t>
            </a:r>
            <a:r>
              <a:rPr lang="en-US"/>
              <a:t>.</a:t>
            </a:r>
            <a:br>
              <a:rPr lang="en-US"/>
            </a:br>
            <a:r>
              <a:rPr lang="en-US"/>
              <a:t>• Provides </a:t>
            </a:r>
            <a:r>
              <a:rPr lang="en-US" b="1"/>
              <a:t>class-level cognitive load visualization using boxplots</a:t>
            </a:r>
            <a:r>
              <a:rPr lang="en-US"/>
              <a:t> to help teachers monitor students.</a:t>
            </a:r>
          </a:p>
          <a:p>
            <a:pPr>
              <a:buNone/>
            </a:pPr>
            <a:endParaRPr lang="en-US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E5F455-D0C4-2F1A-2DBB-8F77FACD79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6" b="9585"/>
          <a:stretch>
            <a:fillRect/>
          </a:stretch>
        </p:blipFill>
        <p:spPr>
          <a:xfrm>
            <a:off x="10134600" y="164725"/>
            <a:ext cx="1919881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631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812BD9-3328-BA80-50F5-D2E846A11D97}"/>
              </a:ext>
            </a:extLst>
          </p:cNvPr>
          <p:cNvSpPr/>
          <p:nvPr/>
        </p:nvSpPr>
        <p:spPr>
          <a:xfrm>
            <a:off x="76200" y="1143000"/>
            <a:ext cx="8382000" cy="3886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5C785B1-B19F-C037-5E4C-15A1B74C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>
            <a:noAutofit/>
          </a:bodyPr>
          <a:lstStyle/>
          <a:p>
            <a:r>
              <a:rPr lang="en-US" sz="3600" b="1"/>
              <a:t>Teacher-Centered Explainable AI Framework for Content Adaptation</a:t>
            </a:r>
            <a:br>
              <a:rPr lang="en-US" sz="3200" b="1"/>
            </a:br>
            <a:endParaRPr lang="en-US" sz="320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5241BBC-DA19-151B-C86E-08475BA56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7620000" cy="35814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b="1"/>
              <a:t>Problem Statement</a:t>
            </a:r>
          </a:p>
          <a:p>
            <a:pPr marL="0" indent="0">
              <a:buNone/>
            </a:pPr>
            <a:endParaRPr lang="en-US" sz="3400" b="1"/>
          </a:p>
          <a:p>
            <a:r>
              <a:rPr lang="en-US" sz="3400"/>
              <a:t>Adaptive Learning Systems personalize learning using </a:t>
            </a:r>
            <a:r>
              <a:rPr lang="en-US" sz="3400" b="1"/>
              <a:t>AI and student behavioral data</a:t>
            </a:r>
          </a:p>
          <a:p>
            <a:endParaRPr lang="en-US" sz="3400"/>
          </a:p>
          <a:p>
            <a:r>
              <a:rPr lang="en-US" sz="3400"/>
              <a:t>However, these systems act as </a:t>
            </a:r>
            <a:r>
              <a:rPr lang="en-US" sz="3400" b="1"/>
              <a:t>black boxes</a:t>
            </a:r>
            <a:r>
              <a:rPr lang="en-US" sz="3400"/>
              <a:t>, meaning teachers cannot understand why content was adapted</a:t>
            </a:r>
          </a:p>
          <a:p>
            <a:endParaRPr lang="en-US" sz="3400"/>
          </a:p>
          <a:p>
            <a:r>
              <a:rPr lang="en-US" sz="3400"/>
              <a:t>This reduces </a:t>
            </a:r>
            <a:r>
              <a:rPr lang="en-US" sz="3400" b="1"/>
              <a:t>teacher trust, transparency, and Educational verification</a:t>
            </a:r>
            <a:endParaRPr lang="en-US" sz="3400"/>
          </a:p>
          <a:p>
            <a:pPr marL="0" indent="0">
              <a:buNone/>
            </a:pPr>
            <a:endParaRPr lang="en-US" b="1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3198B4-14C5-02C5-BDA0-78C860E6DB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700881"/>
            <a:ext cx="358140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868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8427BB-A21C-7303-2E87-7B4A15709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915423"/>
              </p:ext>
            </p:extLst>
          </p:nvPr>
        </p:nvGraphicFramePr>
        <p:xfrm>
          <a:off x="304800" y="1422400"/>
          <a:ext cx="11684001" cy="48641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65767">
                  <a:extLst>
                    <a:ext uri="{9D8B030D-6E8A-4147-A177-3AD203B41FA5}">
                      <a16:colId xmlns:a16="http://schemas.microsoft.com/office/drawing/2014/main" val="789281907"/>
                    </a:ext>
                  </a:extLst>
                </a:gridCol>
                <a:gridCol w="3006078">
                  <a:extLst>
                    <a:ext uri="{9D8B030D-6E8A-4147-A177-3AD203B41FA5}">
                      <a16:colId xmlns:a16="http://schemas.microsoft.com/office/drawing/2014/main" val="3827619792"/>
                    </a:ext>
                  </a:extLst>
                </a:gridCol>
                <a:gridCol w="3006078">
                  <a:extLst>
                    <a:ext uri="{9D8B030D-6E8A-4147-A177-3AD203B41FA5}">
                      <a16:colId xmlns:a16="http://schemas.microsoft.com/office/drawing/2014/main" val="2073986918"/>
                    </a:ext>
                  </a:extLst>
                </a:gridCol>
                <a:gridCol w="3006078">
                  <a:extLst>
                    <a:ext uri="{9D8B030D-6E8A-4147-A177-3AD203B41FA5}">
                      <a16:colId xmlns:a16="http://schemas.microsoft.com/office/drawing/2014/main" val="820341969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</a:rPr>
                        <a:t>Existing System Category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</a:rPr>
                        <a:t>Representative Name / Research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</a:rPr>
                        <a:t>What it Covers (Focus Area)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The Gap (What's Missing)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060463559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1. Teacher-Facing XAI</a:t>
                      </a:r>
                    </a:p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(</a:t>
                      </a: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effectLst/>
                          <a:latin typeface="Cambria"/>
                          <a:ea typeface="Cambria"/>
                        </a:rPr>
                        <a:t>Explainable AI)</a:t>
                      </a:r>
                      <a:endParaRPr lang="en-US" sz="1800" b="1">
                        <a:effectLst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</a:rPr>
                        <a:t>Wang et al. (2024)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</a:rPr>
                        <a:t>Explains </a:t>
                      </a:r>
                      <a:r>
                        <a:rPr lang="en-US" sz="1800" b="1">
                          <a:effectLst/>
                        </a:rPr>
                        <a:t>classroom dialogue</a:t>
                      </a:r>
                      <a:r>
                        <a:rPr lang="en-US" sz="1800" b="0">
                          <a:effectLst/>
                        </a:rPr>
                        <a:t> to teachers (e.g., student discussion patterns).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</a:rPr>
                        <a:t> Does </a:t>
                      </a:r>
                      <a:r>
                        <a:rPr lang="en-US" sz="1800" b="1">
                          <a:effectLst/>
                        </a:rPr>
                        <a:t>NOT</a:t>
                      </a:r>
                      <a:r>
                        <a:rPr lang="en-US" sz="1800" b="0">
                          <a:effectLst/>
                        </a:rPr>
                        <a:t> explain </a:t>
                      </a:r>
                      <a:r>
                        <a:rPr lang="en-US" sz="1800" b="1">
                          <a:effectLst/>
                        </a:rPr>
                        <a:t>content adaptation</a:t>
                      </a:r>
                      <a:r>
                        <a:rPr lang="en-US" sz="1800" b="0">
                          <a:effectLst/>
                        </a:rPr>
                        <a:t> decisions.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34288669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2. Student-Facing XAI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800" b="1">
                          <a:effectLst/>
                        </a:rPr>
                        <a:t>iLLuMinaTE</a:t>
                      </a:r>
                      <a:r>
                        <a:rPr lang="fr-FR" sz="1800" b="0">
                          <a:effectLst/>
                        </a:rPr>
                        <a:t> (Swamy et al., 2025)</a:t>
                      </a:r>
                      <a:endParaRPr lang="fr-FR" sz="18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</a:rPr>
                        <a:t>Explains </a:t>
                      </a:r>
                      <a:r>
                        <a:rPr lang="en-US" sz="1800" b="1">
                          <a:effectLst/>
                        </a:rPr>
                        <a:t>assessment feedback</a:t>
                      </a:r>
                      <a:r>
                        <a:rPr lang="en-US" sz="1800" b="0">
                          <a:effectLst/>
                        </a:rPr>
                        <a:t> directly to </a:t>
                      </a:r>
                      <a:r>
                        <a:rPr lang="en-US" sz="1800" b="1">
                          <a:effectLst/>
                        </a:rPr>
                        <a:t>students</a:t>
                      </a:r>
                      <a:r>
                        <a:rPr lang="en-US" sz="1800" b="0">
                          <a:effectLst/>
                        </a:rPr>
                        <a:t>.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Teachers</a:t>
                      </a:r>
                      <a:r>
                        <a:rPr lang="en-US" sz="1800" b="0">
                          <a:effectLst/>
                        </a:rPr>
                        <a:t> are left out of the loop; not designed for teacher understanding.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22589858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3. Teacher Dashboards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</a:rPr>
                        <a:t>Lee-Cultura et al. (2024)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</a:rPr>
                        <a:t>Visualizes </a:t>
                      </a:r>
                      <a:r>
                        <a:rPr lang="en-US" sz="1800" b="1">
                          <a:effectLst/>
                        </a:rPr>
                        <a:t>student data</a:t>
                      </a:r>
                      <a:r>
                        <a:rPr lang="en-US" sz="1800" b="0">
                          <a:effectLst/>
                        </a:rPr>
                        <a:t> (e.g., attention, performance) for teachers.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</a:rPr>
                        <a:t> Shows </a:t>
                      </a:r>
                      <a:r>
                        <a:rPr lang="en-US" sz="1800" b="1">
                          <a:effectLst/>
                        </a:rPr>
                        <a:t>"what"</a:t>
                      </a:r>
                      <a:r>
                        <a:rPr lang="en-US" sz="1800" b="0">
                          <a:effectLst/>
                        </a:rPr>
                        <a:t> is happening, but </a:t>
                      </a:r>
                      <a:r>
                        <a:rPr lang="en-US" sz="1800" b="1">
                          <a:effectLst/>
                        </a:rPr>
                        <a:t>NOT "why"</a:t>
                      </a:r>
                      <a:r>
                        <a:rPr lang="en-US" sz="1800" b="0">
                          <a:effectLst/>
                        </a:rPr>
                        <a:t> the AI adapted the content.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620530897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4. AI Explanations for Dashboards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RIXA</a:t>
                      </a:r>
                      <a:r>
                        <a:rPr lang="en-US" sz="1800" b="0">
                          <a:effectLst/>
                        </a:rPr>
                        <a:t> (Fraunhofer, 2025)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</a:rPr>
                        <a:t>Explains </a:t>
                      </a:r>
                      <a:r>
                        <a:rPr lang="en-US" sz="1800" b="1">
                          <a:effectLst/>
                        </a:rPr>
                        <a:t>dashboard visuals/data</a:t>
                      </a:r>
                      <a:r>
                        <a:rPr lang="en-US" sz="1800" b="0">
                          <a:effectLst/>
                        </a:rPr>
                        <a:t> using AI (e.g., what a chart means).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</a:rPr>
                        <a:t> Explains the </a:t>
                      </a:r>
                      <a:r>
                        <a:rPr lang="en-US" sz="1800" b="1">
                          <a:effectLst/>
                        </a:rPr>
                        <a:t>data</a:t>
                      </a:r>
                      <a:r>
                        <a:rPr lang="en-US" sz="1800" b="0">
                          <a:effectLst/>
                        </a:rPr>
                        <a:t>, but </a:t>
                      </a:r>
                      <a:r>
                        <a:rPr lang="en-US" sz="1800" b="1">
                          <a:effectLst/>
                        </a:rPr>
                        <a:t>NOT</a:t>
                      </a:r>
                      <a:r>
                        <a:rPr lang="en-US" sz="1800" b="0">
                          <a:effectLst/>
                        </a:rPr>
                        <a:t> the </a:t>
                      </a:r>
                      <a:r>
                        <a:rPr lang="en-US" sz="1800" b="1">
                          <a:effectLst/>
                        </a:rPr>
                        <a:t>Educational decisions</a:t>
                      </a:r>
                      <a:r>
                        <a:rPr lang="en-US" sz="1800" b="0">
                          <a:effectLst/>
                        </a:rPr>
                        <a:t> behind content adaptation.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10331211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C5DB68E-4B8C-4CA8-E62A-1DFE7D76E5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8000" y="304800"/>
            <a:ext cx="11684000" cy="792163"/>
          </a:xfrm>
        </p:spPr>
        <p:txBody>
          <a:bodyPr>
            <a:normAutofit/>
          </a:bodyPr>
          <a:lstStyle/>
          <a:p>
            <a:r>
              <a:rPr lang="en-US" sz="3200" b="1"/>
              <a:t>Teacher-Centered Explainable AI Framework for Content Adaptation</a:t>
            </a:r>
            <a:endParaRPr lang="en-US" sz="3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BF6C2-62C7-B4A8-9F68-9048287EEA4C}"/>
              </a:ext>
            </a:extLst>
          </p:cNvPr>
          <p:cNvSpPr txBox="1"/>
          <p:nvPr/>
        </p:nvSpPr>
        <p:spPr>
          <a:xfrm>
            <a:off x="187132" y="1053068"/>
            <a:ext cx="61628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>
                <a:latin typeface="Apatos"/>
              </a:rPr>
              <a:t>Existing System / Related Works</a:t>
            </a:r>
          </a:p>
        </p:txBody>
      </p:sp>
    </p:spTree>
    <p:extLst>
      <p:ext uri="{BB962C8B-B14F-4D97-AF65-F5344CB8AC3E}">
        <p14:creationId xmlns:p14="http://schemas.microsoft.com/office/powerpoint/2010/main" val="2610023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DB6FC56-1144-9C3A-D49C-7AF6C2274008}"/>
              </a:ext>
            </a:extLst>
          </p:cNvPr>
          <p:cNvSpPr/>
          <p:nvPr/>
        </p:nvSpPr>
        <p:spPr>
          <a:xfrm>
            <a:off x="63500" y="1130559"/>
            <a:ext cx="11760200" cy="198120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0F0525-7F34-3D1F-FFCD-D33BFE262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Teacher-Centered Explainable AI Framework for Content Adaptation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85068-BB00-54FA-1EDC-1240DB14C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277600" cy="2057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b="1"/>
              <a:t>Research Gap</a:t>
            </a:r>
          </a:p>
          <a:p>
            <a:r>
              <a:rPr lang="en-US" sz="3000"/>
              <a:t>No system explains </a:t>
            </a:r>
            <a:r>
              <a:rPr lang="en-US" sz="3000" b="1"/>
              <a:t>AI-driven content adaptation decisions</a:t>
            </a:r>
            <a:r>
              <a:rPr lang="en-US" sz="3000"/>
              <a:t> to teachers</a:t>
            </a:r>
          </a:p>
          <a:p>
            <a:r>
              <a:rPr lang="en-US" sz="3000"/>
              <a:t>No research combines </a:t>
            </a:r>
            <a:r>
              <a:rPr lang="en-US" sz="3000" b="1"/>
              <a:t>cognitive load + cognitive style explanations for teachers</a:t>
            </a:r>
            <a:endParaRPr lang="en-US" sz="3000"/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7C81C0-7196-674D-28C7-1D8D8BAD6493}"/>
              </a:ext>
            </a:extLst>
          </p:cNvPr>
          <p:cNvSpPr txBox="1"/>
          <p:nvPr/>
        </p:nvSpPr>
        <p:spPr>
          <a:xfrm>
            <a:off x="474870" y="3430241"/>
            <a:ext cx="9880600" cy="267765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2400" b="1">
                <a:solidFill>
                  <a:schemeClr val="tx1"/>
                </a:solidFill>
              </a:rPr>
              <a:t>Proposed Novelty</a:t>
            </a:r>
            <a:endParaRPr lang="en-US" sz="240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>
                <a:solidFill>
                  <a:schemeClr val="tx1"/>
                </a:solidFill>
              </a:rPr>
              <a:t>• </a:t>
            </a:r>
            <a:r>
              <a:rPr lang="en-US" sz="2400">
                <a:solidFill>
                  <a:schemeClr val="tx1"/>
                </a:solidFill>
              </a:rPr>
              <a:t>Teacher-facing XAI for explaining </a:t>
            </a:r>
            <a:r>
              <a:rPr lang="en-US" sz="2400" b="1">
                <a:solidFill>
                  <a:schemeClr val="tx1"/>
                </a:solidFill>
              </a:rPr>
              <a:t>content adaptation decisions</a:t>
            </a:r>
            <a:br>
              <a:rPr lang="en-US" sz="2400"/>
            </a:br>
            <a:r>
              <a:rPr lang="en-US" sz="2400">
                <a:solidFill>
                  <a:schemeClr val="tx1"/>
                </a:solidFill>
              </a:rPr>
              <a:t>• Integration of </a:t>
            </a:r>
            <a:r>
              <a:rPr lang="en-US" sz="2400" b="1">
                <a:solidFill>
                  <a:schemeClr val="tx1"/>
                </a:solidFill>
              </a:rPr>
              <a:t>cognitive load + cognitive style</a:t>
            </a:r>
            <a:r>
              <a:rPr lang="en-US" sz="2400">
                <a:solidFill>
                  <a:schemeClr val="tx1"/>
                </a:solidFill>
              </a:rPr>
              <a:t> explanations</a:t>
            </a:r>
            <a:br>
              <a:rPr lang="en-US" sz="2400"/>
            </a:br>
            <a:r>
              <a:rPr lang="en-US" sz="2400">
                <a:solidFill>
                  <a:schemeClr val="tx1"/>
                </a:solidFill>
              </a:rPr>
              <a:t>• </a:t>
            </a:r>
            <a:r>
              <a:rPr lang="en-US" sz="2400" b="1">
                <a:solidFill>
                  <a:schemeClr val="tx1"/>
                </a:solidFill>
              </a:rPr>
              <a:t>Hybrid LIME–SHAP explanation aggregation</a:t>
            </a:r>
            <a:r>
              <a:rPr lang="en-US" sz="2400">
                <a:solidFill>
                  <a:schemeClr val="tx1"/>
                </a:solidFill>
              </a:rPr>
              <a:t> for stable explanations</a:t>
            </a:r>
            <a:br>
              <a:rPr lang="en-US" sz="2400"/>
            </a:br>
            <a:r>
              <a:rPr lang="en-US" sz="2400">
                <a:solidFill>
                  <a:schemeClr val="tx1"/>
                </a:solidFill>
              </a:rPr>
              <a:t>• </a:t>
            </a:r>
            <a:r>
              <a:rPr lang="en-US" sz="2400" b="1">
                <a:solidFill>
                  <a:schemeClr val="tx1"/>
                </a:solidFill>
              </a:rPr>
              <a:t>Educational explanation prioritization mechanism</a:t>
            </a:r>
            <a:br>
              <a:rPr lang="en-US" sz="2400"/>
            </a:br>
            <a:r>
              <a:rPr lang="en-US" sz="2400">
                <a:solidFill>
                  <a:schemeClr val="tx1"/>
                </a:solidFill>
              </a:rPr>
              <a:t>• Human-readable explanations for teachers</a:t>
            </a:r>
            <a:br>
              <a:rPr lang="en-US" sz="2400"/>
            </a:br>
            <a:r>
              <a:rPr lang="en-US" sz="2400">
                <a:solidFill>
                  <a:schemeClr val="tx1"/>
                </a:solidFill>
              </a:rPr>
              <a:t>• </a:t>
            </a:r>
            <a:r>
              <a:rPr lang="en-US" sz="2400" b="1">
                <a:solidFill>
                  <a:schemeClr val="tx1"/>
                </a:solidFill>
              </a:rPr>
              <a:t>Boxplot visualizations</a:t>
            </a:r>
            <a:r>
              <a:rPr lang="en-US" sz="2400">
                <a:solidFill>
                  <a:schemeClr val="tx1"/>
                </a:solidFill>
              </a:rPr>
              <a:t> for class-level insights</a:t>
            </a:r>
            <a:endParaRPr lang="en-US" sz="2400">
              <a:solidFill>
                <a:schemeClr val="tx1"/>
              </a:solidFill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238403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14CF424-A2F2-8CCE-D4D1-84067AFB9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>
            <a:noAutofit/>
          </a:bodyPr>
          <a:lstStyle/>
          <a:p>
            <a:r>
              <a:rPr lang="en-US" sz="3600" b="1"/>
              <a:t>Teacher-Centered Explainable AI Framework for Content Adaptation</a:t>
            </a:r>
            <a:endParaRPr lang="en-US" sz="360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13AFF75-B704-B636-428B-9C6C31DA2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684000" cy="51816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b="1"/>
              <a:t>Main Objective</a:t>
            </a:r>
          </a:p>
          <a:p>
            <a:r>
              <a:rPr lang="en-US"/>
              <a:t>To develop an </a:t>
            </a:r>
            <a:r>
              <a:rPr lang="en-US" b="1"/>
              <a:t>Explainable AI module</a:t>
            </a:r>
            <a:r>
              <a:rPr lang="en-US"/>
              <a:t> that explains content adaptation decisions to teachers in a </a:t>
            </a:r>
            <a:r>
              <a:rPr lang="en-US" b="1"/>
              <a:t>human-readable format</a:t>
            </a:r>
            <a:r>
              <a:rPr lang="en-US"/>
              <a:t>, improving teacher understanding and trust.</a:t>
            </a:r>
          </a:p>
          <a:p>
            <a:endParaRPr lang="en-US"/>
          </a:p>
          <a:p>
            <a:pPr marL="0" indent="0">
              <a:buNone/>
            </a:pPr>
            <a:r>
              <a:rPr lang="en-US" b="1"/>
              <a:t>Sub Objectives</a:t>
            </a:r>
            <a:endParaRPr lang="en-US"/>
          </a:p>
          <a:p>
            <a:pPr marL="0" indent="0">
              <a:buNone/>
            </a:pPr>
            <a:endParaRPr lang="en-US" b="1"/>
          </a:p>
          <a:p>
            <a:r>
              <a:rPr lang="en-US" b="1"/>
              <a:t>To apply explainable AI techniques (LIME and SHAP)</a:t>
            </a:r>
            <a:r>
              <a:rPr lang="en-US"/>
              <a:t> to identify which student characteristics influence content adaptation decisions.</a:t>
            </a:r>
            <a:endParaRPr lang="en-US">
              <a:ea typeface="Cambria"/>
            </a:endParaRPr>
          </a:p>
          <a:p>
            <a:r>
              <a:rPr lang="en-US" b="1"/>
              <a:t>To develop a Hybrid Explanation Aggregation mechanism</a:t>
            </a:r>
            <a:r>
              <a:rPr lang="en-US"/>
              <a:t> that combines LIME and SHAP outputs to improve explanation stability.</a:t>
            </a:r>
          </a:p>
          <a:p>
            <a:r>
              <a:rPr lang="en-US" b="1"/>
              <a:t>To design an educational explanation prioritization mechanism</a:t>
            </a:r>
            <a:r>
              <a:rPr lang="en-US"/>
              <a:t> that selects the most meaningful explanatory factors for teachers.</a:t>
            </a:r>
          </a:p>
          <a:p>
            <a:r>
              <a:rPr lang="en-US" b="1"/>
              <a:t>To generate teacher-friendly natural language explanations</a:t>
            </a:r>
            <a:r>
              <a:rPr lang="en-US"/>
              <a:t> based on the prioritized explanatory factors.</a:t>
            </a:r>
          </a:p>
          <a:p>
            <a:r>
              <a:rPr lang="en-US" b="1"/>
              <a:t>To design a teacher dashboard</a:t>
            </a:r>
            <a:r>
              <a:rPr lang="en-US"/>
              <a:t> that presents individual student explanations and class-level visualizations such as boxplots.</a:t>
            </a:r>
          </a:p>
          <a:p>
            <a:endParaRPr lang="en-US">
              <a:ea typeface="Cambria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333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997631-520C-72E5-91C1-39676A022FFB}"/>
              </a:ext>
            </a:extLst>
          </p:cNvPr>
          <p:cNvSpPr/>
          <p:nvPr/>
        </p:nvSpPr>
        <p:spPr>
          <a:xfrm>
            <a:off x="5888394" y="3294244"/>
            <a:ext cx="3505200" cy="223516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CA22C8-5FE2-89B6-1D56-EC01E6DF919B}"/>
              </a:ext>
            </a:extLst>
          </p:cNvPr>
          <p:cNvSpPr/>
          <p:nvPr/>
        </p:nvSpPr>
        <p:spPr>
          <a:xfrm>
            <a:off x="5710335" y="1232485"/>
            <a:ext cx="5334000" cy="198120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F39549-07A7-C127-1651-9226DCC025FC}"/>
              </a:ext>
            </a:extLst>
          </p:cNvPr>
          <p:cNvSpPr/>
          <p:nvPr/>
        </p:nvSpPr>
        <p:spPr>
          <a:xfrm>
            <a:off x="228600" y="1096962"/>
            <a:ext cx="5257800" cy="507523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54004E5-38F3-052A-87C6-3243EB6EF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>
            <a:noAutofit/>
          </a:bodyPr>
          <a:lstStyle/>
          <a:p>
            <a:r>
              <a:rPr lang="en-US" sz="3600" b="1"/>
              <a:t>Teacher-Centered Explainable AI Framework for Content Adaptation</a:t>
            </a:r>
            <a:endParaRPr lang="en-US" sz="3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4D9A4C3-9C75-EE62-36B4-9460A0F37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4114800" cy="1447799"/>
          </a:xfrm>
        </p:spPr>
        <p:txBody>
          <a:bodyPr>
            <a:normAutofit fontScale="70000" lnSpcReduction="20000"/>
          </a:bodyPr>
          <a:lstStyle/>
          <a:p>
            <a:r>
              <a:rPr lang="en-US" b="1"/>
              <a:t>Methodology</a:t>
            </a:r>
          </a:p>
          <a:p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6260F53A-89F2-F3F6-FCFD-1356E8BCE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3400" y="1752600"/>
            <a:ext cx="5867400" cy="4678364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b="1"/>
              <a:t>Student Behavioral Data</a:t>
            </a:r>
          </a:p>
          <a:p>
            <a:pPr marL="0" indent="0">
              <a:buNone/>
            </a:pPr>
            <a:r>
              <a:rPr lang="en-US" b="1"/>
              <a:t>      (Cognitive Load + Cognitive Style)</a:t>
            </a:r>
          </a:p>
          <a:p>
            <a:pPr marL="0" indent="0">
              <a:buNone/>
            </a:pPr>
            <a:r>
              <a:rPr lang="en-US" b="1"/>
              <a:t>                        ↓</a:t>
            </a:r>
          </a:p>
          <a:p>
            <a:pPr marL="0" indent="0">
              <a:buNone/>
            </a:pPr>
            <a:r>
              <a:rPr lang="en-US" b="1"/>
              <a:t>Content Adaptation Engine</a:t>
            </a:r>
          </a:p>
          <a:p>
            <a:pPr marL="0" indent="0">
              <a:buNone/>
            </a:pPr>
            <a:r>
              <a:rPr lang="en-US" b="1"/>
              <a:t>                        ↓</a:t>
            </a:r>
          </a:p>
          <a:p>
            <a:pPr marL="0" indent="0">
              <a:buNone/>
            </a:pPr>
            <a:r>
              <a:rPr lang="en-US" b="1"/>
              <a:t>Feature Attribution (LIME / SHAP)</a:t>
            </a:r>
          </a:p>
          <a:p>
            <a:pPr marL="0" indent="0">
              <a:buNone/>
            </a:pPr>
            <a:r>
              <a:rPr lang="en-US" b="1"/>
              <a:t>                         ↓</a:t>
            </a:r>
          </a:p>
          <a:p>
            <a:pPr marL="0" indent="0">
              <a:buNone/>
            </a:pPr>
            <a:r>
              <a:rPr lang="en-US" b="1"/>
              <a:t>Hybrid </a:t>
            </a:r>
            <a:r>
              <a:rPr lang="en-US" b="1">
                <a:latin typeface="Aptos" panose="020B0004020202020204" pitchFamily="34" charset="0"/>
              </a:rPr>
              <a:t>Explanation Aggregation[1]</a:t>
            </a:r>
          </a:p>
          <a:p>
            <a:pPr marL="0" indent="0">
              <a:buNone/>
            </a:pPr>
            <a:r>
              <a:rPr lang="en-US" b="1">
                <a:latin typeface="Aptos"/>
              </a:rPr>
              <a:t>                          ↓</a:t>
            </a:r>
          </a:p>
          <a:p>
            <a:pPr marL="0" indent="0">
              <a:buNone/>
            </a:pPr>
            <a:r>
              <a:rPr lang="en-US" b="1">
                <a:latin typeface="Aptos" panose="020B0004020202020204" pitchFamily="34" charset="0"/>
              </a:rPr>
              <a:t>Educational Explanation Prioritization</a:t>
            </a:r>
          </a:p>
          <a:p>
            <a:pPr marL="0" indent="0">
              <a:buNone/>
            </a:pPr>
            <a:r>
              <a:rPr lang="en-US" b="1">
                <a:latin typeface="Aptos"/>
              </a:rPr>
              <a:t>                          ↓     (</a:t>
            </a:r>
            <a:r>
              <a:rPr lang="en-US" sz="1800" err="1">
                <a:ea typeface="+mn-lt"/>
                <a:cs typeface="+mn-lt"/>
              </a:rPr>
              <a:t>scrool</a:t>
            </a:r>
            <a:r>
              <a:rPr lang="en-US" sz="1800">
                <a:ea typeface="+mn-lt"/>
                <a:cs typeface="+mn-lt"/>
              </a:rPr>
              <a:t> speed, pause time , </a:t>
            </a:r>
            <a:endParaRPr lang="en-US" sz="1800" b="1">
              <a:latin typeface="Aptos" panose="020B0004020202020204" pitchFamily="34" charset="0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                                                        error rate, attention score  </a:t>
            </a:r>
            <a:r>
              <a:rPr lang="en-US" sz="1800" err="1">
                <a:ea typeface="+mn-lt"/>
                <a:cs typeface="+mn-lt"/>
              </a:rPr>
              <a:t>etc</a:t>
            </a:r>
            <a:r>
              <a:rPr lang="en-US" sz="1800">
                <a:ea typeface="+mn-lt"/>
                <a:cs typeface="+mn-lt"/>
              </a:rPr>
              <a:t>)</a:t>
            </a:r>
            <a:endParaRPr lang="en-US" sz="1800" b="1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b="1">
                <a:latin typeface="Aptos" panose="020B0004020202020204" pitchFamily="34" charset="0"/>
              </a:rPr>
              <a:t>Natural Language Explanation</a:t>
            </a:r>
          </a:p>
          <a:p>
            <a:pPr marL="0" indent="0">
              <a:buNone/>
            </a:pPr>
            <a:r>
              <a:rPr lang="en-US" b="1"/>
              <a:t>                         ↓</a:t>
            </a:r>
          </a:p>
          <a:p>
            <a:pPr marL="0" indent="0">
              <a:buNone/>
            </a:pPr>
            <a:r>
              <a:rPr lang="en-US" b="1"/>
              <a:t>Teacher Dashboard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23CA61-7861-ADEE-1B75-2EA1A0325164}"/>
              </a:ext>
            </a:extLst>
          </p:cNvPr>
          <p:cNvSpPr txBox="1"/>
          <p:nvPr/>
        </p:nvSpPr>
        <p:spPr>
          <a:xfrm>
            <a:off x="5888394" y="1374283"/>
            <a:ext cx="4343400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/>
              <a:t>Domain Knowledge</a:t>
            </a:r>
          </a:p>
          <a:p>
            <a:r>
              <a:rPr lang="en-US"/>
              <a:t>Cognitive Load Theory (CLT)</a:t>
            </a:r>
          </a:p>
          <a:p>
            <a:r>
              <a:rPr lang="en-US"/>
              <a:t>Cognitive Style Theory</a:t>
            </a:r>
          </a:p>
          <a:p>
            <a:r>
              <a:rPr lang="en-US"/>
              <a:t>Explainable Artificial Intelligence (XAI)</a:t>
            </a:r>
          </a:p>
          <a:p>
            <a:endParaRPr lang="en-US">
              <a:ea typeface="Cambria"/>
            </a:endParaRPr>
          </a:p>
          <a:p>
            <a:endParaRPr lang="en-US">
              <a:ea typeface="Cambria"/>
            </a:endParaRPr>
          </a:p>
          <a:p>
            <a:endParaRPr lang="en-US"/>
          </a:p>
          <a:p>
            <a:r>
              <a:rPr lang="en-US" b="1"/>
              <a:t>                  Key Technologies</a:t>
            </a:r>
          </a:p>
          <a:p>
            <a:r>
              <a:rPr lang="en-US"/>
              <a:t>                  Python</a:t>
            </a:r>
          </a:p>
          <a:p>
            <a:r>
              <a:rPr lang="en-US"/>
              <a:t>                  LIME / SHAP Libraries</a:t>
            </a:r>
          </a:p>
          <a:p>
            <a:r>
              <a:rPr lang="en-US"/>
              <a:t>                  Flask / </a:t>
            </a:r>
            <a:r>
              <a:rPr lang="en-US" err="1"/>
              <a:t>FastAPI</a:t>
            </a:r>
            <a:endParaRPr lang="en-US"/>
          </a:p>
          <a:p>
            <a:r>
              <a:rPr lang="en-US"/>
              <a:t>                  React.js</a:t>
            </a:r>
          </a:p>
          <a:p>
            <a:r>
              <a:rPr lang="en-US"/>
              <a:t>                  Chart.js / D3.js</a:t>
            </a:r>
          </a:p>
          <a:p>
            <a:r>
              <a:rPr lang="en-US"/>
              <a:t>                  REST APIs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C7C9F-F41B-7919-F9A0-C92F34177F26}"/>
              </a:ext>
            </a:extLst>
          </p:cNvPr>
          <p:cNvSpPr txBox="1"/>
          <p:nvPr/>
        </p:nvSpPr>
        <p:spPr>
          <a:xfrm>
            <a:off x="5105400" y="6413808"/>
            <a:ext cx="4763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/>
              <a:t>[1]Salih et al., 2024 – SHAP &amp; LIME Paper</a:t>
            </a:r>
            <a:endParaRPr lang="en-US" sz="1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D8DE1A-2ACA-6A5D-C74B-E2F6A9B2AB32}"/>
              </a:ext>
            </a:extLst>
          </p:cNvPr>
          <p:cNvCxnSpPr>
            <a:cxnSpLocks/>
          </p:cNvCxnSpPr>
          <p:nvPr/>
        </p:nvCxnSpPr>
        <p:spPr>
          <a:xfrm>
            <a:off x="0" y="6194612"/>
            <a:ext cx="121920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07A2058-F142-262D-34B3-742C734249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7635" y="2864143"/>
            <a:ext cx="2438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4638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7EC28-BF34-408E-6D6A-70B5830C3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Teacher-Centered Explainable AI Framework for Content Adaptation</a:t>
            </a:r>
            <a:endParaRPr lang="en-US" sz="320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7538F91-6A28-5A87-1324-AA944680C70E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609600" y="1600201"/>
            <a:ext cx="5029200" cy="43519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2000" b="1" u="sng">
                <a:ea typeface="+mn-lt"/>
                <a:cs typeface="+mn-lt"/>
              </a:rPr>
              <a:t>Validation and Evaluation of Proposed Solution</a:t>
            </a:r>
            <a:endParaRPr lang="en-US" sz="2000" b="1" u="sng">
              <a:latin typeface="Apatos"/>
            </a:endParaRPr>
          </a:p>
          <a:p>
            <a:r>
              <a:rPr lang="en-US" sz="1400"/>
              <a:t>The proposed XAI module will be evaluated using </a:t>
            </a:r>
            <a:r>
              <a:rPr lang="en-US" sz="1400" b="1"/>
              <a:t>quantitative and qualitative methods</a:t>
            </a:r>
            <a:r>
              <a:rPr lang="en-US" sz="1400"/>
              <a:t>.</a:t>
            </a:r>
          </a:p>
          <a:p>
            <a:r>
              <a:rPr lang="en-US" sz="1400" b="1"/>
              <a:t>Participants</a:t>
            </a:r>
            <a:endParaRPr lang="en-US" sz="1400"/>
          </a:p>
          <a:p>
            <a:r>
              <a:rPr lang="en-US" sz="1400"/>
              <a:t>10–15 teachers from Sri Lankan schools/universities</a:t>
            </a:r>
          </a:p>
          <a:p>
            <a:r>
              <a:rPr lang="en-US" sz="1400">
                <a:ea typeface="Cambria"/>
              </a:rPr>
              <a:t>50 university student </a:t>
            </a:r>
            <a:endParaRPr lang="en-US" sz="1400"/>
          </a:p>
          <a:p>
            <a:r>
              <a:rPr lang="en-US" sz="1400"/>
              <a:t>Minimum 2 years teaching experience</a:t>
            </a:r>
          </a:p>
          <a:p>
            <a:r>
              <a:rPr lang="en-US" sz="1400" b="1"/>
              <a:t>Evaluation Methods</a:t>
            </a:r>
            <a:endParaRPr lang="en-US" sz="1400"/>
          </a:p>
          <a:p>
            <a:r>
              <a:rPr lang="en-US" sz="1400"/>
              <a:t>Pre-test &amp; post-test questionnaires (teacher understanding)</a:t>
            </a:r>
          </a:p>
          <a:p>
            <a:r>
              <a:rPr lang="en-US" sz="1400"/>
              <a:t>System Usability Scale (SUS) for usability</a:t>
            </a:r>
          </a:p>
          <a:p>
            <a:r>
              <a:rPr lang="en-US" sz="1400"/>
              <a:t>Trust questionnaire (Likert scale)</a:t>
            </a:r>
          </a:p>
          <a:p>
            <a:r>
              <a:rPr lang="en-US" sz="1400"/>
              <a:t>Semi-structured interviews for feedback</a:t>
            </a:r>
          </a:p>
          <a:p>
            <a:endParaRPr lang="en-US" sz="1400" b="1">
              <a:ea typeface="Cambria"/>
            </a:endParaRPr>
          </a:p>
          <a:p>
            <a:endParaRPr lang="en-US" sz="2000" u="sng">
              <a:latin typeface="Apatos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87DA3BB6-0163-E989-7E6F-CF9BD12A40D1}"/>
              </a:ext>
            </a:extLst>
          </p:cNvPr>
          <p:cNvSpPr txBox="1">
            <a:spLocks noGrp="1"/>
          </p:cNvSpPr>
          <p:nvPr>
            <p:ph sz="half" idx="2"/>
          </p:nvPr>
        </p:nvSpPr>
        <p:spPr>
          <a:xfrm>
            <a:off x="6197600" y="1600200"/>
            <a:ext cx="5384800" cy="342863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/>
              <a:t>Data, Security &amp; Ethics</a:t>
            </a:r>
          </a:p>
          <a:p>
            <a:r>
              <a:rPr lang="en-US" b="1"/>
              <a:t>Data Sources</a:t>
            </a:r>
            <a:endParaRPr lang="en-US"/>
          </a:p>
          <a:p>
            <a:r>
              <a:rPr lang="en-US"/>
              <a:t>Cognitive Load data (Member 1)</a:t>
            </a:r>
          </a:p>
          <a:p>
            <a:r>
              <a:rPr lang="en-US"/>
              <a:t>Cognitive Style data (Member 2)</a:t>
            </a:r>
          </a:p>
          <a:p>
            <a:endParaRPr lang="en-US">
              <a:ea typeface="Cambria"/>
            </a:endParaRPr>
          </a:p>
          <a:p>
            <a:r>
              <a:rPr lang="en-US" b="1"/>
              <a:t>Security &amp; Ethics</a:t>
            </a:r>
            <a:endParaRPr lang="en-US"/>
          </a:p>
          <a:p>
            <a:r>
              <a:rPr lang="en-US"/>
              <a:t>Student data </a:t>
            </a:r>
            <a:r>
              <a:rPr lang="en-US" b="1"/>
              <a:t>anonymized</a:t>
            </a:r>
            <a:r>
              <a:rPr lang="en-US"/>
              <a:t> before storage</a:t>
            </a:r>
          </a:p>
          <a:p>
            <a:r>
              <a:rPr lang="en-US"/>
              <a:t>Secure data transmission using </a:t>
            </a:r>
            <a:r>
              <a:rPr lang="en-US" b="1"/>
              <a:t>HTTPS</a:t>
            </a:r>
            <a:endParaRPr lang="en-US"/>
          </a:p>
          <a:p>
            <a:endParaRPr lang="en-US">
              <a:ea typeface="Cambria"/>
            </a:endParaRPr>
          </a:p>
          <a:p>
            <a:endParaRPr lang="en-US" sz="2000" u="sng">
              <a:latin typeface="Apatos"/>
            </a:endParaRPr>
          </a:p>
        </p:txBody>
      </p:sp>
    </p:spTree>
    <p:extLst>
      <p:ext uri="{BB962C8B-B14F-4D97-AF65-F5344CB8AC3E}">
        <p14:creationId xmlns:p14="http://schemas.microsoft.com/office/powerpoint/2010/main" val="7825346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73770-F286-64DD-6C3E-08B10FEF6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270BBF-7942-25A8-BB1C-1A7DFB330481}"/>
              </a:ext>
            </a:extLst>
          </p:cNvPr>
          <p:cNvSpPr txBox="1"/>
          <p:nvPr/>
        </p:nvSpPr>
        <p:spPr>
          <a:xfrm>
            <a:off x="131583" y="935506"/>
            <a:ext cx="5943600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Can be integrated with LMS platforms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Suitable for universities, schools, online learning providers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No special hardware required → low cost deployment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Can support adaptive learning and analytics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Useful for Undergraduate, EdTech companies and training platforms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Apatos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1DFAB18-2829-791E-52AC-EDFA55BD2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82761" y="-144876"/>
            <a:ext cx="9603221" cy="529327"/>
          </a:xfrm>
        </p:spPr>
        <p:txBody>
          <a:bodyPr>
            <a:normAutofit fontScale="92500"/>
          </a:bodyPr>
          <a:lstStyle/>
          <a:p>
            <a:r>
              <a:rPr lang="en-US" sz="1800" b="1">
                <a:solidFill>
                  <a:schemeClr val="tx1"/>
                </a:solidFill>
              </a:rPr>
              <a:t>Adaptive Cognitive Load Prediction System for Online Learning using Behavioral Interaction</a:t>
            </a:r>
            <a:endParaRPr lang="en-US" sz="1800" b="1">
              <a:solidFill>
                <a:schemeClr val="tx1"/>
              </a:solidFill>
              <a:ea typeface="Cambr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ECE5E3-3756-8525-0669-E92413BF7C73}"/>
              </a:ext>
            </a:extLst>
          </p:cNvPr>
          <p:cNvSpPr txBox="1"/>
          <p:nvPr/>
        </p:nvSpPr>
        <p:spPr>
          <a:xfrm>
            <a:off x="191530" y="3517886"/>
            <a:ext cx="5638800" cy="2862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/>
              <a:t>Cost includes: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Software development </a:t>
            </a:r>
            <a:r>
              <a:rPr lang="en-US" err="1"/>
              <a:t>labour</a:t>
            </a:r>
            <a:endParaRPr lang="en-US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Server / database hosting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ML model training &amp; testing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Learning platform integration</a:t>
            </a:r>
          </a:p>
          <a:p>
            <a:r>
              <a:rPr lang="en-US" b="1"/>
              <a:t>Cost recovery: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Subscription model for institutions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License per LMS / per user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Cloud-based service pricing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Premium analytics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58710-A1E6-3018-2E18-E4A77280839B}"/>
              </a:ext>
            </a:extLst>
          </p:cNvPr>
          <p:cNvSpPr txBox="1"/>
          <p:nvPr/>
        </p:nvSpPr>
        <p:spPr>
          <a:xfrm>
            <a:off x="6361671" y="1199767"/>
            <a:ext cx="5638800" cy="53860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/>
              <a:t>Target market: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Universities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Online learning platforms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Training institutes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EdTech companies</a:t>
            </a:r>
          </a:p>
          <a:p>
            <a:r>
              <a:rPr lang="en-US" b="1"/>
              <a:t>Customer profile: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LMS administrators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Teachers / instructors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Educational companies</a:t>
            </a:r>
          </a:p>
          <a:p>
            <a:r>
              <a:rPr lang="en-US" b="1"/>
              <a:t>Value proposition: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Real-time learner monitoring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Improved learning performance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Adaptive content support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Low-cost behavior-based prediction</a:t>
            </a:r>
          </a:p>
          <a:p>
            <a:r>
              <a:rPr lang="en-US" b="1"/>
              <a:t>IP Rights: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Software system design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Data processing pipeline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Can be protected as research software / 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Apato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BE9B9F-3E4F-ED57-80F9-9616E6DFF10D}"/>
              </a:ext>
            </a:extLst>
          </p:cNvPr>
          <p:cNvSpPr/>
          <p:nvPr/>
        </p:nvSpPr>
        <p:spPr>
          <a:xfrm>
            <a:off x="6361671" y="654430"/>
            <a:ext cx="3814716" cy="56215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Target Market / Customer / Value</a:t>
            </a:r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E6BB2B-8AC6-8495-D13A-6B7C0354E36C}"/>
              </a:ext>
            </a:extLst>
          </p:cNvPr>
          <p:cNvSpPr/>
          <p:nvPr/>
        </p:nvSpPr>
        <p:spPr>
          <a:xfrm>
            <a:off x="131583" y="384451"/>
            <a:ext cx="3995426" cy="57259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000" b="1" u="sng">
              <a:solidFill>
                <a:srgbClr val="000000"/>
              </a:solidFill>
              <a:ea typeface="Cambria"/>
            </a:endParaRPr>
          </a:p>
          <a:p>
            <a:pPr algn="ctr"/>
            <a:r>
              <a:rPr lang="en-US" sz="2000" b="1"/>
              <a:t>Ability of Commercialization</a:t>
            </a:r>
            <a:endParaRPr lang="en-US" sz="2000" b="1">
              <a:solidFill>
                <a:schemeClr val="bg1"/>
              </a:solidFill>
              <a:ea typeface="Cambria"/>
            </a:endParaRPr>
          </a:p>
          <a:p>
            <a:pPr algn="ctr"/>
            <a:endParaRPr lang="en-US" sz="2000" b="1">
              <a:solidFill>
                <a:schemeClr val="bg1"/>
              </a:solidFill>
              <a:ea typeface="Cambria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497059-6496-901E-9705-5879DB86DE7D}"/>
              </a:ext>
            </a:extLst>
          </p:cNvPr>
          <p:cNvSpPr/>
          <p:nvPr/>
        </p:nvSpPr>
        <p:spPr>
          <a:xfrm>
            <a:off x="274186" y="2961283"/>
            <a:ext cx="3365009" cy="56215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Investment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5050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2891DB-5B22-DDEC-89F2-B2D3EDE59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23787"/>
            <a:ext cx="11430000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6B3271-74BC-19E0-8D69-693E66858BF6}"/>
              </a:ext>
            </a:extLst>
          </p:cNvPr>
          <p:cNvSpPr txBox="1"/>
          <p:nvPr/>
        </p:nvSpPr>
        <p:spPr>
          <a:xfrm>
            <a:off x="2514600" y="89088"/>
            <a:ext cx="883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latin typeface="Apatos"/>
              </a:rPr>
              <a:t>Adaptive Cognitive Load Prediction System for Online Learning Using Behavioral Patterns</a:t>
            </a:r>
            <a:br>
              <a:rPr lang="en-US" sz="1600">
                <a:latin typeface="Apatos"/>
              </a:rPr>
            </a:br>
            <a:endParaRPr lang="en-US" sz="1600">
              <a:latin typeface="Apato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A62E30D-BCDF-4E06-8473-B7EAB6AB0518}"/>
              </a:ext>
            </a:extLst>
          </p:cNvPr>
          <p:cNvSpPr txBox="1">
            <a:spLocks/>
          </p:cNvSpPr>
          <p:nvPr/>
        </p:nvSpPr>
        <p:spPr>
          <a:xfrm>
            <a:off x="361507" y="412253"/>
            <a:ext cx="11684000" cy="79216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/>
              <a:t>Gannt Chart</a:t>
            </a:r>
          </a:p>
        </p:txBody>
      </p:sp>
    </p:spTree>
    <p:extLst>
      <p:ext uri="{BB962C8B-B14F-4D97-AF65-F5344CB8AC3E}">
        <p14:creationId xmlns:p14="http://schemas.microsoft.com/office/powerpoint/2010/main" val="26416348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D5DE8-D8E1-FB56-FCBA-8DD9CF1C8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153" y="914400"/>
            <a:ext cx="11684000" cy="792162"/>
          </a:xfrm>
        </p:spPr>
        <p:txBody>
          <a:bodyPr>
            <a:normAutofit fontScale="90000"/>
          </a:bodyPr>
          <a:lstStyle/>
          <a:p>
            <a:r>
              <a:rPr lang="en-US"/>
              <a:t>Work breakdown structure</a:t>
            </a:r>
            <a:br>
              <a:rPr lang="en-US"/>
            </a:br>
            <a:endParaRPr lang="en-US"/>
          </a:p>
        </p:txBody>
      </p:sp>
      <p:pic>
        <p:nvPicPr>
          <p:cNvPr id="4" name="Picture 6" descr="PlantUML diagram">
            <a:extLst>
              <a:ext uri="{FF2B5EF4-FFF2-40B4-BE49-F238E27FC236}">
                <a16:creationId xmlns:a16="http://schemas.microsoft.com/office/drawing/2014/main" id="{6B1136B4-D6BF-742A-9638-966FAE85F47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558" y="2438400"/>
            <a:ext cx="114300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A376A3-D920-23F9-28AA-17C7A2FF4F7A}"/>
              </a:ext>
            </a:extLst>
          </p:cNvPr>
          <p:cNvSpPr txBox="1"/>
          <p:nvPr/>
        </p:nvSpPr>
        <p:spPr>
          <a:xfrm>
            <a:off x="2286000" y="152400"/>
            <a:ext cx="8686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latin typeface="Apatos"/>
              </a:rPr>
              <a:t>Adaptive Cognitive Load Prediction System for Online Learning Using Behavioral Patterns</a:t>
            </a:r>
            <a:br>
              <a:rPr lang="en-US" sz="1600">
                <a:latin typeface="Apatos"/>
              </a:rPr>
            </a:br>
            <a:endParaRPr lang="en-US" sz="1600">
              <a:latin typeface="Apatos"/>
            </a:endParaRPr>
          </a:p>
        </p:txBody>
      </p:sp>
    </p:spTree>
    <p:extLst>
      <p:ext uri="{BB962C8B-B14F-4D97-AF65-F5344CB8AC3E}">
        <p14:creationId xmlns:p14="http://schemas.microsoft.com/office/powerpoint/2010/main" val="7814753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85A63-0F7B-6F75-6232-DDF6D495C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E766C-4D49-905A-640F-FD3B8766F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/>
              <a:t>N. Herbig et al., “Investigating Multi-Modal Measures for Cognitive Load Detection in E-Learning,” in ACM UMAP, 2020.</a:t>
            </a:r>
          </a:p>
          <a:p>
            <a:pPr>
              <a:spcBef>
                <a:spcPts val="0"/>
              </a:spcBef>
              <a:defRPr/>
            </a:pPr>
            <a:r>
              <a:rPr lang="en-US" sz="1600"/>
              <a:t>T. Weiß and T. Pfeiffer, “Consumer Decisions in Virtual Commerce Predict Good Help-Timing,” 2024.</a:t>
            </a:r>
          </a:p>
          <a:p>
            <a:pPr>
              <a:spcBef>
                <a:spcPts val="0"/>
              </a:spcBef>
              <a:defRPr/>
            </a:pPr>
            <a:r>
              <a:rPr lang="en-US" sz="1600"/>
              <a:t> A. Siddique et al., “Developing Adaptive E-Learning Environment Using Cognitive Parameters,” Journal of Educational Computing Research, 2018.</a:t>
            </a:r>
          </a:p>
          <a:p>
            <a:pPr>
              <a:spcBef>
                <a:spcPts val="0"/>
              </a:spcBef>
              <a:defRPr/>
            </a:pPr>
            <a:r>
              <a:rPr lang="en-US" sz="1600" err="1"/>
              <a:t>Sweller</a:t>
            </a:r>
            <a:r>
              <a:rPr lang="en-US" sz="1600"/>
              <a:t>, “Cognitive Load Theory,” Psychology of Learning and Motivation, vol. 55, pp. 37–76, 2011.</a:t>
            </a:r>
            <a:endParaRPr lang="en-US" sz="1600">
              <a:ea typeface="Cambria"/>
            </a:endParaRPr>
          </a:p>
          <a:p>
            <a:pPr>
              <a:spcBef>
                <a:spcPts val="0"/>
              </a:spcBef>
              <a:defRPr/>
            </a:pPr>
            <a:r>
              <a:rPr lang="en-US" sz="1600"/>
              <a:t>M. I. Ahmad et al., “A Framework to Estimate Cognitive Load Using Physiological Data,” Personal and Ubiquitous Computing, vol. 27, no. 6, pp. 2027–2041, 2023.</a:t>
            </a:r>
          </a:p>
          <a:p>
            <a:r>
              <a:rPr lang="en-US" sz="1600"/>
              <a:t>H. M. </a:t>
            </a:r>
            <a:r>
              <a:rPr lang="en-US" sz="1600" err="1"/>
              <a:t>Šola</a:t>
            </a:r>
            <a:r>
              <a:rPr lang="en-US" sz="1600"/>
              <a:t> et al., “AI Eye-Tracking Technology for Managing Cognitive Load in Online Learners,” Education Sciences, vol. 14, no. 9, 2024.</a:t>
            </a:r>
            <a:endParaRPr lang="en-US" sz="1600">
              <a:ea typeface="Cambria"/>
            </a:endParaRPr>
          </a:p>
          <a:p>
            <a:r>
              <a:rPr lang="en-US" sz="1600"/>
              <a:t>N. Herbig et al., “Investigating Multi-Modal Measures for Cognitive Load Detection in E-Learning,” in ACM UMAP, 2020.</a:t>
            </a:r>
          </a:p>
          <a:p>
            <a:r>
              <a:rPr lang="en-US" sz="1600"/>
              <a:t>I. H. Ajayi and E. </a:t>
            </a:r>
            <a:r>
              <a:rPr lang="en-US" sz="1600" err="1"/>
              <a:t>Avksentyeva</a:t>
            </a:r>
            <a:r>
              <a:rPr lang="en-US" sz="1600"/>
              <a:t>, “Machine Learning Methods for Predicting Cognitive Load Using Eye-Tracking Data,” Pakistan Journal of Life and Social Sciences, 2024.</a:t>
            </a:r>
            <a:endParaRPr lang="en-US" sz="1600">
              <a:ea typeface="Cambria"/>
            </a:endParaRPr>
          </a:p>
          <a:p>
            <a:r>
              <a:rPr lang="en-US" sz="1600"/>
              <a:t> J. V. R. </a:t>
            </a:r>
            <a:r>
              <a:rPr lang="en-US" sz="1600" err="1"/>
              <a:t>Jaisoorya</a:t>
            </a:r>
            <a:r>
              <a:rPr lang="en-US" sz="1600"/>
              <a:t> et al., “Social Network-Integrated Machine Learning for Prediction Models,” 2023.</a:t>
            </a:r>
            <a:endParaRPr lang="en-US" sz="1600">
              <a:ea typeface="Cambria"/>
            </a:endParaRPr>
          </a:p>
          <a:p>
            <a:pPr>
              <a:spcBef>
                <a:spcPts val="0"/>
              </a:spcBef>
              <a:defRPr/>
            </a:pPr>
            <a:r>
              <a:rPr lang="en-US" sz="1600">
                <a:latin typeface="Calibri"/>
                <a:ea typeface="Calibri"/>
                <a:cs typeface="Calibri"/>
              </a:rPr>
              <a:t> Z. C. da Silva, A. R. Pimentel, and L. R. Ferreira, "Learning Objects Content Presentation Adaptation Model Considering Students' Learning Styles," </a:t>
            </a:r>
            <a:r>
              <a:rPr lang="en-US" sz="1600" i="1">
                <a:latin typeface="Calibri"/>
                <a:ea typeface="Calibri"/>
                <a:cs typeface="Calibri"/>
              </a:rPr>
              <a:t>Int. J. Educ. </a:t>
            </a:r>
            <a:r>
              <a:rPr lang="en-US" sz="1600" i="1" err="1">
                <a:latin typeface="Calibri"/>
                <a:ea typeface="Calibri"/>
                <a:cs typeface="Calibri"/>
              </a:rPr>
              <a:t>Pedagog</a:t>
            </a:r>
            <a:r>
              <a:rPr lang="en-US" sz="1600" i="1">
                <a:latin typeface="Calibri"/>
                <a:ea typeface="Calibri"/>
                <a:cs typeface="Calibri"/>
              </a:rPr>
              <a:t>. Sci.</a:t>
            </a:r>
            <a:r>
              <a:rPr lang="en-US" sz="1600">
                <a:latin typeface="Calibri"/>
                <a:ea typeface="Calibri"/>
                <a:cs typeface="Calibri"/>
              </a:rPr>
              <a:t>, vol. 15, no. 8, pp. 783–790, 2021. </a:t>
            </a:r>
            <a:r>
              <a:rPr lang="en-US" sz="1600" err="1">
                <a:latin typeface="Calibri"/>
                <a:ea typeface="Calibri"/>
                <a:cs typeface="Calibri"/>
              </a:rPr>
              <a:t>doi</a:t>
            </a:r>
            <a:r>
              <a:rPr lang="en-US" sz="1600">
                <a:latin typeface="Calibri"/>
                <a:ea typeface="Calibri"/>
                <a:cs typeface="Calibri"/>
              </a:rPr>
              <a:t>: 10.5281/zenodo.10012193.</a:t>
            </a:r>
          </a:p>
          <a:p>
            <a:pPr>
              <a:spcBef>
                <a:spcPts val="0"/>
              </a:spcBef>
              <a:defRPr/>
            </a:pPr>
            <a:r>
              <a:rPr lang="en-US" sz="1600">
                <a:ea typeface="+mn-lt"/>
                <a:cs typeface="+mn-lt"/>
              </a:rPr>
              <a:t>F. L. Gambo, G. M. </a:t>
            </a:r>
            <a:r>
              <a:rPr lang="en-US" sz="1600" err="1">
                <a:ea typeface="+mn-lt"/>
                <a:cs typeface="+mn-lt"/>
              </a:rPr>
              <a:t>Wajiga</a:t>
            </a:r>
            <a:r>
              <a:rPr lang="en-US" sz="1600">
                <a:ea typeface="+mn-lt"/>
                <a:cs typeface="+mn-lt"/>
              </a:rPr>
              <a:t>, E. J. Garba, A. A. Abdullahi, and D. B. </a:t>
            </a:r>
            <a:r>
              <a:rPr lang="en-US" sz="1600" err="1">
                <a:ea typeface="+mn-lt"/>
                <a:cs typeface="+mn-lt"/>
              </a:rPr>
              <a:t>Bisandu</a:t>
            </a:r>
            <a:r>
              <a:rPr lang="en-US" sz="1600">
                <a:ea typeface="+mn-lt"/>
                <a:cs typeface="+mn-lt"/>
              </a:rPr>
              <a:t>, "A Deep Learning Solution for Learning Style Detection using Cognitive - Affective Features," Advances in Communication Technology, Computing and Engineering, pp. 32–43, 2021. 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  <a:defRPr/>
            </a:pPr>
            <a:r>
              <a:rPr lang="en-US" sz="1600">
                <a:ea typeface="+mn-lt"/>
                <a:cs typeface="+mn-lt"/>
              </a:rPr>
              <a:t>C. Lwande, L. Muchemi, and R. </a:t>
            </a:r>
            <a:r>
              <a:rPr lang="en-US" sz="1600" err="1">
                <a:ea typeface="+mn-lt"/>
                <a:cs typeface="+mn-lt"/>
              </a:rPr>
              <a:t>Oboko</a:t>
            </a:r>
            <a:r>
              <a:rPr lang="en-US" sz="1600">
                <a:ea typeface="+mn-lt"/>
                <a:cs typeface="+mn-lt"/>
              </a:rPr>
              <a:t>, "Identifying learning styles and cognitive traits in a learning management system," </a:t>
            </a:r>
            <a:r>
              <a:rPr lang="en-US" sz="1600" err="1">
                <a:ea typeface="+mn-lt"/>
                <a:cs typeface="+mn-lt"/>
              </a:rPr>
              <a:t>Heliyon</a:t>
            </a:r>
            <a:r>
              <a:rPr lang="en-US" sz="1600">
                <a:ea typeface="+mn-lt"/>
                <a:cs typeface="+mn-lt"/>
              </a:rPr>
              <a:t>, vol. 7, no. 7, p. e07701, 2021. 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  <a:defRPr/>
            </a:pPr>
            <a:endParaRPr lang="en-US" sz="1600">
              <a:ea typeface="Cambria"/>
            </a:endParaRPr>
          </a:p>
          <a:p>
            <a:endParaRPr lang="en-US" sz="1600"/>
          </a:p>
          <a:p>
            <a:endParaRPr lang="en-US" sz="1600"/>
          </a:p>
          <a:p>
            <a:endParaRPr lang="en-US" sz="1600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450376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A7B9DDA0FC1C4989A144040B8E7651" ma:contentTypeVersion="7" ma:contentTypeDescription="Create a new document." ma:contentTypeScope="" ma:versionID="e21358022cd0530bd9a6684d5e95dc90">
  <xsd:schema xmlns:xsd="http://www.w3.org/2001/XMLSchema" xmlns:xs="http://www.w3.org/2001/XMLSchema" xmlns:p="http://schemas.microsoft.com/office/2006/metadata/properties" xmlns:ns2="6b9891b5-04dc-4f8d-954f-7ee3300472da" targetNamespace="http://schemas.microsoft.com/office/2006/metadata/properties" ma:root="true" ma:fieldsID="de0f63235a430bd3084bcf072cfb0485" ns2:_="">
    <xsd:import namespace="6b9891b5-04dc-4f8d-954f-7ee3300472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9891b5-04dc-4f8d-954f-7ee3300472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9F05A13-B6C9-4711-8613-492ABC5573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E3EADB-D5D8-4AFC-8D7E-DEBB37C1E491}">
  <ds:schemaRefs>
    <ds:schemaRef ds:uri="6b9891b5-04dc-4f8d-954f-7ee3300472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50578F8-3F50-4FE0-B41C-538E2916BBEC}">
  <ds:schemaRefs>
    <ds:schemaRef ds:uri="http://purl.org/dc/elements/1.1/"/>
    <ds:schemaRef ds:uri="http://purl.org/dc/dcmitype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6b9891b5-04dc-4f8d-954f-7ee3300472da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Proposal prsentation stuct (1)</Template>
  <TotalTime>0</TotalTime>
  <Words>8277</Words>
  <Application>Microsoft Office PowerPoint</Application>
  <PresentationFormat>Widescreen</PresentationFormat>
  <Paragraphs>703</Paragraphs>
  <Slides>36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Adobe Devanagari</vt:lpstr>
      <vt:lpstr>Apatos</vt:lpstr>
      <vt:lpstr>Aptos</vt:lpstr>
      <vt:lpstr>Arial</vt:lpstr>
      <vt:lpstr>Arial,Sans-Serif</vt:lpstr>
      <vt:lpstr>Calibri</vt:lpstr>
      <vt:lpstr>Cambria</vt:lpstr>
      <vt:lpstr>quote-cjk-patch</vt:lpstr>
      <vt:lpstr>Wingdings</vt:lpstr>
      <vt:lpstr>Office Theme</vt:lpstr>
      <vt:lpstr>Adaptive Cognitive Load and Style Prediction System for Online Learning Using Behavioral Patterns </vt:lpstr>
      <vt:lpstr>PowerPoint Presentation</vt:lpstr>
      <vt:lpstr>PowerPoint Presentation</vt:lpstr>
      <vt:lpstr>PowerPoint Presentation</vt:lpstr>
      <vt:lpstr>IT22281364 |  Imesh  L.a.r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IT22089786 | Subasinghe m.h.r.i.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IT22166074 | Jayasinghe j m s 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IT22055712 | Dilshan W.G.W </vt:lpstr>
      <vt:lpstr>Teacher-Centered Explainable AI Framework for Content Adaptation </vt:lpstr>
      <vt:lpstr>Teacher-Centered Explainable AI Framework for Content Adaptation</vt:lpstr>
      <vt:lpstr>Teacher-Centered Explainable AI Framework for Content Adaptation</vt:lpstr>
      <vt:lpstr>Teacher-Centered Explainable AI Framework for Content Adaptation</vt:lpstr>
      <vt:lpstr>Teacher-Centered Explainable AI Framework for Content Adaptation</vt:lpstr>
      <vt:lpstr>Teacher-Centered Explainable AI Framework for Content Adaptation</vt:lpstr>
      <vt:lpstr>PowerPoint Presentation</vt:lpstr>
      <vt:lpstr>PowerPoint Presentation</vt:lpstr>
      <vt:lpstr>Work breakdown structure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Koliya Pulasinghe</dc:creator>
  <cp:lastModifiedBy>SUBASINGHE M. H. R. I it22089786</cp:lastModifiedBy>
  <cp:revision>2</cp:revision>
  <dcterms:created xsi:type="dcterms:W3CDTF">2025-08-25T09:34:25Z</dcterms:created>
  <dcterms:modified xsi:type="dcterms:W3CDTF">2026-10-11T15:58:58Z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0x01010041A7B9DDA0FC1C4989A144040B8E7651</vt:lpwstr>
  </property>
</Properties>
</file>