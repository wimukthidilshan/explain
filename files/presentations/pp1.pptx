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7" r:id="rId5"/>
    <p:sldId id="311" r:id="rId6"/>
    <p:sldId id="335" r:id="rId7"/>
    <p:sldId id="337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sliit-my.sharepoint.com/:x:/g/personal/it22089786_my_sliit_lk/IQAN9rWumEXwQ7lg_lMvPr2aAWLbNjPvlaD0ousJJaMBHhc?e=Cjhk49&amp;wdLOR=c1DBF8E4A-35D5-4572-96C0-BB929A60CF30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CE3C-9C6B-C284-A1AB-9CD9EC0E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5BC77-F90D-19EB-E036-DCC4F4DA1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4C4B9-3CED-2960-ECBF-573CCD16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B25CB-6063-6BBD-08F3-D6ABE4E1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7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B97E-EBE8-C66E-4327-105E1DF9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4399A-25FF-62C8-C2E2-8B9325D88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7A308-FA9A-EE4C-47DA-97C9CADE1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4FEFB-EFAA-1F41-C2B6-1927222E4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68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2CF1-3E99-D0BB-66BC-6021CA07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4B98E-409D-5F10-3B7B-B2B1FE534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E2DAD-5846-A72E-BB50-E3E5654F8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6351B-4843-2622-85A0-EBEBA04E0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419F-BFA0-7A84-F0CF-F82C1636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1E913-5348-9B14-5FE1-CBC42DAE1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F8D12-18A7-AA58-DE13-1F7185407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27C7A-434F-9758-4A3B-C7E7AEEF6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3E1F-1F46-2563-5DFF-4127FAB8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B0CF8-956B-1289-212C-309429AE4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420F5-3BDA-7110-0EE6-3A25464D9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Papers – </a:t>
            </a:r>
          </a:p>
          <a:p>
            <a:r>
              <a:rPr lang="en-US"/>
              <a:t>https://mysliit.sharepoint.com/:f:/s/RPProjectGroup_lqmyol/IgC_KHYzTPVxT67kGwWusuO_AbalE-p5uYqT-VCYsZkyJdM?e=VxXtjF</a:t>
            </a:r>
          </a:p>
          <a:p>
            <a:r>
              <a:rPr lang="en-US"/>
              <a:t>Gap Finding Matrix </a:t>
            </a:r>
            <a:r>
              <a:rPr lang="en-US">
                <a:hlinkClick r:id="rId3"/>
              </a:rPr>
              <a:t>–</a:t>
            </a:r>
            <a:r>
              <a:rPr lang="en-US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https://mysliit.sharepoint.com/:x:/s/RPProjectGroup_lqmyol/IQC2yyAwOayuTr0RbtUGfaeIAfbhhQMzz4wR_p3VjebvyKg?e=gQIo7k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5E4F4-C2F6-59E3-3336-8FAA4E41B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76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5C26-D92A-07B7-74CD-59A0291C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F02FF-1DC7-1438-7370-106F8F08A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268AE-AB49-C3CE-8D98-4B659AF57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728CE-41E2-CB87-EEAF-9421FCBFD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37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2A63-F1FA-A601-F334-8E58B375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5FD32-A9D5-0688-A85E-BE1AAA1AE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B2A42-B40A-511B-4450-4729C3B39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040C2-110A-6603-C1D9-7A2585883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81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6C98-2F90-E4B7-D7AD-37DA1BDE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99179-83D9-0051-EE56-49DAC4E64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0F41C-402D-A52C-F542-1D7403A3C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8863E-AC19-D787-73AA-1E4CEA1D4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52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16D0-CFB8-E30B-9D85-657F5C7F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6841E-8FEF-EE17-FBB5-8D318258B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A42F2-584F-5443-D36D-501F44245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38D7D-A722-6201-EC6A-8DD430917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35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8328-26D2-95FD-1009-7CCFB6AF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1C8BA-A402-BA37-9C14-34290992C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B85D8-69B8-2F3B-B15B-A645606A9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BC0D5-9EEF-7C43-2251-8F3214E1E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24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3A7BC-7095-EC50-4201-C71CE684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4B98-B025-0D53-ADDC-D5C1C61CD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FC69D-2E43-63BA-1484-EBAA2585D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FF209-948D-0388-E0C3-9EB52EB1B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4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2B7F-CA57-C36A-D447-58591E273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B63D8-E96A-E9FB-C4BB-1ED027A0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84F4B-07A8-F84A-0B47-3CF61DA50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13919-D880-7D27-3FCC-AE92A86A6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18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0040-99C5-4689-E046-C613B78E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736C2-A87A-9C57-8E1D-59DB1F0CD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4C257-0639-58EB-0D6C-38EFF090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1C67-64F0-25CF-C957-2D1969EB4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4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z="1050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76200" y="6553200"/>
            <a:ext cx="1641764" cy="310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462491" y="6592988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900" b="1" smtClean="0"/>
              <a:t>10/11/2026</a:t>
            </a:fld>
            <a:endParaRPr lang="en-US" sz="9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192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Adobe Devanagari"/>
              </a:rPr>
              <a:t>Adaptive Cognitive Load and Style Prediction System for Online Learning Using Behavioral Patterns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971800"/>
            <a:ext cx="8534400" cy="1752600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Apatos"/>
              </a:rPr>
              <a:t>R26-SE-004</a:t>
            </a:r>
          </a:p>
          <a:p>
            <a:endParaRPr lang="en-US">
              <a:solidFill>
                <a:schemeClr val="tx1"/>
              </a:solidFill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BE0B-4F26-3E9D-2D4E-D78DEA61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FBF1819-2DD5-1EC2-7826-0DF1AA853F82}"/>
              </a:ext>
            </a:extLst>
          </p:cNvPr>
          <p:cNvSpPr txBox="1"/>
          <p:nvPr/>
        </p:nvSpPr>
        <p:spPr>
          <a:xfrm>
            <a:off x="442452" y="1022969"/>
            <a:ext cx="5653548" cy="1785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The problem</a:t>
            </a:r>
          </a:p>
          <a:p>
            <a:pPr lvl="0"/>
            <a:r>
              <a:rPr lang="en-US">
                <a:latin typeface="Apatos"/>
              </a:rPr>
              <a:t>Current online learning systems do not effectively adapt to individual learners’ cognitive styles, study behaviors, and cognitive load, which can lead to inefficient learning and student frustration.</a:t>
            </a:r>
            <a:br>
              <a:rPr lang="en-US">
                <a:latin typeface="Apatos"/>
              </a:rPr>
            </a:br>
            <a:endParaRPr lang="en-US">
              <a:latin typeface="Apa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FE823-98D9-ECF3-CEC1-3874A81E3CA5}"/>
              </a:ext>
            </a:extLst>
          </p:cNvPr>
          <p:cNvSpPr/>
          <p:nvPr/>
        </p:nvSpPr>
        <p:spPr>
          <a:xfrm>
            <a:off x="5257800" y="6492875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B3F013-E4D9-A330-7D04-BC29C498D3FF}"/>
              </a:ext>
            </a:extLst>
          </p:cNvPr>
          <p:cNvSpPr txBox="1"/>
          <p:nvPr/>
        </p:nvSpPr>
        <p:spPr>
          <a:xfrm>
            <a:off x="562895" y="3834485"/>
            <a:ext cx="530696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Students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Teachers / Tutors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Universities / LMS providers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Researchers</a:t>
            </a:r>
          </a:p>
          <a:p>
            <a:endParaRPr lang="en-US" sz="2400">
              <a:latin typeface="Apa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E07FD-2458-1912-7B6A-D0DF220A3D2C}"/>
              </a:ext>
            </a:extLst>
          </p:cNvPr>
          <p:cNvSpPr txBox="1"/>
          <p:nvPr/>
        </p:nvSpPr>
        <p:spPr>
          <a:xfrm>
            <a:off x="442452" y="345427"/>
            <a:ext cx="7629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patos"/>
              </a:rPr>
              <a:t>Problem and Overall Solution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212CC-192A-88B6-1175-754BD87C20FD}"/>
              </a:ext>
            </a:extLst>
          </p:cNvPr>
          <p:cNvSpPr txBox="1"/>
          <p:nvPr/>
        </p:nvSpPr>
        <p:spPr>
          <a:xfrm>
            <a:off x="6663965" y="1022969"/>
            <a:ext cx="522093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Students may experience overload and frustration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Instructors cannot detect learner difficulty in real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patos"/>
              </a:rPr>
              <a:t>Institutions lack intelligent adaptive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AA491-5725-021B-C82F-8D97B8363193}"/>
              </a:ext>
            </a:extLst>
          </p:cNvPr>
          <p:cNvSpPr txBox="1"/>
          <p:nvPr/>
        </p:nvSpPr>
        <p:spPr>
          <a:xfrm>
            <a:off x="6699607" y="3896040"/>
            <a:ext cx="5149646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atos"/>
              </a:rPr>
              <a:t>Overall Solution</a:t>
            </a:r>
          </a:p>
          <a:p>
            <a:r>
              <a:rPr lang="en-US" sz="2000">
                <a:latin typeface="Apatos"/>
              </a:rPr>
              <a:t>A non-intrusive adaptive learning framework that uses behavioral interaction data to predict cognitive load and support personalized learning decisions.</a:t>
            </a:r>
          </a:p>
          <a:p>
            <a:pPr lvl="0"/>
            <a:endParaRPr lang="en-US" sz="2000">
              <a:latin typeface="Apatos"/>
            </a:endParaRPr>
          </a:p>
        </p:txBody>
      </p:sp>
    </p:spTree>
    <p:extLst>
      <p:ext uri="{BB962C8B-B14F-4D97-AF65-F5344CB8AC3E}">
        <p14:creationId xmlns:p14="http://schemas.microsoft.com/office/powerpoint/2010/main" val="249722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3CE5-2C08-F20B-12F7-57D852D3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A9D864-63A9-71DB-E0B1-C6B3F76C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8" y="172795"/>
            <a:ext cx="5039227" cy="755426"/>
          </a:xfrm>
        </p:spPr>
        <p:txBody>
          <a:bodyPr>
            <a:normAutofit/>
          </a:bodyPr>
          <a:lstStyle/>
          <a:p>
            <a:r>
              <a:rPr lang="en-US" sz="3200">
                <a:latin typeface="Adobe Devanagari"/>
              </a:rPr>
              <a:t>IT22281364 | L A R IMESH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71CAB-4BC9-B2C1-D324-93316847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24" y="684787"/>
            <a:ext cx="8205570" cy="498012"/>
          </a:xfrm>
        </p:spPr>
        <p:txBody>
          <a:bodyPr>
            <a:noAutofit/>
          </a:bodyPr>
          <a:lstStyle/>
          <a:p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Adaptive Learner Profiling and Cognitive Style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EB6DA-6309-895C-BC4E-82163CC63342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IT22281364           | </a:t>
            </a:r>
            <a:r>
              <a:rPr lang="en-US" sz="1600" b="1" err="1">
                <a:solidFill>
                  <a:schemeClr val="tx1"/>
                </a:solidFill>
              </a:rPr>
              <a:t>Imesh</a:t>
            </a:r>
            <a:r>
              <a:rPr lang="en-US" sz="1600" b="1">
                <a:solidFill>
                  <a:schemeClr val="tx1"/>
                </a:solidFill>
              </a:rPr>
              <a:t> L.A.R          |R26-SE-004</a:t>
            </a:r>
          </a:p>
        </p:txBody>
      </p:sp>
      <p:pic>
        <p:nvPicPr>
          <p:cNvPr id="3" name="Picture 2" descr="A person with a beard and mustache wearing a suit&#10;&#10;AI-generated content may be incorrect.">
            <a:extLst>
              <a:ext uri="{FF2B5EF4-FFF2-40B4-BE49-F238E27FC236}">
                <a16:creationId xmlns:a16="http://schemas.microsoft.com/office/drawing/2014/main" id="{C84BC609-9685-057B-CA1A-7BDAE4B4B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824" y="-2255"/>
            <a:ext cx="1687931" cy="2190249"/>
          </a:xfrm>
          <a:prstGeom prst="rect">
            <a:avLst/>
          </a:prstGeom>
        </p:spPr>
      </p:pic>
      <p:pic>
        <p:nvPicPr>
          <p:cNvPr id="2" name="Picture 1" descr="A diagram of different types of learning&#10;&#10;AI-generated content may be incorrect.">
            <a:extLst>
              <a:ext uri="{FF2B5EF4-FFF2-40B4-BE49-F238E27FC236}">
                <a16:creationId xmlns:a16="http://schemas.microsoft.com/office/drawing/2014/main" id="{79557108-9367-C34A-818C-1C14B0F73B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2" t="8053" r="877" b="13308"/>
          <a:stretch>
            <a:fillRect/>
          </a:stretch>
        </p:blipFill>
        <p:spPr>
          <a:xfrm>
            <a:off x="661736" y="1183105"/>
            <a:ext cx="8963546" cy="486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3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A618-29F0-F01B-9E31-4CE42597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0708EB-1F33-D21E-73BC-EC43E5EE99E1}"/>
              </a:ext>
            </a:extLst>
          </p:cNvPr>
          <p:cNvSpPr/>
          <p:nvPr/>
        </p:nvSpPr>
        <p:spPr>
          <a:xfrm>
            <a:off x="5392917" y="6420404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5491E-2EE1-8CF5-1BDF-194E44A96E35}"/>
              </a:ext>
            </a:extLst>
          </p:cNvPr>
          <p:cNvSpPr txBox="1"/>
          <p:nvPr/>
        </p:nvSpPr>
        <p:spPr>
          <a:xfrm>
            <a:off x="380999" y="886716"/>
            <a:ext cx="5715000" cy="52629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Sub-Problem</a:t>
            </a:r>
            <a:endParaRPr lang="en-US" sz="2400" b="1">
              <a:ea typeface="Cambria"/>
            </a:endParaRPr>
          </a:p>
          <a:p>
            <a:r>
              <a:rPr lang="en-US" sz="2400">
                <a:ea typeface="+mn-lt"/>
                <a:cs typeface="+mn-lt"/>
              </a:rPr>
              <a:t>Difficulty in accurately identifying how learners learn in e-learning environments, including their learner profile such as organized, unorganized, unreflective, or dissonant, and their cognitive style such as Visual, Verbal, Analytic, or Wholistic.</a:t>
            </a:r>
          </a:p>
          <a:p>
            <a:r>
              <a:rPr lang="en-US" sz="2400" b="1">
                <a:ea typeface="Cambria"/>
              </a:rPr>
              <a:t>Proposed Solution</a:t>
            </a:r>
          </a:p>
          <a:p>
            <a:r>
              <a:rPr lang="en-US" sz="2400">
                <a:ea typeface="+mn-lt"/>
                <a:cs typeface="+mn-lt"/>
              </a:rPr>
              <a:t>Develop an adaptive learner profiling system that identifies the learner profile using assistive questions and detects cognitive styles using gaze tracking, cursor </a:t>
            </a:r>
            <a:r>
              <a:rPr lang="en-US" sz="2400" err="1">
                <a:ea typeface="+mn-lt"/>
                <a:cs typeface="+mn-lt"/>
              </a:rPr>
              <a:t>behaviour</a:t>
            </a:r>
            <a:r>
              <a:rPr lang="en-US" sz="2400">
                <a:ea typeface="+mn-lt"/>
                <a:cs typeface="+mn-lt"/>
              </a:rPr>
              <a:t>, GEFT questions, and learner interaction data.</a:t>
            </a:r>
            <a:endParaRPr lang="en-US" sz="2400">
              <a:ea typeface="Cambria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CC6AD16-49CB-4847-DF3A-862188FA0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750" y="206829"/>
            <a:ext cx="10842205" cy="508897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chemeClr val="tx1"/>
                </a:solidFill>
                <a:ea typeface="+mn-lt"/>
                <a:cs typeface="+mn-lt"/>
              </a:rPr>
              <a:t>Adaptive Learner Profiling and Cognitive Style Detection</a:t>
            </a:r>
            <a:endParaRPr lang="en-US" sz="3200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0893-67EB-FAFF-70B4-B84A4C768D36}"/>
              </a:ext>
            </a:extLst>
          </p:cNvPr>
          <p:cNvSpPr txBox="1"/>
          <p:nvPr/>
        </p:nvSpPr>
        <p:spPr>
          <a:xfrm>
            <a:off x="6527131" y="886716"/>
            <a:ext cx="5283867" cy="5260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 rtl="0"/>
            <a:r>
              <a:rPr lang="en-US" sz="2400" b="1" i="0" u="none" strike="noStrike" baseline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Core Technical Contribution</a:t>
            </a:r>
            <a:r>
              <a:rPr lang="en-US" sz="2400" b="0" i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Learner profile module using rule-based questions.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Visual vs Verbal module using split-screen </a:t>
            </a:r>
            <a:r>
              <a:rPr lang="en-US" sz="2400" err="1">
                <a:ea typeface="+mn-lt"/>
                <a:cs typeface="+mn-lt"/>
              </a:rPr>
              <a:t>behaviour</a:t>
            </a:r>
            <a:r>
              <a:rPr lang="en-US" sz="2400">
                <a:ea typeface="+mn-lt"/>
                <a:cs typeface="+mn-lt"/>
              </a:rPr>
              <a:t> data and Random Forest.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Analytic vs Wholistic module using GEFT responses, </a:t>
            </a:r>
            <a:r>
              <a:rPr lang="en-US" sz="2400" err="1">
                <a:ea typeface="+mn-lt"/>
                <a:cs typeface="+mn-lt"/>
              </a:rPr>
              <a:t>behaviour</a:t>
            </a:r>
            <a:r>
              <a:rPr lang="en-US" sz="2400">
                <a:ea typeface="+mn-lt"/>
                <a:cs typeface="+mn-lt"/>
              </a:rPr>
              <a:t> data, and Random Forest.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Developed the system using React, </a:t>
            </a:r>
            <a:r>
              <a:rPr lang="en-US" sz="2400" err="1">
                <a:ea typeface="+mn-lt"/>
                <a:cs typeface="+mn-lt"/>
              </a:rPr>
              <a:t>FastAPI</a:t>
            </a:r>
            <a:r>
              <a:rPr lang="en-US" sz="2400">
                <a:ea typeface="+mn-lt"/>
                <a:cs typeface="+mn-lt"/>
              </a:rPr>
              <a:t>, and Google </a:t>
            </a:r>
            <a:r>
              <a:rPr lang="en-US" sz="2400" err="1">
                <a:ea typeface="+mn-lt"/>
                <a:cs typeface="+mn-lt"/>
              </a:rPr>
              <a:t>Colab</a:t>
            </a:r>
            <a:r>
              <a:rPr lang="en-US" sz="2400">
                <a:ea typeface="+mn-lt"/>
                <a:cs typeface="+mn-lt"/>
              </a:rPr>
              <a:t> for interface development, backend processing, and model training. </a:t>
            </a:r>
            <a:endParaRPr lang="en-US" sz="2400"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ea typeface="Cambr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626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BB7D-BDB4-02A3-D1CE-5D59C242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CECA38-6317-34BA-AAFB-F0F0D573CDA2}"/>
              </a:ext>
            </a:extLst>
          </p:cNvPr>
          <p:cNvSpPr/>
          <p:nvPr/>
        </p:nvSpPr>
        <p:spPr>
          <a:xfrm>
            <a:off x="5392917" y="6420404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E21DD-D790-B631-9BAC-1B4602249E9D}"/>
              </a:ext>
            </a:extLst>
          </p:cNvPr>
          <p:cNvSpPr txBox="1"/>
          <p:nvPr/>
        </p:nvSpPr>
        <p:spPr>
          <a:xfrm>
            <a:off x="6417940" y="1303490"/>
            <a:ext cx="4970643" cy="43704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User Feedback on Prototype</a:t>
            </a:r>
            <a:endParaRPr lang="en-US" sz="2000">
              <a:latin typeface="Apatos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Users suggested improving UI design and responsiveness for smoother interaction</a:t>
            </a:r>
            <a:endParaRPr lang="en-US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Some users experienced slight delays in the GEFT module when moving from one question to another</a:t>
            </a:r>
            <a:endParaRPr lang="en-US">
              <a:latin typeface="Apatos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Some female users were uncomfortable using the webcam-based gaze tracking feature</a:t>
            </a:r>
            <a:endParaRPr lang="en-US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Users suggested adding optional webcam enable/disable controls for better comfort and usability</a:t>
            </a:r>
            <a:endParaRPr lang="en-US">
              <a:ea typeface="Cambria"/>
            </a:endParaRPr>
          </a:p>
          <a:p>
            <a:endParaRPr lang="en-US">
              <a:latin typeface="Apato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76C96-1A8D-E2FA-60E1-4EE2EA9E9B24}"/>
              </a:ext>
            </a:extLst>
          </p:cNvPr>
          <p:cNvSpPr txBox="1"/>
          <p:nvPr/>
        </p:nvSpPr>
        <p:spPr>
          <a:xfrm>
            <a:off x="464267" y="1286506"/>
            <a:ext cx="5173672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Calibri"/>
                <a:ea typeface="Calibri"/>
                <a:cs typeface="Calibri"/>
              </a:rPr>
              <a:t>Implementation Checklist (PP1 Progress)</a:t>
            </a:r>
            <a:endParaRPr lang="en-US"/>
          </a:p>
          <a:p>
            <a:r>
              <a:rPr lang="en-US" b="1"/>
              <a:t>Completed</a:t>
            </a:r>
            <a:endParaRPr lang="en-US" b="1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Built the end-to-end flow for learner profiling and cognitive style detection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Implemented </a:t>
            </a:r>
            <a:r>
              <a:rPr lang="en-US" err="1">
                <a:ea typeface="+mn-lt"/>
                <a:cs typeface="+mn-lt"/>
              </a:rPr>
              <a:t>MediaPipe</a:t>
            </a:r>
            <a:r>
              <a:rPr lang="en-US">
                <a:ea typeface="+mn-lt"/>
                <a:cs typeface="+mn-lt"/>
              </a:rPr>
              <a:t>-based gaze tracking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Implemented cursor </a:t>
            </a:r>
            <a:r>
              <a:rPr lang="en-US" err="1">
                <a:ea typeface="+mn-lt"/>
                <a:cs typeface="+mn-lt"/>
              </a:rPr>
              <a:t>behaviour</a:t>
            </a:r>
            <a:r>
              <a:rPr lang="en-US">
                <a:ea typeface="+mn-lt"/>
                <a:cs typeface="+mn-lt"/>
              </a:rPr>
              <a:t> tracking and other </a:t>
            </a:r>
            <a:r>
              <a:rPr lang="en-US" err="1">
                <a:ea typeface="+mn-lt"/>
                <a:cs typeface="+mn-lt"/>
              </a:rPr>
              <a:t>behavioural</a:t>
            </a:r>
            <a:r>
              <a:rPr lang="en-US">
                <a:ea typeface="+mn-lt"/>
                <a:cs typeface="+mn-lt"/>
              </a:rPr>
              <a:t> data collection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Developed and integrated the cognitive style prediction modules </a:t>
            </a:r>
            <a:endParaRPr lang="en-US"/>
          </a:p>
          <a:p>
            <a:r>
              <a:rPr lang="en-US" b="1"/>
              <a:t>Future Improvements</a:t>
            </a:r>
            <a:endParaRPr lang="en-US" b="1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Replace the current rule-based learner profile module with a machine learning model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Update learner profiles dynamically using course completion </a:t>
            </a:r>
            <a:r>
              <a:rPr lang="en-US" err="1">
                <a:ea typeface="+mn-lt"/>
                <a:cs typeface="+mn-lt"/>
              </a:rPr>
              <a:t>behaviour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Train the models using real user data instead of only synthetic data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ABBE954-19D2-2439-9CA4-F04B83374812}"/>
              </a:ext>
            </a:extLst>
          </p:cNvPr>
          <p:cNvSpPr txBox="1">
            <a:spLocks/>
          </p:cNvSpPr>
          <p:nvPr/>
        </p:nvSpPr>
        <p:spPr>
          <a:xfrm>
            <a:off x="130750" y="437434"/>
            <a:ext cx="10842205" cy="5088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olidFill>
                  <a:schemeClr val="tx1"/>
                </a:solidFill>
                <a:ea typeface="+mn-lt"/>
                <a:cs typeface="+mn-lt"/>
              </a:rPr>
              <a:t>Adaptive Learner Profiling and Cognitive Style Detection</a:t>
            </a:r>
            <a:endParaRPr lang="en-US" sz="3200" b="1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3135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848A-0700-F3DA-6CEF-BC071344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50C5B2-C70A-F228-6124-3C316060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09" y="1061622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>
                <a:latin typeface="Adobe Devanagari"/>
              </a:rPr>
              <a:t>IT22089786 | </a:t>
            </a:r>
            <a:r>
              <a:rPr lang="en-US" sz="3600" err="1">
                <a:latin typeface="Adobe Devanagari"/>
              </a:rPr>
              <a:t>Subasinghe</a:t>
            </a:r>
            <a:r>
              <a:rPr lang="en-US" sz="3600">
                <a:latin typeface="Adobe Devanagari"/>
              </a:rPr>
              <a:t> M.H.R.I.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2CBEDC-994C-3852-6614-243027718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9896" y="1974301"/>
            <a:ext cx="9448833" cy="49801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Apatos"/>
              </a:rPr>
              <a:t>Real-time Cognitive Load Prediction</a:t>
            </a:r>
            <a:endParaRPr lang="en-US" sz="2800" b="1" dirty="0">
              <a:solidFill>
                <a:schemeClr val="tx1"/>
              </a:solidFill>
              <a:latin typeface="Apatos"/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EC48F-A2CB-AD87-4838-98926BC2B1A4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  <a:latin typeface="+mj-lt"/>
              </a:rPr>
              <a:t>IT22089786           | </a:t>
            </a:r>
            <a:r>
              <a:rPr kumimoji="0" lang="en-US" sz="1600" b="1" i="0" u="none" strike="noStrike" kern="1200" cap="all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j-ea"/>
              </a:rPr>
              <a:t>SubasiNghe</a:t>
            </a:r>
            <a:r>
              <a:rPr kumimoji="0" lang="en-US" sz="16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j-ea"/>
              </a:rPr>
              <a:t> M.H.R.I      </a:t>
            </a:r>
            <a:r>
              <a:rPr lang="en-US" sz="1600" b="1">
                <a:solidFill>
                  <a:schemeClr val="tx1"/>
                </a:solidFill>
                <a:latin typeface="+mj-lt"/>
              </a:rPr>
              <a:t>|R26-SE-004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44092-00A2-945B-AD0E-5A41B2FB2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220706"/>
            <a:ext cx="1681832" cy="16818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91807-C81B-B3BB-53EB-FEFC5D275C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4" b="23532"/>
          <a:stretch>
            <a:fillRect/>
          </a:stretch>
        </p:blipFill>
        <p:spPr bwMode="auto">
          <a:xfrm>
            <a:off x="878554" y="2821200"/>
            <a:ext cx="9370175" cy="2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339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3CC6-0561-DFE3-7FC6-1C4DCA28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476F92-7955-7C99-AF38-23762D914E90}"/>
              </a:ext>
            </a:extLst>
          </p:cNvPr>
          <p:cNvSpPr/>
          <p:nvPr/>
        </p:nvSpPr>
        <p:spPr>
          <a:xfrm>
            <a:off x="5950683" y="6454878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C253C-A2EF-9200-0779-6049124E3115}"/>
              </a:ext>
            </a:extLst>
          </p:cNvPr>
          <p:cNvSpPr txBox="1"/>
          <p:nvPr/>
        </p:nvSpPr>
        <p:spPr>
          <a:xfrm>
            <a:off x="344091" y="629930"/>
            <a:ext cx="5715000" cy="42165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+mj-lt"/>
              </a:rPr>
              <a:t>Sub-Problem</a:t>
            </a:r>
            <a:br>
              <a:rPr lang="en-US" sz="2000">
                <a:latin typeface="+mj-lt"/>
              </a:rPr>
            </a:br>
            <a:r>
              <a:rPr lang="en-US" sz="2000">
                <a:latin typeface="+mj-lt"/>
              </a:rPr>
              <a:t>Online learners may experience cognitive overload during video-based learning, but the system cannot identify their cognitive load in real time using learner behavior.</a:t>
            </a:r>
          </a:p>
          <a:p>
            <a:endParaRPr lang="en-US" sz="2000">
              <a:latin typeface="+mj-lt"/>
            </a:endParaRPr>
          </a:p>
          <a:p>
            <a:r>
              <a:rPr lang="en-US" sz="2000" b="1" u="sng">
                <a:latin typeface="+mj-lt"/>
              </a:rPr>
              <a:t>Proposed Solution</a:t>
            </a:r>
            <a:br>
              <a:rPr lang="en-US" sz="2000">
                <a:latin typeface="+mj-lt"/>
              </a:rPr>
            </a:br>
            <a:r>
              <a:rPr lang="en-US" sz="2000">
                <a:latin typeface="+mj-lt"/>
              </a:rPr>
              <a:t>Develop a real-time cognitive load prediction model that collects learner behavioral patterns during video learning and predicts the learner’s cognitive load level.</a:t>
            </a:r>
          </a:p>
          <a:p>
            <a:br>
              <a:rPr lang="en-US" sz="2400">
                <a:latin typeface="+mj-lt"/>
              </a:rPr>
            </a:br>
            <a:endParaRPr lang="en-US" sz="2400">
              <a:latin typeface="+mj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55DF452-C81B-FC34-68C9-2A5A0239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5981" y="72470"/>
            <a:ext cx="4066220" cy="365126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Apatos"/>
              </a:rPr>
              <a:t>Real-time Cognitive Load Prediction</a:t>
            </a:r>
            <a:endParaRPr lang="en-US" sz="1800" b="1" dirty="0">
              <a:solidFill>
                <a:schemeClr val="tx1"/>
              </a:solidFill>
              <a:latin typeface="Apatos"/>
              <a:ea typeface="Cambri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14D1D-4D74-7760-3D5B-30BE9E8FC3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28" b="23532"/>
          <a:stretch>
            <a:fillRect/>
          </a:stretch>
        </p:blipFill>
        <p:spPr bwMode="auto">
          <a:xfrm>
            <a:off x="344091" y="4846468"/>
            <a:ext cx="5715000" cy="1701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DA711D-6943-5819-722F-7F0F592AD28A}"/>
              </a:ext>
            </a:extLst>
          </p:cNvPr>
          <p:cNvSpPr txBox="1"/>
          <p:nvPr/>
        </p:nvSpPr>
        <p:spPr>
          <a:xfrm>
            <a:off x="6572236" y="629930"/>
            <a:ext cx="5173672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+mj-lt"/>
              </a:rPr>
              <a:t>Core Technical Contribution</a:t>
            </a:r>
            <a:endParaRPr lang="en-US" u="sng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Uses a Random Forest model to classify cognitive load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Developed a real-time cognitive load prediction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Collects learner behavioral patterns during video-based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Extracts features such as pause frequency, rewatch count, navigation count, idle duration, and time on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Predicts cognitive load as Very Low, Low, Medium, High, or Very High.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Displays predicted load, and raw event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Saves prediction records for later analysis and explainability.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Provides prediction outputs to LIME/SHAP and content adaptation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9235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EBC3-DA70-F2A9-1118-1A63C5C7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014039-4B51-00FC-A5A5-BEA8C65B8281}"/>
              </a:ext>
            </a:extLst>
          </p:cNvPr>
          <p:cNvSpPr/>
          <p:nvPr/>
        </p:nvSpPr>
        <p:spPr>
          <a:xfrm>
            <a:off x="5589562" y="6492875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84ADD-F10E-E359-4569-95DF49A72B12}"/>
              </a:ext>
            </a:extLst>
          </p:cNvPr>
          <p:cNvSpPr txBox="1"/>
          <p:nvPr/>
        </p:nvSpPr>
        <p:spPr>
          <a:xfrm>
            <a:off x="6715432" y="498012"/>
            <a:ext cx="4837471" cy="3477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+mj-lt"/>
              </a:rPr>
              <a:t>User Feedback on Prototype</a:t>
            </a:r>
            <a:endParaRPr lang="en-US" sz="2000" u="sng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Real learner behavior data should be collected through the prototype.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Cognitive load labels should be collected using a short questionnaire.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Prediction result should be clearly visible in the learning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Need a clear method to collect the required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+mj-lt"/>
              </a:rPr>
              <a:t>Reduce the latency for taking to prediction.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DD21A9C-7FF8-8AF5-8B70-40710F007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9315" y="-99845"/>
            <a:ext cx="4430013" cy="498012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Apatos"/>
              </a:rPr>
              <a:t>Real-time Cognitive Load Prediction</a:t>
            </a:r>
            <a:endParaRPr lang="en-US" sz="1600" b="1" dirty="0">
              <a:solidFill>
                <a:schemeClr val="tx1"/>
              </a:solidFill>
              <a:latin typeface="Apatos"/>
              <a:ea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8ABD5-30F2-9BC7-9800-1A603023A2BD}"/>
              </a:ext>
            </a:extLst>
          </p:cNvPr>
          <p:cNvSpPr txBox="1"/>
          <p:nvPr/>
        </p:nvSpPr>
        <p:spPr>
          <a:xfrm>
            <a:off x="507104" y="498012"/>
            <a:ext cx="5173672" cy="5663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+mj-lt"/>
              </a:rPr>
              <a:t>Implementation Checklist (PP1 Progress)</a:t>
            </a:r>
            <a:endParaRPr lang="en-US" u="sng">
              <a:latin typeface="+mj-lt"/>
              <a:ea typeface="Cambria"/>
            </a:endParaRPr>
          </a:p>
          <a:p>
            <a:r>
              <a:rPr lang="en-US" b="1" u="sng">
                <a:latin typeface="+mj-lt"/>
              </a:rPr>
              <a:t>Completed</a:t>
            </a:r>
            <a:endParaRPr lang="en-US" u="sng">
              <a:latin typeface="+mj-lt"/>
            </a:endParaRPr>
          </a:p>
          <a:p>
            <a:r>
              <a:rPr lang="en-US">
                <a:latin typeface="+mj-lt"/>
              </a:rPr>
              <a:t>✅ Prediction model developed</a:t>
            </a:r>
          </a:p>
          <a:p>
            <a:r>
              <a:rPr lang="en-US">
                <a:latin typeface="+mj-lt"/>
              </a:rPr>
              <a:t>✅ </a:t>
            </a:r>
            <a:r>
              <a:rPr lang="en-US" err="1">
                <a:latin typeface="+mj-lt"/>
              </a:rPr>
              <a:t>FastAPI</a:t>
            </a:r>
            <a:r>
              <a:rPr lang="en-US">
                <a:latin typeface="+mj-lt"/>
              </a:rPr>
              <a:t> prediction service implemented</a:t>
            </a:r>
          </a:p>
          <a:p>
            <a:r>
              <a:rPr lang="en-US">
                <a:latin typeface="+mj-lt"/>
              </a:rPr>
              <a:t>✅ Video behavior tracking implemented</a:t>
            </a:r>
          </a:p>
          <a:p>
            <a:r>
              <a:rPr lang="en-US">
                <a:latin typeface="+mj-lt"/>
              </a:rPr>
              <a:t>✅ Feature window generation implemented</a:t>
            </a:r>
          </a:p>
          <a:p>
            <a:r>
              <a:rPr lang="en-US">
                <a:latin typeface="+mj-lt"/>
              </a:rPr>
              <a:t>✅ </a:t>
            </a:r>
            <a:r>
              <a:rPr lang="en-US" err="1">
                <a:latin typeface="+mj-lt"/>
              </a:rPr>
              <a:t>CourseDetail</a:t>
            </a:r>
            <a:r>
              <a:rPr lang="en-US">
                <a:latin typeface="+mj-lt"/>
              </a:rPr>
              <a:t> live prediction panel integrated</a:t>
            </a:r>
          </a:p>
          <a:p>
            <a:r>
              <a:rPr lang="en-US">
                <a:latin typeface="+mj-lt"/>
              </a:rPr>
              <a:t>✅ Prediction records saved for explainability</a:t>
            </a:r>
          </a:p>
          <a:p>
            <a:r>
              <a:rPr lang="en-US" b="1" u="sng">
                <a:latin typeface="+mj-lt"/>
              </a:rPr>
              <a:t>Remaining</a:t>
            </a:r>
            <a:endParaRPr lang="en-US" u="sng">
              <a:latin typeface="+mj-lt"/>
            </a:endParaRPr>
          </a:p>
          <a:p>
            <a:r>
              <a:rPr lang="en-US">
                <a:latin typeface="+mj-lt"/>
              </a:rPr>
              <a:t>⬜ Collect real learner data</a:t>
            </a:r>
          </a:p>
          <a:p>
            <a:r>
              <a:rPr lang="en-US">
                <a:latin typeface="+mj-lt"/>
              </a:rPr>
              <a:t>⬜ Retrain and validate with real data</a:t>
            </a:r>
          </a:p>
          <a:p>
            <a:r>
              <a:rPr lang="en-US">
                <a:latin typeface="+mj-lt"/>
              </a:rPr>
              <a:t>⬜ Develop the cognitive load detection for content                                                      </a:t>
            </a:r>
          </a:p>
          <a:p>
            <a:r>
              <a:rPr lang="en-US">
                <a:latin typeface="+mj-lt"/>
              </a:rPr>
              <a:t>adaptation area</a:t>
            </a:r>
          </a:p>
          <a:p>
            <a:r>
              <a:rPr lang="en-US">
                <a:latin typeface="+mj-lt"/>
              </a:rPr>
              <a:t>⬜ Add questionnaire-based labels</a:t>
            </a:r>
          </a:p>
          <a:p>
            <a:r>
              <a:rPr lang="en-US">
                <a:latin typeface="+mj-lt"/>
              </a:rPr>
              <a:t>⬜ Improve live panel and feature extraction</a:t>
            </a:r>
          </a:p>
          <a:p>
            <a:r>
              <a:rPr lang="en-US" b="1" u="sng">
                <a:latin typeface="+mj-lt"/>
              </a:rPr>
              <a:t>In Progress</a:t>
            </a:r>
            <a:endParaRPr lang="en-US" u="sng">
              <a:latin typeface="+mj-lt"/>
            </a:endParaRPr>
          </a:p>
          <a:p>
            <a:r>
              <a:rPr lang="en-US">
                <a:latin typeface="+mj-lt"/>
              </a:rPr>
              <a:t>🔄 Full-system testing</a:t>
            </a:r>
          </a:p>
          <a:p>
            <a:r>
              <a:rPr lang="en-US">
                <a:latin typeface="+mj-lt"/>
              </a:rPr>
              <a:t>🔄 Explainability integration support</a:t>
            </a:r>
          </a:p>
          <a:p>
            <a:r>
              <a:rPr lang="en-US">
                <a:latin typeface="+mj-lt"/>
              </a:rPr>
              <a:t>🔄 Dataset collection refinement</a:t>
            </a:r>
          </a:p>
          <a:p>
            <a:endParaRPr lang="en-US" sz="2000" b="1">
              <a:latin typeface="+mj-lt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6063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7549-F188-4F66-1133-045270C6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B2D66D-BCBF-C91F-455B-C48AB74B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59" y="805431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>
                <a:latin typeface="Adobe Devanagari"/>
              </a:rPr>
              <a:t>IT22166074  |  Jayasinghe J. M. S. 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B01B49-9027-4C32-317D-85985EF28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39" y="1459258"/>
            <a:ext cx="9448833" cy="498012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  <a:latin typeface="Cambria"/>
                <a:ea typeface="Cambria"/>
              </a:rPr>
              <a:t>Cognitive-Adaptive Content Personalization Engine (CACPE)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81D8B2-0266-2A01-F1E9-394789D7B5B7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IT22166074 |   Jayasinghe J.M.S.N. |R26-SE-004</a:t>
            </a:r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FCB4666E-BA42-D5A7-48A9-A6773BBD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4" t="-140" r="11833" b="8051"/>
          <a:stretch>
            <a:fillRect/>
          </a:stretch>
        </p:blipFill>
        <p:spPr>
          <a:xfrm>
            <a:off x="10112995" y="74629"/>
            <a:ext cx="1998790" cy="20219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412487-AD2D-F86F-54B3-2D058730B2E3}"/>
              </a:ext>
            </a:extLst>
          </p:cNvPr>
          <p:cNvSpPr/>
          <p:nvPr/>
        </p:nvSpPr>
        <p:spPr>
          <a:xfrm>
            <a:off x="10393679" y="6380480"/>
            <a:ext cx="93472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0400A-5676-765E-A496-7B9C70D3C683}"/>
              </a:ext>
            </a:extLst>
          </p:cNvPr>
          <p:cNvSpPr txBox="1"/>
          <p:nvPr/>
        </p:nvSpPr>
        <p:spPr>
          <a:xfrm>
            <a:off x="10109448" y="6565094"/>
            <a:ext cx="11075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ea typeface="Cambria"/>
              </a:rPr>
              <a:t>6/11/2026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D23F46-FCC9-7934-2A6D-6AD8872B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2" t="13115" r="1294" b="1873"/>
          <a:stretch>
            <a:fillRect/>
          </a:stretch>
        </p:blipFill>
        <p:spPr>
          <a:xfrm>
            <a:off x="1413069" y="2177740"/>
            <a:ext cx="8259839" cy="39889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5104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0B10-66B7-C975-688A-1363B49F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A428B0-970A-1D8B-D257-2E5BDC6EF819}"/>
              </a:ext>
            </a:extLst>
          </p:cNvPr>
          <p:cNvSpPr txBox="1"/>
          <p:nvPr/>
        </p:nvSpPr>
        <p:spPr>
          <a:xfrm>
            <a:off x="613316" y="1332696"/>
            <a:ext cx="4404731" cy="43088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r>
              <a:rPr lang="en-US" b="1" u="sng">
                <a:ea typeface="+mn-lt"/>
                <a:cs typeface="+mn-lt"/>
              </a:rPr>
              <a:t>Sub-Problem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Learners may experience high cognitive load when lesson materials are presented in a fixed format that does not match their cognitive style or current learning capacity</a:t>
            </a:r>
            <a:endParaRPr lang="en-US">
              <a:latin typeface="Cambria"/>
              <a:ea typeface="Cambria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b="1" u="sng">
                <a:ea typeface="+mn-lt"/>
                <a:cs typeface="+mn-lt"/>
              </a:rPr>
              <a:t>Proposed Solution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Develop an adaptive content conversion module that transforms educator-uploaded lesson materials into personalized learning content based on the</a:t>
            </a:r>
            <a:r>
              <a:rPr lang="en-US" b="1">
                <a:ea typeface="+mn-lt"/>
                <a:cs typeface="+mn-lt"/>
              </a:rPr>
              <a:t> learner’s cognitive load and cognitive style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 sz="2000">
              <a:ea typeface="+mn-lt"/>
              <a:cs typeface="+mn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82FF2B-1D2A-45DD-7DCD-418627DA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2064" y="0"/>
            <a:ext cx="9448833" cy="498012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  <a:latin typeface="Cambria"/>
                <a:ea typeface="Cambria"/>
              </a:rPr>
              <a:t>Cognitive-Adaptive Content Personalization Engine (CACPE)</a:t>
            </a:r>
            <a:endParaRPr lang="en-US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B3EF9-D449-C81B-72C8-C5366412DB9A}"/>
              </a:ext>
            </a:extLst>
          </p:cNvPr>
          <p:cNvSpPr/>
          <p:nvPr/>
        </p:nvSpPr>
        <p:spPr>
          <a:xfrm>
            <a:off x="3609278" y="649606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IT22166074 |   Jayasinghe J.M.S.N. |R26-SE-004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1ACC3-BCA4-6D2C-DB06-B6D26E3D1876}"/>
              </a:ext>
            </a:extLst>
          </p:cNvPr>
          <p:cNvSpPr txBox="1"/>
          <p:nvPr/>
        </p:nvSpPr>
        <p:spPr>
          <a:xfrm>
            <a:off x="5503578" y="1373345"/>
            <a:ext cx="6418891" cy="4247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🔹Built a structured educator upload system for video, PPT, PDF, and images.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🔹Extracted lesson content automatically from uploaded files. 🔹Converted video/audio into text using speech-to-text.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🔹Extracted text from PPT and PDF materials.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🔹Stored extracted content as reusable knowledge chunks. </a:t>
            </a:r>
          </a:p>
          <a:p>
            <a:r>
              <a:rPr lang="en-US">
                <a:ea typeface="+mn-lt"/>
                <a:cs typeface="+mn-lt"/>
              </a:rPr>
              <a:t>🔹Used one unified knowledge source for summaries, visuals, Q&amp;A, and content conversion.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🔹Adapted lesson content based on learner profile, cognitive style, and cognitive load.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🔹Reduced hallucination by generating content only from uploaded lesson materials.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🔹Supported multiple outputs such as summaries, personalized explanations, visuals, and assistant responses. </a:t>
            </a:r>
            <a:endParaRPr lang="en-US">
              <a:ea typeface="Cambri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252C5-C534-76D7-1153-7CBDD5D2E19A}"/>
              </a:ext>
            </a:extLst>
          </p:cNvPr>
          <p:cNvSpPr/>
          <p:nvPr/>
        </p:nvSpPr>
        <p:spPr>
          <a:xfrm>
            <a:off x="10393679" y="6380480"/>
            <a:ext cx="93472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A9EFA-647D-EF72-2A5C-861CA876151B}"/>
              </a:ext>
            </a:extLst>
          </p:cNvPr>
          <p:cNvSpPr txBox="1"/>
          <p:nvPr/>
        </p:nvSpPr>
        <p:spPr>
          <a:xfrm>
            <a:off x="10109448" y="6565094"/>
            <a:ext cx="11075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ea typeface="Cambria"/>
              </a:rPr>
              <a:t>6/11/2026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6789DD-32BE-64C6-912A-42606DB87BDA}"/>
              </a:ext>
            </a:extLst>
          </p:cNvPr>
          <p:cNvSpPr/>
          <p:nvPr/>
        </p:nvSpPr>
        <p:spPr>
          <a:xfrm>
            <a:off x="1023310" y="801401"/>
            <a:ext cx="3542371" cy="70500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>
                <a:solidFill>
                  <a:srgbClr val="000000"/>
                </a:solidFill>
                <a:ea typeface="Cambria"/>
              </a:rPr>
              <a:t>Sub-Problem and Proposed Solution</a:t>
            </a:r>
            <a:endParaRPr lang="en-US" err="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FDEDBB-4436-02F0-B37A-17D9357280D0}"/>
              </a:ext>
            </a:extLst>
          </p:cNvPr>
          <p:cNvSpPr/>
          <p:nvPr/>
        </p:nvSpPr>
        <p:spPr>
          <a:xfrm>
            <a:off x="6710680" y="871406"/>
            <a:ext cx="4013200" cy="629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Core Technical Contribution</a:t>
            </a:r>
            <a:endParaRPr lang="en-US" sz="200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3096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B352-EB5E-89AF-0C90-78B520EA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0BD838-CCDD-B565-69FC-A1EC7A4E6906}"/>
              </a:ext>
            </a:extLst>
          </p:cNvPr>
          <p:cNvSpPr txBox="1"/>
          <p:nvPr/>
        </p:nvSpPr>
        <p:spPr>
          <a:xfrm>
            <a:off x="7600610" y="796901"/>
            <a:ext cx="4190790" cy="45243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Avoid conversion prompts every 2 minutes. 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Show prompts only at video middle and end.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Make the video screen larger.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full-screen option for personalized content.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Allow focus on video or personalized content separately.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Display images extracted from PDFs.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Show AI-generated visuals and mind maps.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Include both PDF images and generated visuals. </a:t>
            </a:r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18C528A-ECB1-C8E5-F8A3-DD86485FF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2064" y="0"/>
            <a:ext cx="9448833" cy="498012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  <a:latin typeface="Cambria"/>
                <a:ea typeface="Cambria"/>
              </a:rPr>
              <a:t>Cognitive-Adaptive Content Personalization Engine (CACPE)</a:t>
            </a:r>
            <a:endParaRPr lang="en-US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618E2-6035-ED49-CE9D-3AAD75FABFD9}"/>
              </a:ext>
            </a:extLst>
          </p:cNvPr>
          <p:cNvSpPr txBox="1"/>
          <p:nvPr/>
        </p:nvSpPr>
        <p:spPr>
          <a:xfrm>
            <a:off x="535849" y="816193"/>
            <a:ext cx="6846356" cy="5632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+mj-lt"/>
              </a:rPr>
              <a:t>Completed</a:t>
            </a:r>
            <a:endParaRPr lang="en-US" u="sng">
              <a:latin typeface="+mj-lt"/>
            </a:endParaRPr>
          </a:p>
          <a:p>
            <a:r>
              <a:rPr lang="en-US">
                <a:latin typeface="+mj-lt"/>
              </a:rPr>
              <a:t>✅</a:t>
            </a:r>
            <a:r>
              <a:rPr lang="en-US">
                <a:ea typeface="+mn-lt"/>
                <a:cs typeface="+mn-lt"/>
              </a:rPr>
              <a:t>Developed educator content upload.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✅</a:t>
            </a:r>
            <a:r>
              <a:rPr lang="en-US">
                <a:ea typeface="+mn-lt"/>
                <a:cs typeface="+mn-lt"/>
              </a:rPr>
              <a:t>Extracted content from PPT, PDF, video, and audio. </a:t>
            </a:r>
            <a:endParaRPr lang="en-US">
              <a:ea typeface="Cambria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✅</a:t>
            </a:r>
            <a:r>
              <a:rPr lang="en-US">
                <a:ea typeface="+mn-lt"/>
                <a:cs typeface="+mn-lt"/>
              </a:rPr>
              <a:t>Converted extracted content into knowledge chunks. 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✅</a:t>
            </a:r>
            <a:r>
              <a:rPr lang="en-US">
                <a:ea typeface="+mn-lt"/>
                <a:cs typeface="+mn-lt"/>
              </a:rPr>
              <a:t>Built content conversion based on cognitive style and load using </a:t>
            </a:r>
            <a:endParaRPr lang="en-US">
              <a:ea typeface="Cambria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✅</a:t>
            </a:r>
            <a:r>
              <a:rPr lang="en-US">
                <a:ea typeface="+mn-lt"/>
                <a:cs typeface="+mn-lt"/>
              </a:rPr>
              <a:t>Used knowledge chunks to reduce hallucination. 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✅</a:t>
            </a:r>
            <a:r>
              <a:rPr lang="en-US">
                <a:ea typeface="+mn-lt"/>
                <a:cs typeface="+mn-lt"/>
              </a:rPr>
              <a:t>Added cognitive style and load manually for testing.</a:t>
            </a:r>
            <a:endParaRPr lang="en-US"/>
          </a:p>
          <a:p>
            <a:r>
              <a:rPr lang="en-US" b="1" u="sng">
                <a:latin typeface="+mj-lt"/>
              </a:rPr>
              <a:t>In Progress</a:t>
            </a:r>
            <a:endParaRPr lang="en-US" u="sng">
              <a:latin typeface="+mj-lt"/>
            </a:endParaRPr>
          </a:p>
          <a:p>
            <a:r>
              <a:rPr lang="en-US">
                <a:latin typeface="+mj-lt"/>
              </a:rPr>
              <a:t>⬜</a:t>
            </a:r>
            <a:r>
              <a:rPr lang="en-US">
                <a:latin typeface="Calibri"/>
                <a:ea typeface="Calibri"/>
                <a:cs typeface="Calibri"/>
              </a:rPr>
              <a:t>I</a:t>
            </a:r>
            <a:r>
              <a:rPr lang="en-US">
                <a:ea typeface="+mn-lt"/>
                <a:cs typeface="+mn-lt"/>
              </a:rPr>
              <a:t>mproving support for lengthy tutorials.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⬜</a:t>
            </a:r>
            <a:r>
              <a:rPr lang="en-US">
                <a:ea typeface="+mn-lt"/>
                <a:cs typeface="+mn-lt"/>
              </a:rPr>
              <a:t>Enhancing content conversion for larger structured lessons using Classifier.  </a:t>
            </a:r>
            <a:endParaRPr lang="en-US">
              <a:ea typeface="Cambria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⬜</a:t>
            </a:r>
            <a:r>
              <a:rPr lang="en-US">
                <a:ea typeface="+mn-lt"/>
                <a:cs typeface="+mn-lt"/>
              </a:rPr>
              <a:t>Improving adapted output quality and clarity.</a:t>
            </a:r>
            <a:endParaRPr lang="en-US">
              <a:ea typeface="Cambria"/>
            </a:endParaRPr>
          </a:p>
          <a:p>
            <a:r>
              <a:rPr lang="en-US" b="1" u="sng">
                <a:latin typeface="+mj-lt"/>
              </a:rPr>
              <a:t>Further Developments</a:t>
            </a:r>
            <a:endParaRPr lang="en-US" u="sng" err="1">
              <a:latin typeface="+mj-lt"/>
            </a:endParaRPr>
          </a:p>
          <a:p>
            <a:r>
              <a:rPr lang="en-US">
                <a:latin typeface="+mj-lt"/>
              </a:rPr>
              <a:t>🔄</a:t>
            </a:r>
            <a:r>
              <a:rPr lang="en-US">
                <a:ea typeface="+mn-lt"/>
                <a:cs typeface="+mn-lt"/>
              </a:rPr>
              <a:t>Connect with the cognitive load and style detector.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🔄 Replace manual input with automated component integration. </a:t>
            </a:r>
          </a:p>
          <a:p>
            <a:r>
              <a:rPr lang="en-US">
                <a:ea typeface="+mn-lt"/>
                <a:cs typeface="+mn-lt"/>
              </a:rPr>
              <a:t>🔄 Improve output quality using multiple GPT responses. </a:t>
            </a:r>
          </a:p>
          <a:p>
            <a:r>
              <a:rPr lang="en-US">
                <a:ea typeface="+mn-lt"/>
                <a:cs typeface="+mn-lt"/>
              </a:rPr>
              <a:t>🔄 Cross-check generated outputs and select the best one. </a:t>
            </a:r>
            <a:endParaRPr lang="en-US">
              <a:ea typeface="Cambria"/>
            </a:endParaRPr>
          </a:p>
          <a:p>
            <a:r>
              <a:rPr lang="en-US">
                <a:ea typeface="+mn-lt"/>
                <a:cs typeface="+mn-lt"/>
              </a:rPr>
              <a:t> 🔄 Add mid-video conversion suggestions when load is high. </a:t>
            </a:r>
          </a:p>
          <a:p>
            <a:r>
              <a:rPr lang="en-US">
                <a:ea typeface="+mn-lt"/>
                <a:cs typeface="+mn-lt"/>
              </a:rPr>
              <a:t>🔄 Add end-video personalized conversion suggestions.</a:t>
            </a:r>
          </a:p>
          <a:p>
            <a:endParaRPr lang="en-US">
              <a:ea typeface="Cambri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5D4F88-C12E-A3F7-4842-40B5B3CAEDCD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IT22166074 |   Jayasinghe J.M.S.N. |R26-SE-004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572B0D-4CEA-59EC-2E26-19849EE08030}"/>
              </a:ext>
            </a:extLst>
          </p:cNvPr>
          <p:cNvSpPr/>
          <p:nvPr/>
        </p:nvSpPr>
        <p:spPr>
          <a:xfrm>
            <a:off x="10393679" y="6380480"/>
            <a:ext cx="93472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97B6E6-DDB5-FF12-87CC-2206919D50BD}"/>
              </a:ext>
            </a:extLst>
          </p:cNvPr>
          <p:cNvSpPr txBox="1"/>
          <p:nvPr/>
        </p:nvSpPr>
        <p:spPr>
          <a:xfrm>
            <a:off x="10109448" y="6565094"/>
            <a:ext cx="11075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ea typeface="Cambria"/>
              </a:rPr>
              <a:t>6/11/2026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E4F2D6-9157-CD75-D944-AD52EE73983F}"/>
              </a:ext>
            </a:extLst>
          </p:cNvPr>
          <p:cNvSpPr/>
          <p:nvPr/>
        </p:nvSpPr>
        <p:spPr>
          <a:xfrm>
            <a:off x="1768707" y="497468"/>
            <a:ext cx="4389120" cy="487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1" i="0" baseline="0">
                <a:solidFill>
                  <a:srgbClr val="000000"/>
                </a:solidFill>
                <a:latin typeface="Calibri"/>
              </a:rPr>
              <a:t>Implementation Checklist (PP1 Progress)</a:t>
            </a:r>
            <a:endParaRPr lang="en-US" b="1">
              <a:ea typeface="Cambria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9B9E27-29BC-9677-F422-6B6E3CEC9074}"/>
              </a:ext>
            </a:extLst>
          </p:cNvPr>
          <p:cNvSpPr/>
          <p:nvPr/>
        </p:nvSpPr>
        <p:spPr>
          <a:xfrm>
            <a:off x="8233069" y="537241"/>
            <a:ext cx="2915920" cy="5283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  <a:ea typeface="Cambria"/>
              </a:rPr>
              <a:t>User Feedback on Prototype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09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8280-022E-7B6E-9B74-D1074D3F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37B949-DDFF-FA0F-D90B-261E7D2F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22" y="552615"/>
            <a:ext cx="10363200" cy="755426"/>
          </a:xfrm>
        </p:spPr>
        <p:txBody>
          <a:bodyPr>
            <a:normAutofit/>
          </a:bodyPr>
          <a:lstStyle/>
          <a:p>
            <a:r>
              <a:rPr lang="en-US" sz="3600">
                <a:latin typeface="Adobe Devanagari"/>
              </a:rPr>
              <a:t>IT22055712 |  Dilshan </a:t>
            </a:r>
            <a:r>
              <a:rPr lang="en-US" sz="3600" err="1">
                <a:latin typeface="Adobe Devanagari"/>
              </a:rPr>
              <a:t>w.g.w</a:t>
            </a:r>
            <a:endParaRPr lang="en-US" sz="3600">
              <a:latin typeface="Adobe Devanaga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D63736-3C1D-7F1D-2C5D-F31D92CCD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07" y="1325881"/>
            <a:ext cx="9448833" cy="498012"/>
          </a:xfrm>
        </p:spPr>
        <p:txBody>
          <a:bodyPr>
            <a:noAutofit/>
          </a:bodyPr>
          <a:lstStyle/>
          <a:p>
            <a:endParaRPr lang="en-US" sz="2800">
              <a:solidFill>
                <a:schemeClr val="tx1"/>
              </a:solidFill>
              <a:latin typeface="Times New Roman"/>
              <a:ea typeface="Cambria"/>
              <a:cs typeface="Times New Roman"/>
            </a:endParaRPr>
          </a:p>
          <a:p>
            <a:r>
              <a:rPr lang="en-US" sz="2800">
                <a:solidFill>
                  <a:schemeClr val="tx1"/>
                </a:solidFill>
                <a:ea typeface="+mn-lt"/>
                <a:cs typeface="+mn-lt"/>
              </a:rPr>
              <a:t>Explainable Cognitive Insight Engine (ECIE)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D162D-BE98-DDB5-DAC7-D1FE4DC9115B}"/>
              </a:ext>
            </a:extLst>
          </p:cNvPr>
          <p:cNvSpPr/>
          <p:nvPr/>
        </p:nvSpPr>
        <p:spPr>
          <a:xfrm>
            <a:off x="3200400" y="65146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It22055712          | Dilshan w.g.w|R26-SE-004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3ECAED-3005-2A46-06AB-F1A545803FF7}"/>
              </a:ext>
            </a:extLst>
          </p:cNvPr>
          <p:cNvSpPr/>
          <p:nvPr/>
        </p:nvSpPr>
        <p:spPr>
          <a:xfrm>
            <a:off x="10091052" y="175947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  <p:pic>
        <p:nvPicPr>
          <p:cNvPr id="3" name="Picture 2" descr="A person in a suit&#10;&#10;AI-generated content may be incorrect.">
            <a:extLst>
              <a:ext uri="{FF2B5EF4-FFF2-40B4-BE49-F238E27FC236}">
                <a16:creationId xmlns:a16="http://schemas.microsoft.com/office/drawing/2014/main" id="{FDF0AB3B-C074-DB51-B95F-5032C87A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4" t="691" r="715" b="6745"/>
          <a:stretch>
            <a:fillRect/>
          </a:stretch>
        </p:blipFill>
        <p:spPr>
          <a:xfrm>
            <a:off x="9689757" y="85676"/>
            <a:ext cx="2375806" cy="2479034"/>
          </a:xfrm>
          <a:prstGeom prst="rect">
            <a:avLst/>
          </a:prstGeom>
        </p:spPr>
      </p:pic>
      <p:pic>
        <p:nvPicPr>
          <p:cNvPr id="7" name="Picture 6" descr="A diagram of progress and progress&#10;&#10;AI-generated content may be incorrect.">
            <a:extLst>
              <a:ext uri="{FF2B5EF4-FFF2-40B4-BE49-F238E27FC236}">
                <a16:creationId xmlns:a16="http://schemas.microsoft.com/office/drawing/2014/main" id="{625B46B7-5B21-C3A1-CDE1-BD9D116802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89" b="-313"/>
          <a:stretch>
            <a:fillRect/>
          </a:stretch>
        </p:blipFill>
        <p:spPr>
          <a:xfrm>
            <a:off x="1423147" y="1832190"/>
            <a:ext cx="7138148" cy="438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9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C68E-33DC-89A5-6C1E-A6BC3691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A0BB6-A739-F928-A2DE-E265AC789D03}"/>
              </a:ext>
            </a:extLst>
          </p:cNvPr>
          <p:cNvSpPr/>
          <p:nvPr/>
        </p:nvSpPr>
        <p:spPr>
          <a:xfrm>
            <a:off x="5392917" y="6420404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AEA13-7990-C1C3-4002-8124331B966B}"/>
              </a:ext>
            </a:extLst>
          </p:cNvPr>
          <p:cNvSpPr txBox="1"/>
          <p:nvPr/>
        </p:nvSpPr>
        <p:spPr>
          <a:xfrm>
            <a:off x="380999" y="905233"/>
            <a:ext cx="6051176" cy="48320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/>
              <a:t>Sub-Problem and Proposed Solution</a:t>
            </a:r>
            <a:br>
              <a:rPr lang="en-US" sz="2400"/>
            </a:br>
            <a:r>
              <a:rPr lang="en-US"/>
              <a:t>Sub-Problem</a:t>
            </a:r>
            <a:endParaRPr lang="en-US" sz="2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Lack of explainability in cognitive load prediction models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Students do not receive actionable guidance based on predictions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Teachers lack insights to understand </a:t>
            </a:r>
            <a:r>
              <a:rPr lang="en-US" sz="1600" i="1">
                <a:ea typeface="+mn-lt"/>
                <a:cs typeface="+mn-lt"/>
              </a:rPr>
              <a:t>why</a:t>
            </a:r>
            <a:r>
              <a:rPr lang="en-US" sz="1600">
                <a:ea typeface="+mn-lt"/>
                <a:cs typeface="+mn-lt"/>
              </a:rPr>
              <a:t> students struggle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No integration between prediction outputs and personalized learning support</a:t>
            </a:r>
            <a:endParaRPr lang="en-US" sz="1600">
              <a:ea typeface="Cambria"/>
            </a:endParaRPr>
          </a:p>
          <a:p>
            <a:r>
              <a:rPr lang="en-US"/>
              <a:t>Proposed Solution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Run LIME and SHAP in parallel to generate feature importance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Apply a custom algorithm to extract top 3 contributing factors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 LLM (</a:t>
            </a:r>
            <a:r>
              <a:rPr lang="en-US" sz="1600" err="1">
                <a:ea typeface="+mn-lt"/>
                <a:cs typeface="+mn-lt"/>
              </a:rPr>
              <a:t>Ollama</a:t>
            </a:r>
            <a:r>
              <a:rPr lang="en-US" sz="1600">
                <a:ea typeface="+mn-lt"/>
                <a:cs typeface="+mn-lt"/>
              </a:rPr>
              <a:t>) to convert outputs into human-readable explanations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Generate personalized recommendations and study techniques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Provide teacher insights using lesson-level cognitive load visualization</a:t>
            </a:r>
            <a:endParaRPr lang="en-US" sz="1600">
              <a:ea typeface="Cambria"/>
            </a:endParaRPr>
          </a:p>
          <a:p>
            <a:br>
              <a:rPr lang="en-US" sz="2000">
                <a:latin typeface="Apatos"/>
              </a:rPr>
            </a:br>
            <a:endParaRPr lang="en-US" sz="2000">
              <a:latin typeface="Apa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D17D2-1EED-52BE-337D-52C9FFA53BC3}"/>
              </a:ext>
            </a:extLst>
          </p:cNvPr>
          <p:cNvSpPr txBox="1"/>
          <p:nvPr/>
        </p:nvSpPr>
        <p:spPr>
          <a:xfrm>
            <a:off x="6725265" y="1120676"/>
            <a:ext cx="4980668" cy="47089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ea typeface="Cambria"/>
              </a:rPr>
              <a:t>Core Technical Contribution</a:t>
            </a:r>
            <a:endParaRPr lang="en-US" sz="2000" dirty="0"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Hybrid explainability approach combining LIME and SHAP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Custom top-3 feature selection algorithm for key factor identification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Integration of LLM (</a:t>
            </a:r>
            <a:r>
              <a:rPr lang="en-US" sz="2000" dirty="0" err="1">
                <a:ea typeface="Cambria"/>
              </a:rPr>
              <a:t>Ollama</a:t>
            </a:r>
            <a:r>
              <a:rPr lang="en-US" sz="2000" dirty="0">
                <a:ea typeface="Cambria"/>
              </a:rPr>
              <a:t>) for: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Human-readable explanations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Personalized recommendations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Study technique generation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MCQ generation 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Student-level (guidance + practice)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Teacher-level (lesson insights +recommendations)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ea typeface="Cambria"/>
              </a:rPr>
              <a:t>Visualization-driven insights using boxplot analysis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084AA6C-DE4D-3C39-8989-8E797B69A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7240" y="179294"/>
            <a:ext cx="9448833" cy="498012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tx1"/>
                </a:solidFill>
                <a:latin typeface="Cambria"/>
                <a:ea typeface="Cambria"/>
                <a:cs typeface="Times New Roman"/>
              </a:rPr>
              <a:t>Explainable Cognitive Insight Engine (ECIE)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5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4107-DE43-1325-4E1F-ED3DE081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1F0F21-7483-023B-A044-43F026484083}"/>
              </a:ext>
            </a:extLst>
          </p:cNvPr>
          <p:cNvSpPr/>
          <p:nvPr/>
        </p:nvSpPr>
        <p:spPr>
          <a:xfrm>
            <a:off x="5392917" y="6420404"/>
            <a:ext cx="14061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latin typeface="Apatos"/>
              </a:rPr>
              <a:t>R26-SE-004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788E9-B8F4-1110-2440-C7863CDFAF39}"/>
              </a:ext>
            </a:extLst>
          </p:cNvPr>
          <p:cNvSpPr txBox="1"/>
          <p:nvPr/>
        </p:nvSpPr>
        <p:spPr>
          <a:xfrm>
            <a:off x="6614145" y="630006"/>
            <a:ext cx="4739703" cy="37240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User Feedback on Prototype</a:t>
            </a:r>
            <a:endParaRPr lang="en-US" sz="2000">
              <a:latin typeface="Apato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Users found explanations easy to understand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Students found recommendations helpful for learning improvement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Teachers valued lesson-level insights and decision support</a:t>
            </a:r>
            <a:endParaRPr lang="en-US"/>
          </a:p>
          <a:p>
            <a:r>
              <a:rPr lang="en-US"/>
              <a:t>Improvements Suggested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performance (LIME execution time)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Enhance visualization clarity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 more detailed and diverse recommendations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DD599-B868-FDF2-F962-5849D60208B1}"/>
              </a:ext>
            </a:extLst>
          </p:cNvPr>
          <p:cNvSpPr txBox="1"/>
          <p:nvPr/>
        </p:nvSpPr>
        <p:spPr>
          <a:xfrm>
            <a:off x="585763" y="631582"/>
            <a:ext cx="5173672" cy="55707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/>
              <a:t>✅ </a:t>
            </a:r>
            <a:r>
              <a:rPr lang="en-US" sz="1600" b="1"/>
              <a:t>Implementation Checklist (PP1 Progress)</a:t>
            </a:r>
            <a:endParaRPr lang="en-US" sz="1600">
              <a:ea typeface="Cambria"/>
            </a:endParaRPr>
          </a:p>
          <a:p>
            <a:r>
              <a:rPr lang="en-US" sz="1600"/>
              <a:t>🟢 </a:t>
            </a:r>
            <a:r>
              <a:rPr lang="en-US" sz="1600" b="1"/>
              <a:t>Completed Tasks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LIME &amp; SHAP Integration for Explainability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Top-3 Feature Extraction Algorithm Implemented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Human-Readable Explanation Generation using LLM (</a:t>
            </a:r>
            <a:r>
              <a:rPr lang="en-US" sz="1600" err="1">
                <a:ea typeface="+mn-lt"/>
                <a:cs typeface="+mn-lt"/>
              </a:rPr>
              <a:t>Ollama</a:t>
            </a:r>
            <a:r>
              <a:rPr lang="en-US" sz="1600">
                <a:ea typeface="+mn-lt"/>
                <a:cs typeface="+mn-lt"/>
              </a:rPr>
              <a:t>)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Personalized Student Recommendations Generated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Study Technique Suggestions Provided (e.g., Mind Mapping)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Lesson-wise Cognitive Load Visualization (Boxplot)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✅ Teacher Next Lesson Recommendations Generated </a:t>
            </a:r>
            <a:endParaRPr lang="en-US" sz="1600">
              <a:ea typeface="Cambria"/>
            </a:endParaRPr>
          </a:p>
          <a:p>
            <a:r>
              <a:rPr lang="en-US" sz="1600"/>
              <a:t>🟡 </a:t>
            </a:r>
            <a:r>
              <a:rPr lang="en-US" sz="1600" b="1"/>
              <a:t>Remaining Tasks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⬜ Apply LIME &amp; SHAP for Cognitive Style Analysis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⬜ MCQ Generation Module Development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⬜ Integration of Cognitive Style with Recommendation System </a:t>
            </a:r>
            <a:endParaRPr lang="en-US" sz="1600">
              <a:ea typeface="Cambria"/>
            </a:endParaRPr>
          </a:p>
          <a:p>
            <a:r>
              <a:rPr lang="en-US" sz="1600"/>
              <a:t>🔵 </a:t>
            </a:r>
            <a:r>
              <a:rPr lang="en-US" sz="1600" b="1"/>
              <a:t>In Progress (Optional)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🔄 Performance Optimization (LIME processing time) </a:t>
            </a:r>
            <a:endParaRPr lang="en-US" sz="16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🔄 Prompt Engineering Improvements</a:t>
            </a:r>
            <a:endParaRPr lang="en-US" sz="1600"/>
          </a:p>
          <a:p>
            <a:endParaRPr lang="en-US" sz="2000" b="1">
              <a:ea typeface="Cambria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325932B-5FDE-57C9-165F-9D72655D9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152" y="0"/>
            <a:ext cx="9448833" cy="498012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/>
                </a:solidFill>
                <a:latin typeface="Cambria"/>
                <a:ea typeface="Cambria"/>
              </a:rPr>
              <a:t>Explainable Cognitive Insight Engine (ECIE)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9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3B812F-E5F6-F1E7-58F8-6ACAE6F7A8E0}"/>
              </a:ext>
            </a:extLst>
          </p:cNvPr>
          <p:cNvSpPr txBox="1"/>
          <p:nvPr/>
        </p:nvSpPr>
        <p:spPr>
          <a:xfrm>
            <a:off x="569260" y="16970"/>
            <a:ext cx="1130449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Aptos"/>
              </a:rPr>
              <a:t>Adaptive Cognitive Load &amp; Cognitive Style </a:t>
            </a:r>
            <a:r>
              <a:rPr lang="en-US" b="1">
                <a:latin typeface="Aptos"/>
                <a:ea typeface="+mn-lt"/>
                <a:cs typeface="+mn-lt"/>
              </a:rPr>
              <a:t>Prediction  </a:t>
            </a:r>
            <a:r>
              <a:rPr lang="en-US" b="1">
                <a:latin typeface="Aptos"/>
              </a:rPr>
              <a:t>System for Online Learning Using Behavioral Patterns</a:t>
            </a:r>
            <a:br>
              <a:rPr lang="en-US">
                <a:latin typeface="Aptos"/>
              </a:rPr>
            </a:br>
            <a:endParaRPr lang="en-US"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5E1D9-BA50-DCB4-289A-2D1A6B890A79}"/>
              </a:ext>
            </a:extLst>
          </p:cNvPr>
          <p:cNvSpPr txBox="1"/>
          <p:nvPr/>
        </p:nvSpPr>
        <p:spPr>
          <a:xfrm>
            <a:off x="524483" y="689788"/>
            <a:ext cx="5173672" cy="54784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>
                <a:latin typeface="+mj-lt"/>
              </a:rPr>
              <a:t>Customer Persona</a:t>
            </a:r>
            <a:endParaRPr lang="en-US" b="1" u="sng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Universities and higher education institutions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Learning Management System (LMS) providers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Online training institutes and e-learning platforms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Educational technology (EdTech) solution providers </a:t>
            </a:r>
            <a:endParaRPr lang="en-US">
              <a:latin typeface="+mj-lt"/>
              <a:ea typeface="Cambria"/>
            </a:endParaRPr>
          </a:p>
          <a:p>
            <a:endParaRPr lang="en-US">
              <a:latin typeface="+mj-lt"/>
              <a:ea typeface="Cambria"/>
            </a:endParaRPr>
          </a:p>
          <a:p>
            <a:r>
              <a:rPr lang="en-US" b="1" u="sng">
                <a:latin typeface="+mj-lt"/>
              </a:rPr>
              <a:t>What is Unique</a:t>
            </a:r>
            <a:endParaRPr lang="en-US" b="1" u="sng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Real-time cognitive load prediction using student behavioral data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Non-intrusive approach (no sensors or physical devices required)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Integration of cognitive load and cognitive style for personalization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Explainable AI (LIME + SHAP) for transparent decision-making </a:t>
            </a:r>
            <a:endParaRPr lang="en-US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+mj-lt"/>
                <a:ea typeface="+mn-lt"/>
                <a:cs typeface="+mn-lt"/>
              </a:rPr>
              <a:t>Automated recommendations for both students and teachers using LLM</a:t>
            </a:r>
            <a:endParaRPr lang="en-US">
              <a:latin typeface="+mj-lt"/>
            </a:endParaRPr>
          </a:p>
          <a:p>
            <a:endParaRPr lang="en-US" sz="240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9626F-2A89-0CFB-1CEE-F787EEEE0B7B}"/>
              </a:ext>
            </a:extLst>
          </p:cNvPr>
          <p:cNvSpPr txBox="1"/>
          <p:nvPr/>
        </p:nvSpPr>
        <p:spPr>
          <a:xfrm>
            <a:off x="6493846" y="2493347"/>
            <a:ext cx="4980668" cy="3600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+mj-lt"/>
              </a:rPr>
              <a:t>Business Sustainability</a:t>
            </a:r>
          </a:p>
          <a:p>
            <a:r>
              <a:rPr lang="en-US" sz="1600">
                <a:latin typeface="+mj-lt"/>
              </a:rPr>
              <a:t>Commercialization / Sustainability</a:t>
            </a:r>
            <a:endParaRPr lang="en-US" sz="1600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j-lt"/>
                <a:ea typeface="+mn-lt"/>
                <a:cs typeface="+mn-lt"/>
              </a:rPr>
              <a:t>Can be deployed as a standalone system or as an API-based service </a:t>
            </a:r>
            <a:endParaRPr lang="en-US" sz="1600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j-lt"/>
                <a:ea typeface="+mn-lt"/>
                <a:cs typeface="+mn-lt"/>
              </a:rPr>
              <a:t>Supports cloud-based and on-premise deployment options </a:t>
            </a:r>
            <a:endParaRPr lang="en-US" sz="1600">
              <a:latin typeface="+mj-lt"/>
              <a:ea typeface="Cambria"/>
            </a:endParaRPr>
          </a:p>
          <a:p>
            <a:endParaRPr lang="en-US" sz="1600">
              <a:latin typeface="+mj-lt"/>
              <a:ea typeface="Cambria"/>
              <a:cs typeface="Calibri"/>
            </a:endParaRPr>
          </a:p>
          <a:p>
            <a:r>
              <a:rPr lang="en-US" sz="1600" b="1" u="sng">
                <a:latin typeface="+mj-lt"/>
              </a:rPr>
              <a:t>Cost Recovery Model</a:t>
            </a:r>
            <a:endParaRPr lang="en-US" sz="1600" b="1" u="sng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j-lt"/>
                <a:ea typeface="+mn-lt"/>
                <a:cs typeface="+mn-lt"/>
              </a:rPr>
              <a:t>SaaS (Software-as-a-Service) subscription model (monthly / yearly plans) </a:t>
            </a:r>
            <a:endParaRPr lang="en-US" sz="1600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j-lt"/>
                <a:ea typeface="+mn-lt"/>
                <a:cs typeface="+mn-lt"/>
              </a:rPr>
              <a:t>Institutional licensing for universities and training centers </a:t>
            </a:r>
            <a:endParaRPr lang="en-US" sz="1600">
              <a:latin typeface="+mj-lt"/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+mj-lt"/>
                <a:ea typeface="+mn-lt"/>
                <a:cs typeface="+mn-lt"/>
              </a:rPr>
              <a:t>Enterprise-level deployment for large-scale organizations </a:t>
            </a:r>
            <a:endParaRPr lang="en-US" sz="1600">
              <a:latin typeface="+mj-lt"/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067F7-02E0-5982-B097-7C773DFFE544}"/>
              </a:ext>
            </a:extLst>
          </p:cNvPr>
          <p:cNvSpPr txBox="1"/>
          <p:nvPr/>
        </p:nvSpPr>
        <p:spPr>
          <a:xfrm>
            <a:off x="6493846" y="439705"/>
            <a:ext cx="498066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u="sng">
                <a:latin typeface="+mj-lt"/>
                <a:ea typeface="Cambria"/>
              </a:rPr>
              <a:t>Market Size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latin typeface="+mj-lt"/>
                <a:ea typeface="Cambria"/>
              </a:rPr>
              <a:t>Rapid growth of the global EdTech and online learning market 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latin typeface="+mj-lt"/>
                <a:ea typeface="Cambria"/>
              </a:rPr>
              <a:t>Increasing adoption of digital learning platforms post-pandemic 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latin typeface="+mj-lt"/>
                <a:ea typeface="Cambria"/>
              </a:rPr>
              <a:t>Rising demand for personalized and adaptive learning systems </a:t>
            </a: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A7B9DDA0FC1C4989A144040B8E7651" ma:contentTypeVersion="7" ma:contentTypeDescription="Create a new document." ma:contentTypeScope="" ma:versionID="e21358022cd0530bd9a6684d5e95dc90">
  <xsd:schema xmlns:xsd="http://www.w3.org/2001/XMLSchema" xmlns:xs="http://www.w3.org/2001/XMLSchema" xmlns:p="http://schemas.microsoft.com/office/2006/metadata/properties" xmlns:ns2="6b9891b5-04dc-4f8d-954f-7ee3300472da" targetNamespace="http://schemas.microsoft.com/office/2006/metadata/properties" ma:root="true" ma:fieldsID="de0f63235a430bd3084bcf072cfb0485" ns2:_="">
    <xsd:import namespace="6b9891b5-04dc-4f8d-954f-7ee330047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891b5-04dc-4f8d-954f-7ee330047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578F8-3F50-4FE0-B41C-538E2916BBEC}">
  <ds:schemaRefs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6b9891b5-04dc-4f8d-954f-7ee3300472da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8E3EADB-D5D8-4AFC-8D7E-DEBB37C1E491}">
  <ds:schemaRefs>
    <ds:schemaRef ds:uri="6b9891b5-04dc-4f8d-954f-7ee3300472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9F05A13-B6C9-4711-8613-492ABC55730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38</TotalTime>
  <Words>1785</Words>
  <Application>Microsoft Office PowerPoint</Application>
  <PresentationFormat>Widescreen</PresentationFormat>
  <Paragraphs>248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Adobe Devanagari</vt:lpstr>
      <vt:lpstr>Apatos</vt:lpstr>
      <vt:lpstr>Aptos</vt:lpstr>
      <vt:lpstr>Arial</vt:lpstr>
      <vt:lpstr>Arial,Sans-Serif</vt:lpstr>
      <vt:lpstr>Calibri</vt:lpstr>
      <vt:lpstr>Cambria</vt:lpstr>
      <vt:lpstr>Times New Roman</vt:lpstr>
      <vt:lpstr>Wingdings</vt:lpstr>
      <vt:lpstr>Office Theme</vt:lpstr>
      <vt:lpstr>Adaptive Cognitive Load and Style Prediction System for Online Learning Using Behavioral Patterns </vt:lpstr>
      <vt:lpstr>PowerPoint Presentation</vt:lpstr>
      <vt:lpstr>IT22281364 | L A R IMESH </vt:lpstr>
      <vt:lpstr>PowerPoint Presentation</vt:lpstr>
      <vt:lpstr>PowerPoint Presentation</vt:lpstr>
      <vt:lpstr>IT22089786 | Subasinghe M.H.R.I.</vt:lpstr>
      <vt:lpstr>PowerPoint Presentation</vt:lpstr>
      <vt:lpstr>PowerPoint Presentation</vt:lpstr>
      <vt:lpstr>IT22166074  |  Jayasinghe J. M. S. N.</vt:lpstr>
      <vt:lpstr>PowerPoint Presentation</vt:lpstr>
      <vt:lpstr>PowerPoint Presentation</vt:lpstr>
      <vt:lpstr>IT22055712 |  Dilshan w.g.w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SUBASINGHE M. H. R. I it22089786</cp:lastModifiedBy>
  <cp:revision>3</cp:revision>
  <dcterms:created xsi:type="dcterms:W3CDTF">2025-08-25T09:34:25Z</dcterms:created>
  <dcterms:modified xsi:type="dcterms:W3CDTF">2026-10-11T15:59:55Z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0x01010041A7B9DDA0FC1C4989A144040B8E7651</vt:lpwstr>
  </property>
</Properties>
</file>